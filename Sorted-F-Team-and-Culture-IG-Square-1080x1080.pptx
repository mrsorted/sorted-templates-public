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762000" y="952500"/>
            <a:ext cx="76200" cy="762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25000" y="13335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28750" y="8572500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48750" y="9048750"/>
            <a:ext cx="66675" cy="66675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1000" y="5143500"/>
            <a:ext cx="47625" cy="47625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06000" y="60960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0" y="2476500"/>
            <a:ext cx="10287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WELCOME TO THE TEAM</a:t>
            </a:r>
          </a:p>
        </p:txBody>
      </p:sp>
      <p:sp>
        <p:nvSpPr>
          <p:cNvPr id="46" name="Oval 45"/>
          <p:cNvSpPr/>
          <p:nvPr/>
        </p:nvSpPr>
        <p:spPr>
          <a:xfrm>
            <a:off x="3714750" y="2857500"/>
            <a:ext cx="2857500" cy="28575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14750" y="2857500"/>
            <a:ext cx="2857500" cy="285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500" b="0" i="1">
                <a:solidFill>
                  <a:srgbClr val="8A94A6"/>
                </a:solidFill>
                <a:latin typeface="DM Sans"/>
              </a:rPr>
              <a:t>Drop new hire photo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5943600"/>
            <a:ext cx="1028700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[Name]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7437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[Role] · Sorted Squad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70104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8A94A6"/>
                </a:solidFill>
                <a:latin typeface="DM Sans"/>
              </a:rPr>
              <a:t>Fun fact: [something about them]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1000" y="381000"/>
            <a:ext cx="3810000" cy="95250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4857750"/>
            <a:ext cx="381000" cy="381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1000" y="52768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photo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7700" y="571500"/>
            <a:ext cx="54483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TEAM SPOTLIGHT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7700" y="819150"/>
            <a:ext cx="544830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Meet [Name]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7700" y="1676400"/>
            <a:ext cx="54483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[Role]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7700" y="2000250"/>
            <a:ext cx="54483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F8F7F4"/>
                </a:solidFill>
                <a:latin typeface="DM Sans"/>
              </a:rPr>
              <a:t>"I didn't join an agency. I joined a growth system."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7700" y="2857500"/>
            <a:ext cx="5448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Part of the Sorted squad since 2024.</a:t>
            </a:r>
          </a:p>
        </p:txBody>
      </p:sp>
      <p:pic>
        <p:nvPicPr>
          <p:cNvPr id="45" name="Picture 44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967740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286000" y="2286000"/>
            <a:ext cx="5715000" cy="57150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4191000" y="2857500"/>
            <a:ext cx="1905000" cy="1905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91000" y="285750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666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4991100"/>
            <a:ext cx="9525000" cy="1152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1000" b="0" i="0">
                <a:solidFill>
                  <a:srgbClr val="E8264B"/>
                </a:solidFill>
                <a:latin typeface="Bebas Neue"/>
              </a:rPr>
              <a:t>3 Years at Sorted.</a:t>
            </a:r>
          </a:p>
        </p:txBody>
      </p:sp>
      <p:sp>
        <p:nvSpPr>
          <p:cNvPr id="42" name="Oval 41"/>
          <p:cNvSpPr/>
          <p:nvPr/>
        </p:nvSpPr>
        <p:spPr>
          <a:xfrm>
            <a:off x="4457700" y="630555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62500" y="630555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67300" y="630555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372100" y="6305550"/>
            <a:ext cx="152400" cy="152400"/>
          </a:xfrm>
          <a:prstGeom prst="ellipse">
            <a:avLst/>
          </a:prstGeom>
          <a:noFill/>
          <a:ln w="190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76900" y="6305550"/>
            <a:ext cx="152400" cy="152400"/>
          </a:xfrm>
          <a:prstGeom prst="ellipse">
            <a:avLst/>
          </a:prstGeom>
          <a:noFill/>
          <a:ln w="190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0" y="67246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Thank you for building this with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572500" y="3810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2500" y="381000"/>
            <a:ext cx="11049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WE'RE HIRING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1143000"/>
            <a:ext cx="4948670" cy="1885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Senior Performance Marketer.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3067050"/>
            <a:ext cx="494867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E8264B"/>
                </a:solidFill>
                <a:latin typeface="DM Sans"/>
              </a:rPr>
              <a:t>REMOTE · FULL-TIME · MUMBAI / DUBAI</a:t>
            </a:r>
          </a:p>
        </p:txBody>
      </p:sp>
      <p:sp>
        <p:nvSpPr>
          <p:cNvPr id="42" name="Oval 41"/>
          <p:cNvSpPr/>
          <p:nvPr/>
        </p:nvSpPr>
        <p:spPr>
          <a:xfrm>
            <a:off x="495300" y="34290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700" y="3352800"/>
            <a:ext cx="477722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5+ years Meta + Google</a:t>
            </a:r>
          </a:p>
        </p:txBody>
      </p:sp>
      <p:sp>
        <p:nvSpPr>
          <p:cNvPr id="44" name="Oval 43"/>
          <p:cNvSpPr/>
          <p:nvPr/>
        </p:nvSpPr>
        <p:spPr>
          <a:xfrm>
            <a:off x="495300" y="367665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" y="3600450"/>
            <a:ext cx="477722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Klaviyo certified preferred</a:t>
            </a:r>
          </a:p>
        </p:txBody>
      </p:sp>
      <p:sp>
        <p:nvSpPr>
          <p:cNvPr id="46" name="Oval 45"/>
          <p:cNvSpPr/>
          <p:nvPr/>
        </p:nvSpPr>
        <p:spPr>
          <a:xfrm>
            <a:off x="495300" y="39243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700" y="3848100"/>
            <a:ext cx="477722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Loud opinions on creative testing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6250" y="4286250"/>
            <a:ext cx="2570987" cy="400050"/>
          </a:xfrm>
          <a:prstGeom prst="roundRect">
            <a:avLst>
              <a:gd name="adj" fmla="val 2222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50" y="4286250"/>
            <a:ext cx="2189987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APPLY AT SORTED.AGENCY  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10670" y="1143000"/>
            <a:ext cx="4100079" cy="8667750"/>
          </a:xfrm>
          <a:prstGeom prst="roundRect">
            <a:avLst>
              <a:gd name="adj" fmla="val 1318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10" y="5191125"/>
            <a:ext cx="381000" cy="381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710670" y="5610225"/>
            <a:ext cx="410007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287000" cy="7200900"/>
          </a:xfrm>
          <a:prstGeom prst="rect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314700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7338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outing / event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00900"/>
            <a:ext cx="10287000" cy="30861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7486650"/>
            <a:ext cx="9334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THE SORTED SQUAD · GOA ·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7715250"/>
            <a:ext cx="933450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8F7F4"/>
                </a:solidFill>
                <a:latin typeface="Bebas Neue"/>
              </a:rPr>
              <a:t>The squad.</a:t>
            </a:r>
          </a:p>
        </p:txBody>
      </p:sp>
      <p:pic>
        <p:nvPicPr>
          <p:cNvPr id="9" name="Picture 8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5" y="748665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952500"/>
            <a:ext cx="9144000" cy="1152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1000" b="0" i="0">
                <a:solidFill>
                  <a:srgbClr val="E8264B"/>
                </a:solidFill>
                <a:latin typeface="Bebas Neue"/>
              </a:rPr>
              <a:t>We're now 34 strong.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2114550"/>
            <a:ext cx="9144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And we're growing.</a:t>
            </a:r>
          </a:p>
        </p:txBody>
      </p:sp>
      <p:sp>
        <p:nvSpPr>
          <p:cNvPr id="40" name="Oval 39"/>
          <p:cNvSpPr/>
          <p:nvPr/>
        </p:nvSpPr>
        <p:spPr>
          <a:xfrm>
            <a:off x="998220" y="42433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220" y="42433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2" name="Oval 41"/>
          <p:cNvSpPr/>
          <p:nvPr/>
        </p:nvSpPr>
        <p:spPr>
          <a:xfrm>
            <a:off x="2785110" y="42433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85110" y="42433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0" y="42433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42433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6" name="Oval 45"/>
          <p:cNvSpPr/>
          <p:nvPr/>
        </p:nvSpPr>
        <p:spPr>
          <a:xfrm>
            <a:off x="6358889" y="42433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89" y="42433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8" name="Oval 47"/>
          <p:cNvSpPr/>
          <p:nvPr/>
        </p:nvSpPr>
        <p:spPr>
          <a:xfrm>
            <a:off x="8145779" y="42433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45779" y="42433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0" name="Oval 49"/>
          <p:cNvSpPr/>
          <p:nvPr/>
        </p:nvSpPr>
        <p:spPr>
          <a:xfrm>
            <a:off x="998220" y="7186612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8220" y="7186612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2" name="Oval 51"/>
          <p:cNvSpPr/>
          <p:nvPr/>
        </p:nvSpPr>
        <p:spPr>
          <a:xfrm>
            <a:off x="2785110" y="7186612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85110" y="7186612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4" name="Oval 53"/>
          <p:cNvSpPr/>
          <p:nvPr/>
        </p:nvSpPr>
        <p:spPr>
          <a:xfrm>
            <a:off x="4572000" y="7186612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7186612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6" name="Oval 55"/>
          <p:cNvSpPr/>
          <p:nvPr/>
        </p:nvSpPr>
        <p:spPr>
          <a:xfrm>
            <a:off x="6358889" y="7186612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8889" y="7186612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8" name="Oval 57"/>
          <p:cNvSpPr/>
          <p:nvPr/>
        </p:nvSpPr>
        <p:spPr>
          <a:xfrm>
            <a:off x="8145779" y="7186612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45779" y="7186612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+25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95750" y="9505950"/>
            <a:ext cx="1857756" cy="400050"/>
          </a:xfrm>
          <a:prstGeom prst="roundRect">
            <a:avLst>
              <a:gd name="adj" fmla="val 307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86250" y="9505950"/>
            <a:ext cx="1476756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SEE OPEN ROLES 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91500" y="4572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INSIDE SORTED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95250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Inside Sorted.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2286000"/>
            <a:ext cx="4495800" cy="3371850"/>
          </a:xfrm>
          <a:prstGeom prst="roundRect">
            <a:avLst>
              <a:gd name="adj" fmla="val 25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3686175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1500" y="4105275"/>
            <a:ext cx="44958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mumbai hq photo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734050"/>
            <a:ext cx="44958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MUMBAI HQ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9700" y="2286000"/>
            <a:ext cx="4495800" cy="3371850"/>
          </a:xfrm>
          <a:prstGeom prst="roundRect">
            <a:avLst>
              <a:gd name="adj" fmla="val 25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3686175"/>
            <a:ext cx="381000" cy="381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219700" y="4105275"/>
            <a:ext cx="44958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creative war room photo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9700" y="5734050"/>
            <a:ext cx="44958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CREATIVE WAR ROOM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" y="6076950"/>
            <a:ext cx="4495800" cy="3371850"/>
          </a:xfrm>
          <a:prstGeom prst="roundRect">
            <a:avLst>
              <a:gd name="adj" fmla="val 25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7477125"/>
            <a:ext cx="381000" cy="381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71500" y="7896225"/>
            <a:ext cx="44958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friday demo day photo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" y="9525000"/>
            <a:ext cx="44958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FRIDAY DEMO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9700" y="6076950"/>
            <a:ext cx="4495800" cy="3371850"/>
          </a:xfrm>
          <a:prstGeom prst="roundRect">
            <a:avLst>
              <a:gd name="adj" fmla="val 25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7477125"/>
            <a:ext cx="381000" cy="381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19700" y="7896225"/>
            <a:ext cx="44958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offsite · goa photo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9700" y="9525000"/>
            <a:ext cx="44958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OFFSITE · GOA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76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8A94A6"/>
                </a:solidFill>
                <a:latin typeface="DM Sans"/>
              </a:rPr>
              <a:t>ALL WORK AND NO PLAY…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" y="1428750"/>
            <a:ext cx="9144000" cy="6953250"/>
          </a:xfrm>
          <a:prstGeom prst="roundRect">
            <a:avLst>
              <a:gd name="adj" fmla="val 125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619625"/>
            <a:ext cx="381000" cy="381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71500" y="50387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games / outing photo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8572500"/>
            <a:ext cx="91440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>
                <a:solidFill>
                  <a:srgbClr val="E8264B"/>
                </a:solidFill>
                <a:latin typeface="Bebas Neue"/>
              </a:rPr>
              <a:t>We do both.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762250" y="2762250"/>
            <a:ext cx="4762500" cy="4762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3048000"/>
            <a:ext cx="762000" cy="76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0" y="3962400"/>
            <a:ext cx="10287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TEAM 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229100"/>
            <a:ext cx="8763000" cy="16459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Shipped 7 Klaviyo rebuilds in one week.</a:t>
            </a:r>
          </a:p>
        </p:txBody>
      </p:sp>
      <p:sp>
        <p:nvSpPr>
          <p:cNvPr id="42" name="Oval 41"/>
          <p:cNvSpPr/>
          <p:nvPr/>
        </p:nvSpPr>
        <p:spPr>
          <a:xfrm>
            <a:off x="4000500" y="6065520"/>
            <a:ext cx="685800" cy="6858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0500" y="60655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4" name="Oval 43"/>
          <p:cNvSpPr/>
          <p:nvPr/>
        </p:nvSpPr>
        <p:spPr>
          <a:xfrm>
            <a:off x="4800600" y="6065520"/>
            <a:ext cx="685800" cy="6858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60655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6" name="Oval 45"/>
          <p:cNvSpPr/>
          <p:nvPr/>
        </p:nvSpPr>
        <p:spPr>
          <a:xfrm>
            <a:off x="5600700" y="6065520"/>
            <a:ext cx="685800" cy="6858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00700" y="60655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692277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Nov 2025 · The retention pod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952500"/>
            <a:ext cx="4948670" cy="7543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Why Sorted?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" y="1866900"/>
            <a:ext cx="266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8264B"/>
                </a:solidFill>
                <a:latin typeface="DM San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" y="1866900"/>
            <a:ext cx="456767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8F7F4"/>
                </a:solidFill>
                <a:latin typeface="Bebas Neue"/>
              </a:rPr>
              <a:t>Direct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2228850"/>
            <a:ext cx="456767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No soft-pedalling.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2495550"/>
            <a:ext cx="266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8264B"/>
                </a:solidFill>
                <a:latin typeface="DM Sans"/>
              </a:rP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250" y="2495550"/>
            <a:ext cx="456767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8F7F4"/>
                </a:solidFill>
                <a:latin typeface="Bebas Neue"/>
              </a:rPr>
              <a:t>Specific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" y="2857500"/>
            <a:ext cx="456767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Numbers over narrative.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3124200"/>
            <a:ext cx="266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8264B"/>
                </a:solidFill>
                <a:latin typeface="DM Sans"/>
              </a:rPr>
              <a:t>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7250" y="3124200"/>
            <a:ext cx="456767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8F7F4"/>
                </a:solidFill>
                <a:latin typeface="Bebas Neue"/>
              </a:rPr>
              <a:t>Honest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250" y="3486150"/>
            <a:ext cx="456767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If it's broken, we say so.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" y="3752850"/>
            <a:ext cx="266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8264B"/>
                </a:solidFill>
                <a:latin typeface="DM Sans"/>
              </a:rPr>
              <a:t>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250" y="3752850"/>
            <a:ext cx="456767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8F7F4"/>
                </a:solidFill>
                <a:latin typeface="Bebas Neue"/>
              </a:rPr>
              <a:t>Bold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250" y="4114800"/>
            <a:ext cx="456767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Play offence, not defence.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6250" y="4476750"/>
            <a:ext cx="1233677" cy="400050"/>
          </a:xfrm>
          <a:prstGeom prst="roundRect">
            <a:avLst>
              <a:gd name="adj" fmla="val 4632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50" y="4476750"/>
            <a:ext cx="852677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JOIN US  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10670" y="952500"/>
            <a:ext cx="4100079" cy="8858250"/>
          </a:xfrm>
          <a:prstGeom prst="roundRect">
            <a:avLst>
              <a:gd name="adj" fmla="val 129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10" y="5095875"/>
            <a:ext cx="381000" cy="381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710670" y="5514975"/>
            <a:ext cx="410007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office / team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