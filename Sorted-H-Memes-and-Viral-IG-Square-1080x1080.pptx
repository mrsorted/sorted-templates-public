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381000"/>
            <a:ext cx="0" cy="9525000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9601200"/>
            <a:ext cx="304800" cy="304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3900" y="857250"/>
            <a:ext cx="40767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OTHER AGENCIES: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900" y="1143000"/>
            <a:ext cx="4076700" cy="1571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5000" b="0" i="0">
                <a:solidFill>
                  <a:srgbClr val="8A94A6"/>
                </a:solidFill>
                <a:latin typeface="Bebas Neue"/>
              </a:rPr>
              <a:t>2.1×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900" y="2500312"/>
            <a:ext cx="40767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ROAS · 6 months 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2786062"/>
            <a:ext cx="407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8A94A6"/>
                </a:solidFill>
                <a:latin typeface="DM Sans"/>
              </a:rPr>
              <a:t>"We need more creative…"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857250"/>
            <a:ext cx="40767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1143000"/>
            <a:ext cx="4076700" cy="1571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5000" b="0" i="0">
                <a:solidFill>
                  <a:srgbClr val="E8264B"/>
                </a:solidFill>
                <a:latin typeface="Bebas Neue"/>
              </a:rPr>
              <a:t>4.8×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2500312"/>
            <a:ext cx="40767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ROAS · 6 months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2786062"/>
            <a:ext cx="4076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"12 creatives shipped this week."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9620250"/>
            <a:ext cx="285750" cy="2857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81000" y="571500"/>
            <a:ext cx="9525000" cy="4505325"/>
          </a:xfrm>
          <a:prstGeom prst="roundRect">
            <a:avLst>
              <a:gd name="adj" fmla="val 10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000" y="571500"/>
            <a:ext cx="3175000" cy="45053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8000" b="0" i="0">
                <a:solidFill>
                  <a:srgbClr val="8A94A6"/>
                </a:solidFill>
                <a:latin typeface="Bebas Neue"/>
              </a:rPr>
              <a:t>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1750" y="571500"/>
            <a:ext cx="5778500" cy="45053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8A94A6"/>
                </a:solidFill>
                <a:latin typeface="Bebas Neue"/>
              </a:rPr>
              <a:t>Spending more on ads.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1000" y="5210175"/>
            <a:ext cx="9525000" cy="4505325"/>
          </a:xfrm>
          <a:prstGeom prst="roundRect">
            <a:avLst>
              <a:gd name="adj" fmla="val 1000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000" y="5210175"/>
            <a:ext cx="3175000" cy="45053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8000" b="0" i="0">
                <a:solidFill>
                  <a:srgbClr val="E8264B"/>
                </a:solidFill>
                <a:latin typeface="Bebas Neue"/>
              </a:rPr>
              <a:t>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1750" y="5210175"/>
            <a:ext cx="5778500" cy="45053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4400" b="0" i="0">
                <a:solidFill>
                  <a:srgbClr val="E8264B"/>
                </a:solidFill>
                <a:latin typeface="Bebas Neue"/>
              </a:rPr>
              <a:t>Fixing Klaviyo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0" y="9639300"/>
            <a:ext cx="266700" cy="2667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6250" y="762000"/>
            <a:ext cx="93345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8F7F4"/>
                </a:solidFill>
                <a:latin typeface="Bebas Neue"/>
              </a:rPr>
              <a:t>D2C founder checking Meta ROAS at 11 PM: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250" y="2286000"/>
            <a:ext cx="9334500" cy="7429500"/>
          </a:xfrm>
          <a:prstGeom prst="roundRect">
            <a:avLst>
              <a:gd name="adj" fmla="val 122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5715000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6250" y="6134100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reaction image / meme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76250"/>
            <a:ext cx="9334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4200" b="0" i="0">
                <a:solidFill>
                  <a:srgbClr val="F8F7F4"/>
                </a:solidFill>
                <a:latin typeface="Bebas Neue"/>
              </a:rPr>
              <a:t>Expectation vs Reality.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1000" y="1238250"/>
            <a:ext cx="4667250" cy="7715250"/>
          </a:xfrm>
          <a:prstGeom prst="roundRect">
            <a:avLst>
              <a:gd name="adj" fmla="val 123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" y="1428750"/>
            <a:ext cx="42862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EXPECTATION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571500" y="2505075"/>
            <a:ext cx="4286250" cy="5562600"/>
          </a:xfrm>
          <a:prstGeom prst="line">
            <a:avLst/>
          </a:prstGeom>
          <a:ln w="3810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238750" y="1238250"/>
            <a:ext cx="4667250" cy="7715250"/>
          </a:xfrm>
          <a:prstGeom prst="roundRect">
            <a:avLst>
              <a:gd name="adj" fmla="val 1234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29250" y="1428750"/>
            <a:ext cx="428625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REALITY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5572125" y="7024687"/>
            <a:ext cx="428625" cy="1042988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00750" y="7024687"/>
            <a:ext cx="428625" cy="695325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429375" y="6329362"/>
            <a:ext cx="428625" cy="139065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58000" y="6329362"/>
            <a:ext cx="428625" cy="1042988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86625" y="4938712"/>
            <a:ext cx="428625" cy="2433638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15250" y="4938712"/>
            <a:ext cx="428625" cy="1042988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143875" y="4243387"/>
            <a:ext cx="428625" cy="1738313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72500" y="4243387"/>
            <a:ext cx="428625" cy="1042988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001125" y="2505075"/>
            <a:ext cx="571500" cy="278130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76250" y="9525000"/>
            <a:ext cx="9334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Reality looks like the right. We make it go up anyway.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9620250"/>
            <a:ext cx="285750" cy="2857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286250"/>
            <a:ext cx="9144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IF YOU KNOW, YOU KNOW: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66725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0000" b="0" i="0">
                <a:solidFill>
                  <a:srgbClr val="F8F7F4"/>
                </a:solidFill>
                <a:latin typeface="Bebas Neue"/>
              </a:rPr>
              <a:t>"The data team will circle back Monday."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0" y="9639300"/>
            <a:ext cx="266700" cy="2667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6250" y="666750"/>
            <a:ext cx="9334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NOBODY: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1047750"/>
            <a:ext cx="9334500" cy="152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200" b="0" i="0">
                <a:solidFill>
                  <a:srgbClr val="E8264B"/>
                </a:solidFill>
                <a:latin typeface="Bebas Neue"/>
              </a:rPr>
              <a:t>Sorted clients after fixing their Klaviyo: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6250" y="2476500"/>
            <a:ext cx="9334500" cy="7239000"/>
          </a:xfrm>
          <a:prstGeom prst="roundRect">
            <a:avLst>
              <a:gd name="adj" fmla="val 122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5810250"/>
            <a:ext cx="381000" cy="381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6250" y="6229350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reaction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9525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8400" b="0" i="0">
                <a:solidFill>
                  <a:srgbClr val="E8264B"/>
                </a:solidFill>
                <a:latin typeface="Bebas Neue"/>
              </a:rPr>
              <a:t>Sorted Vibe Check 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2000" y="2857500"/>
            <a:ext cx="8763000" cy="514350"/>
          </a:xfrm>
          <a:prstGeom prst="roundRect">
            <a:avLst>
              <a:gd name="adj" fmla="val 869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1550" y="2990850"/>
            <a:ext cx="247650" cy="247650"/>
          </a:xfrm>
          <a:prstGeom prst="roundRect">
            <a:avLst>
              <a:gd name="adj" fmla="val 2307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550" y="299085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2550" y="2857500"/>
            <a:ext cx="7962900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8F7F4"/>
                </a:solidFill>
                <a:latin typeface="DM Sans"/>
              </a:rPr>
              <a:t>Klaviyo over 35% 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3524250"/>
            <a:ext cx="8763000" cy="514350"/>
          </a:xfrm>
          <a:prstGeom prst="roundRect">
            <a:avLst>
              <a:gd name="adj" fmla="val 869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1550" y="3657600"/>
            <a:ext cx="247650" cy="247650"/>
          </a:xfrm>
          <a:prstGeom prst="roundRect">
            <a:avLst>
              <a:gd name="adj" fmla="val 2307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550" y="365760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2550" y="3524250"/>
            <a:ext cx="7962900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8F7F4"/>
                </a:solidFill>
                <a:latin typeface="DM Sans"/>
              </a:rPr>
              <a:t>Daily attribution 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000" y="4191000"/>
            <a:ext cx="8763000" cy="514350"/>
          </a:xfrm>
          <a:prstGeom prst="roundRect">
            <a:avLst>
              <a:gd name="adj" fmla="val 869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1550" y="4324350"/>
            <a:ext cx="247650" cy="247650"/>
          </a:xfrm>
          <a:prstGeom prst="roundRect">
            <a:avLst>
              <a:gd name="adj" fmla="val 2307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550" y="432435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52550" y="4191000"/>
            <a:ext cx="7962900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8F7F4"/>
                </a:solidFill>
                <a:latin typeface="DM Sans"/>
              </a:rPr>
              <a:t>UGC on deck 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2000" y="4857750"/>
            <a:ext cx="8763000" cy="514350"/>
          </a:xfrm>
          <a:prstGeom prst="roundRect">
            <a:avLst>
              <a:gd name="adj" fmla="val 869"/>
            </a:avLst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71550" y="4991100"/>
            <a:ext cx="247650" cy="247650"/>
          </a:xfrm>
          <a:prstGeom prst="roundRect">
            <a:avLst>
              <a:gd name="adj" fmla="val 2307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1550" y="4991100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2550" y="4857750"/>
            <a:ext cx="7962900" cy="5143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8F7F4"/>
                </a:solidFill>
                <a:latin typeface="DM Sans"/>
              </a:rPr>
              <a:t>Retainer-free 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97155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00">
                <a:solidFill>
                  <a:srgbClr val="8A94A6"/>
                </a:solidFill>
                <a:latin typeface="DM Sans"/>
              </a:rPr>
              <a:t>WE'RE BUILT DIFFERENT.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9620250"/>
            <a:ext cx="285750" cy="2857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3857625"/>
            <a:ext cx="914400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9000" b="0" i="0">
                <a:solidFill>
                  <a:srgbClr val="8A94A6"/>
                </a:solidFill>
                <a:latin typeface="Bebas Neue"/>
              </a:rPr>
              <a:t>We're not an agency.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1500" y="4329112"/>
            <a:ext cx="9144000" cy="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1500" y="4972050"/>
            <a:ext cx="914400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9000" b="0" i="0">
                <a:solidFill>
                  <a:srgbClr val="E8264B"/>
                </a:solidFill>
                <a:latin typeface="Bebas Neue"/>
              </a:rPr>
              <a:t>We're your growth system.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143625"/>
            <a:ext cx="9144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B8C4D8"/>
                </a:solidFill>
                <a:latin typeface="DM Sans"/>
              </a:rPr>
              <a:t>Big difference.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