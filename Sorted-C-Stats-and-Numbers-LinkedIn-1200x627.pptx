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9100" y="457200"/>
            <a:ext cx="3810000" cy="133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E8264B"/>
                </a:solidFill>
                <a:latin typeface="DM Sans"/>
              </a:rPr>
              <a:t>SORTED · BY THE NUMBERS</a:t>
            </a:r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550" y="419100"/>
            <a:ext cx="895350" cy="20955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19100" y="895350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9100" y="895350"/>
            <a:ext cx="5219700" cy="2014537"/>
          </a:xfrm>
          <a:prstGeom prst="roundRect">
            <a:avLst>
              <a:gd name="adj" fmla="val 182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9100" y="895350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1162050"/>
            <a:ext cx="46863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 spc="-100">
                <a:solidFill>
                  <a:srgbClr val="E8264B"/>
                </a:solidFill>
                <a:latin typeface="Bebas Neue"/>
              </a:rPr>
              <a:t>100+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605087"/>
            <a:ext cx="46863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8F7F4"/>
                </a:solidFill>
                <a:latin typeface="DM Sans"/>
              </a:rPr>
              <a:t>BRANDS SCALED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91200" y="895350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791200" y="895350"/>
            <a:ext cx="5219700" cy="2014537"/>
          </a:xfrm>
          <a:prstGeom prst="roundRect">
            <a:avLst>
              <a:gd name="adj" fmla="val 182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91200" y="895350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57900" y="1162050"/>
            <a:ext cx="46863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 spc="-100">
                <a:solidFill>
                  <a:srgbClr val="E8264B"/>
                </a:solidFill>
                <a:latin typeface="Bebas Neue"/>
              </a:rPr>
              <a:t>$40M+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7900" y="2605087"/>
            <a:ext cx="46863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8F7F4"/>
                </a:solidFill>
                <a:latin typeface="DM Sans"/>
              </a:rPr>
              <a:t>REVENUE TRACKED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9100" y="3062287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9100" y="3062287"/>
            <a:ext cx="5219700" cy="2014537"/>
          </a:xfrm>
          <a:prstGeom prst="roundRect">
            <a:avLst>
              <a:gd name="adj" fmla="val 182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9100" y="3062287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3328987"/>
            <a:ext cx="46863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 spc="-100">
                <a:solidFill>
                  <a:srgbClr val="E8264B"/>
                </a:solidFill>
                <a:latin typeface="Bebas Neue"/>
              </a:rPr>
              <a:t>4.5×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4772025"/>
            <a:ext cx="46863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8F7F4"/>
                </a:solidFill>
                <a:latin typeface="DM Sans"/>
              </a:rPr>
              <a:t>AVG ROAS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91200" y="3062287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791200" y="3062287"/>
            <a:ext cx="5219700" cy="2014537"/>
          </a:xfrm>
          <a:prstGeom prst="roundRect">
            <a:avLst>
              <a:gd name="adj" fmla="val 182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91200" y="3062287"/>
            <a:ext cx="5219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57900" y="3328987"/>
            <a:ext cx="46863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 spc="-100">
                <a:solidFill>
                  <a:srgbClr val="E8264B"/>
                </a:solidFill>
                <a:latin typeface="Bebas Neue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7900" y="4772025"/>
            <a:ext cx="46863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8F7F4"/>
                </a:solidFill>
                <a:latin typeface="DM Sans"/>
              </a:rPr>
              <a:t>AI AGENTS</a:t>
            </a:r>
          </a:p>
        </p:txBody>
      </p:sp>
      <p:pic>
        <p:nvPicPr>
          <p:cNvPr id="54" name="Picture 53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150" y="5362575"/>
            <a:ext cx="2857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1500" y="381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SORTED · LIVE TICKER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590550"/>
            <a:ext cx="10287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000" b="0" i="0">
                <a:solidFill>
                  <a:srgbClr val="F8F7F4"/>
                </a:solidFill>
                <a:latin typeface="Bebas Neue"/>
              </a:rPr>
              <a:t>The numbers don't lie.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1619250"/>
            <a:ext cx="66675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Live across 100+ D2C brands, measured against real dashboards — Shopify, Klaviyo, Meta, Google.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019675"/>
            <a:ext cx="11430000" cy="9525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0" y="5267325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4000" b="0" i="0" spc="50">
                <a:solidFill>
                  <a:srgbClr val="F8F7F4"/>
                </a:solidFill>
                <a:latin typeface="Bebas Neue"/>
              </a:rPr>
              <a:t>100+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750" y="54864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F8F7F4"/>
                </a:solidFill>
                <a:latin typeface="DM Sans"/>
              </a:rPr>
              <a:t>BRANDS</a:t>
            </a:r>
          </a:p>
        </p:txBody>
      </p:sp>
      <p:sp>
        <p:nvSpPr>
          <p:cNvPr id="38" name="Oval 37"/>
          <p:cNvSpPr/>
          <p:nvPr/>
        </p:nvSpPr>
        <p:spPr>
          <a:xfrm>
            <a:off x="1876425" y="5467350"/>
            <a:ext cx="57150" cy="57150"/>
          </a:xfrm>
          <a:prstGeom prst="ellipse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05000" y="5267325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4000" b="0" i="0" spc="50">
                <a:solidFill>
                  <a:srgbClr val="F8F7F4"/>
                </a:solidFill>
                <a:latin typeface="Bebas Neue"/>
              </a:rPr>
              <a:t>$40M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71750" y="54864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F8F7F4"/>
                </a:solidFill>
                <a:latin typeface="DM Sans"/>
              </a:rPr>
              <a:t>REVENUE</a:t>
            </a:r>
          </a:p>
        </p:txBody>
      </p:sp>
      <p:sp>
        <p:nvSpPr>
          <p:cNvPr id="41" name="Oval 40"/>
          <p:cNvSpPr/>
          <p:nvPr/>
        </p:nvSpPr>
        <p:spPr>
          <a:xfrm>
            <a:off x="3781425" y="5467350"/>
            <a:ext cx="57150" cy="57150"/>
          </a:xfrm>
          <a:prstGeom prst="ellipse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10000" y="5267325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4000" b="0" i="0" spc="50">
                <a:solidFill>
                  <a:srgbClr val="F8F7F4"/>
                </a:solidFill>
                <a:latin typeface="Bebas Neue"/>
              </a:rPr>
              <a:t>4.5×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6750" y="54864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F8F7F4"/>
                </a:solidFill>
                <a:latin typeface="DM Sans"/>
              </a:rPr>
              <a:t>ROAS</a:t>
            </a:r>
          </a:p>
        </p:txBody>
      </p:sp>
      <p:sp>
        <p:nvSpPr>
          <p:cNvPr id="44" name="Oval 43"/>
          <p:cNvSpPr/>
          <p:nvPr/>
        </p:nvSpPr>
        <p:spPr>
          <a:xfrm>
            <a:off x="5686425" y="5467350"/>
            <a:ext cx="57150" cy="57150"/>
          </a:xfrm>
          <a:prstGeom prst="ellipse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57900" y="526732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4000" b="0" i="0" spc="50">
                <a:solidFill>
                  <a:srgbClr val="F8F7F4"/>
                </a:solidFill>
                <a:latin typeface="Bebas Neue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1750" y="54864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F8F7F4"/>
                </a:solidFill>
                <a:latin typeface="DM Sans"/>
              </a:rPr>
              <a:t>AI AGENTS</a:t>
            </a:r>
          </a:p>
        </p:txBody>
      </p:sp>
      <p:sp>
        <p:nvSpPr>
          <p:cNvPr id="47" name="Oval 46"/>
          <p:cNvSpPr/>
          <p:nvPr/>
        </p:nvSpPr>
        <p:spPr>
          <a:xfrm>
            <a:off x="7591425" y="5467350"/>
            <a:ext cx="57150" cy="57150"/>
          </a:xfrm>
          <a:prstGeom prst="ellipse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00" y="5267325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4000" b="0" i="0" spc="50">
                <a:solidFill>
                  <a:srgbClr val="F8F7F4"/>
                </a:solidFill>
                <a:latin typeface="Bebas Neue"/>
              </a:rPr>
              <a:t>72hr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6750" y="54864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F8F7F4"/>
                </a:solidFill>
                <a:latin typeface="DM Sans"/>
              </a:rPr>
              <a:t>DEPLOY</a:t>
            </a:r>
          </a:p>
        </p:txBody>
      </p:sp>
      <p:sp>
        <p:nvSpPr>
          <p:cNvPr id="50" name="Oval 49"/>
          <p:cNvSpPr/>
          <p:nvPr/>
        </p:nvSpPr>
        <p:spPr>
          <a:xfrm>
            <a:off x="9496425" y="5467350"/>
            <a:ext cx="57150" cy="57150"/>
          </a:xfrm>
          <a:prstGeom prst="ellipse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39300" y="5267325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4000" b="0" i="0" spc="50">
                <a:solidFill>
                  <a:srgbClr val="F8F7F4"/>
                </a:solidFill>
                <a:latin typeface="Bebas Neue"/>
              </a:rPr>
              <a:t>40%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1750" y="54864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F8F7F4"/>
                </a:solidFill>
                <a:latin typeface="DM Sans"/>
              </a:rPr>
              <a:t>COST REDUCTION</a:t>
            </a:r>
          </a:p>
        </p:txBody>
      </p:sp>
      <p:pic>
        <p:nvPicPr>
          <p:cNvPr id="53" name="Picture 5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650" y="381000"/>
            <a:ext cx="8953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19100"/>
            <a:ext cx="895350" cy="2095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486900" y="419100"/>
            <a:ext cx="962025" cy="1905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86900" y="419100"/>
            <a:ext cx="96202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E8264B"/>
                </a:solidFill>
                <a:latin typeface="DM Sans"/>
              </a:rPr>
              <a:t>PESHWA SWARM</a:t>
            </a:r>
          </a:p>
        </p:txBody>
      </p:sp>
      <p:sp>
        <p:nvSpPr>
          <p:cNvPr id="35" name="Oval 34"/>
          <p:cNvSpPr/>
          <p:nvPr/>
        </p:nvSpPr>
        <p:spPr>
          <a:xfrm>
            <a:off x="2381250" y="-95250"/>
            <a:ext cx="6667500" cy="66675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95750" y="1619250"/>
            <a:ext cx="3238500" cy="3238500"/>
          </a:xfrm>
          <a:prstGeom prst="ellipse">
            <a:avLst/>
          </a:prstGeom>
          <a:noFill/>
          <a:ln w="1270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2500" y="2286000"/>
            <a:ext cx="1905000" cy="1905000"/>
          </a:xfrm>
          <a:prstGeom prst="ellipse">
            <a:avLst/>
          </a:prstGeom>
          <a:noFill/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5715000" y="1619250"/>
            <a:ext cx="0" cy="1619250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410200" y="1314450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10200" y="1543050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ADS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715000" y="1998082"/>
            <a:ext cx="1040833" cy="1240418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451033" y="1693282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51033" y="1921882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KLAVIYO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5715000" y="2957320"/>
            <a:ext cx="1594649" cy="281180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7004849" y="2652520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04849" y="2881120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CREATIVE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715000" y="3238500"/>
            <a:ext cx="1402311" cy="809625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812511" y="3743325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2511" y="3971925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ANALYTICS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715000" y="3238500"/>
            <a:ext cx="553816" cy="1521597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5964016" y="4455297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64016" y="4683897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SEO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5161183" y="3238500"/>
            <a:ext cx="553817" cy="1521597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4856383" y="4455297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56383" y="4683897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SHOPIFY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4312688" y="3238500"/>
            <a:ext cx="1402312" cy="809625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4007888" y="3743325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07888" y="3971925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CX</a:t>
            </a:r>
          </a:p>
        </p:txBody>
      </p:sp>
      <p:cxnSp>
        <p:nvCxnSpPr>
          <p:cNvPr id="59" name="Connector 58"/>
          <p:cNvCxnSpPr/>
          <p:nvPr/>
        </p:nvCxnSpPr>
        <p:spPr>
          <a:xfrm flipH="1" flipV="1">
            <a:off x="4120350" y="2957320"/>
            <a:ext cx="1594650" cy="281180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3815550" y="2652520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15550" y="2881120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RESEARCH</a:t>
            </a:r>
          </a:p>
        </p:txBody>
      </p:sp>
      <p:cxnSp>
        <p:nvCxnSpPr>
          <p:cNvPr id="62" name="Connector 61"/>
          <p:cNvCxnSpPr/>
          <p:nvPr/>
        </p:nvCxnSpPr>
        <p:spPr>
          <a:xfrm flipH="1" flipV="1">
            <a:off x="4674166" y="1998082"/>
            <a:ext cx="1040834" cy="1240418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4369366" y="1693282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69366" y="1921882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OPS</a:t>
            </a:r>
          </a:p>
        </p:txBody>
      </p:sp>
      <p:sp>
        <p:nvSpPr>
          <p:cNvPr id="65" name="Oval 64"/>
          <p:cNvSpPr/>
          <p:nvPr/>
        </p:nvSpPr>
        <p:spPr>
          <a:xfrm>
            <a:off x="5181600" y="2705100"/>
            <a:ext cx="1066800" cy="10668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81600" y="3086100"/>
            <a:ext cx="10668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2600" b="0" i="0" spc="100">
                <a:solidFill>
                  <a:srgbClr val="F8F7F4"/>
                </a:solidFill>
                <a:latin typeface="Bebas Neue"/>
              </a:rPr>
              <a:t>CMD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" y="4829175"/>
            <a:ext cx="57150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000" b="0" i="0">
                <a:solidFill>
                  <a:srgbClr val="F8F7F4"/>
                </a:solidFill>
                <a:latin typeface="Bebas Neue"/>
              </a:rPr>
              <a:t>9 AI Agents.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1500" y="5457825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Working while you sleep.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cxnSp>
        <p:nvCxnSpPr>
          <p:cNvPr id="33" name="Connector 32"/>
          <p:cNvCxnSpPr/>
          <p:nvPr/>
        </p:nvCxnSpPr>
        <p:spPr>
          <a:xfrm>
            <a:off x="952500" y="2414587"/>
            <a:ext cx="0" cy="1047750"/>
          </a:xfrm>
          <a:prstGeom prst="line">
            <a:avLst/>
          </a:prstGeom>
          <a:ln w="762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4375" y="3224212"/>
            <a:ext cx="238125" cy="238125"/>
          </a:xfrm>
          <a:prstGeom prst="line">
            <a:avLst/>
          </a:prstGeom>
          <a:ln w="762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52500" y="3224212"/>
            <a:ext cx="238125" cy="238125"/>
          </a:xfrm>
          <a:prstGeom prst="line">
            <a:avLst/>
          </a:prstGeom>
          <a:ln w="762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809750" y="1557337"/>
            <a:ext cx="904875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VS TRADITIONAL AGENCY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9750" y="1785937"/>
            <a:ext cx="904875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13000" b="0" i="0" spc="-100">
                <a:solidFill>
                  <a:srgbClr val="E8264B"/>
                </a:solidFill>
                <a:latin typeface="Bebas Neue"/>
              </a:rPr>
              <a:t>40% Cost Reduction.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9750" y="3271837"/>
            <a:ext cx="6667500" cy="857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B8C4D8"/>
                </a:solidFill>
                <a:latin typeface="DM Sans"/>
              </a:rPr>
              <a:t>Via AI automation. Same outcomes, half the overhead. Peshwa Swarm replaces entire reporting departments.</a:t>
            </a:r>
          </a:p>
        </p:txBody>
      </p:sp>
      <p:pic>
        <p:nvPicPr>
          <p:cNvPr id="39" name="Picture 3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524827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1000" y="381000"/>
            <a:ext cx="9525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4000" b="0" i="0">
                <a:solidFill>
                  <a:srgbClr val="F8F7F4"/>
                </a:solidFill>
                <a:latin typeface="Bebas Neue"/>
              </a:rPr>
              <a:t>Agencies vs Sorted.</a:t>
            </a:r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650" y="476250"/>
            <a:ext cx="895350" cy="20955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381000" y="1047750"/>
            <a:ext cx="10668000" cy="4543425"/>
          </a:xfrm>
          <a:prstGeom prst="roundRect">
            <a:avLst>
              <a:gd name="adj" fmla="val 1071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" y="1047750"/>
            <a:ext cx="10668000" cy="438150"/>
          </a:xfrm>
          <a:prstGeom prst="rect">
            <a:avLst/>
          </a:prstGeom>
          <a:solidFill>
            <a:srgbClr val="13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96666" y="1047750"/>
            <a:ext cx="3852333" cy="438150"/>
          </a:xfrm>
          <a:prstGeom prst="rect">
            <a:avLst/>
          </a:prstGeom>
          <a:solidFill>
            <a:srgbClr val="13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" y="1200150"/>
            <a:ext cx="2582333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DIMENSION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4833" y="1200150"/>
            <a:ext cx="3471333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MOST AGENCIES 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7166" y="1200150"/>
            <a:ext cx="3471333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SORTED ✓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344333" y="1047750"/>
            <a:ext cx="0" cy="4543425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96666" y="1047750"/>
            <a:ext cx="0" cy="4543425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81000" y="1485900"/>
            <a:ext cx="10668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81000" y="2170112"/>
            <a:ext cx="10668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1500" y="1485900"/>
            <a:ext cx="25823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4833" y="1485900"/>
            <a:ext cx="190500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63433" y="1485900"/>
            <a:ext cx="32427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Retainer + Hours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7166" y="1485900"/>
            <a:ext cx="190500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5766" y="1485900"/>
            <a:ext cx="32427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7F4"/>
                </a:solidFill>
                <a:latin typeface="DM Sans"/>
              </a:rPr>
              <a:t>Outcome-based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81000" y="2854324"/>
            <a:ext cx="10668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1500" y="2170112"/>
            <a:ext cx="25823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Team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34833" y="2170112"/>
            <a:ext cx="190500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63433" y="2170112"/>
            <a:ext cx="32427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Siloed, rotating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87166" y="2170112"/>
            <a:ext cx="190500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5766" y="2170112"/>
            <a:ext cx="32427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7F4"/>
                </a:solidFill>
                <a:latin typeface="DM Sans"/>
              </a:rPr>
              <a:t>9 AI agents + lead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81000" y="3538537"/>
            <a:ext cx="10668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71500" y="2854324"/>
            <a:ext cx="25823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Speed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34833" y="2854324"/>
            <a:ext cx="190500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63433" y="2854324"/>
            <a:ext cx="32427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4-8 week onboarding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87166" y="2854324"/>
            <a:ext cx="190500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15766" y="2854324"/>
            <a:ext cx="32427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7F4"/>
                </a:solidFill>
                <a:latin typeface="DM Sans"/>
              </a:rPr>
              <a:t>72 hour deploy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81000" y="4222750"/>
            <a:ext cx="10668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1500" y="3538537"/>
            <a:ext cx="25823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Reporting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34833" y="3538537"/>
            <a:ext cx="190500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63433" y="3538537"/>
            <a:ext cx="32427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Monthly PDF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87166" y="3538537"/>
            <a:ext cx="190500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15766" y="3538537"/>
            <a:ext cx="32427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7F4"/>
                </a:solidFill>
                <a:latin typeface="DM Sans"/>
              </a:rPr>
              <a:t>Live dashboard 24/7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81000" y="4906962"/>
            <a:ext cx="10668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71500" y="4222750"/>
            <a:ext cx="25823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AI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34833" y="4222750"/>
            <a:ext cx="190500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63433" y="4222750"/>
            <a:ext cx="32427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Bolt-on Chat tool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87166" y="4222750"/>
            <a:ext cx="190500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15766" y="4222750"/>
            <a:ext cx="32427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7F4"/>
                </a:solidFill>
                <a:latin typeface="DM Sans"/>
              </a:rPr>
              <a:t>Embedded Peshwa Swarm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1500" y="4906962"/>
            <a:ext cx="25823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Coverage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34833" y="4906962"/>
            <a:ext cx="190500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63433" y="4906962"/>
            <a:ext cx="32427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Single channel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87166" y="4906962"/>
            <a:ext cx="190500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15766" y="4906962"/>
            <a:ext cx="3242733" cy="6842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7F4"/>
                </a:solidFill>
                <a:latin typeface="DM Sans"/>
              </a:rPr>
              <a:t>Full D2C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819150" cy="1905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906000" y="285750"/>
            <a:ext cx="769143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06000" y="285750"/>
            <a:ext cx="76914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REAL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1000" y="762000"/>
            <a:ext cx="10668000" cy="3086100"/>
          </a:xfrm>
          <a:prstGeom prst="roundRect">
            <a:avLst>
              <a:gd name="adj" fmla="val 1071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2019300"/>
            <a:ext cx="381000" cy="381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81000" y="2438400"/>
            <a:ext cx="10668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Klaviyo / Shopify / GSC dashboard screenshot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" y="4338637"/>
            <a:ext cx="106680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 spc="-100">
                <a:solidFill>
                  <a:srgbClr val="E8264B"/>
                </a:solidFill>
                <a:latin typeface="Bebas Neue"/>
              </a:rPr>
              <a:t>$40M+ Tracked.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000" y="5176837"/>
            <a:ext cx="10668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Real numbers. Real client accounts. Live dashboards, not slide decks.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