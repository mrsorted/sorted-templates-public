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5750" y="285750"/>
            <a:ext cx="10858500" cy="5400675"/>
          </a:xfrm>
          <a:prstGeom prst="roundRect">
            <a:avLst>
              <a:gd name="adj" fmla="val 70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0050" y="400050"/>
            <a:ext cx="10629900" cy="5172075"/>
          </a:xfrm>
          <a:prstGeom prst="roundRect">
            <a:avLst>
              <a:gd name="adj" fmla="val 358"/>
            </a:avLst>
          </a:prstGeom>
          <a:noFill/>
          <a:ln w="1270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" y="836104"/>
            <a:ext cx="10287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000" b="1" i="0" spc="320">
                <a:solidFill>
                  <a:srgbClr val="E8264B"/>
                </a:solidFill>
                <a:latin typeface="DM Sans"/>
              </a:rPr>
              <a:t>CERTIFICATE OF ACHIEVEMENT</a:t>
            </a:r>
          </a:p>
        </p:txBody>
      </p:sp>
      <p:sp>
        <p:nvSpPr>
          <p:cNvPr id="35" name="Oval 34"/>
          <p:cNvSpPr/>
          <p:nvPr/>
        </p:nvSpPr>
        <p:spPr>
          <a:xfrm>
            <a:off x="5429250" y="1217104"/>
            <a:ext cx="571500" cy="5715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9250" y="1217104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Client logo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2017204"/>
            <a:ext cx="10287000" cy="15201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F8F7F4"/>
                </a:solidFill>
                <a:latin typeface="Bebas Neue"/>
              </a:rPr>
              <a:t>This certifies that</a:t>
            </a:r>
          </a:p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F8F7F4"/>
                </a:solidFill>
                <a:latin typeface="Bebas Neue"/>
              </a:rPr>
              <a:t>[BRAND] achieved</a:t>
            </a:r>
          </a:p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F8F7F4"/>
                </a:solidFill>
                <a:latin typeface="Bebas Neue"/>
              </a:rPr>
              <a:t>3.1× revenue growth</a:t>
            </a:r>
          </a:p>
          <a:p>
            <a:pPr algn="ctr">
              <a:lnSpc>
                <a:spcPct val="100000"/>
              </a:lnSpc>
            </a:pPr>
            <a:r>
              <a:rPr sz="3800" b="0" i="0">
                <a:solidFill>
                  <a:srgbClr val="F8F7F4"/>
                </a:solidFill>
                <a:latin typeface="Bebas Neue"/>
              </a:rPr>
              <a:t>with Sorted.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886200" y="3823144"/>
            <a:ext cx="1238250" cy="0"/>
          </a:xfrm>
          <a:prstGeom prst="line">
            <a:avLst/>
          </a:prstGeom>
          <a:ln w="952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886200" y="3899344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Issued · Jan 2026</a:t>
            </a:r>
          </a:p>
        </p:txBody>
      </p:sp>
      <p:pic>
        <p:nvPicPr>
          <p:cNvPr id="40" name="Picture 39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50" y="3613594"/>
            <a:ext cx="419100" cy="419100"/>
          </a:xfrm>
          <a:prstGeom prst="rect">
            <a:avLst/>
          </a:prstGeom>
        </p:spPr>
      </p:pic>
      <p:cxnSp>
        <p:nvCxnSpPr>
          <p:cNvPr id="41" name="Connector 40"/>
          <p:cNvCxnSpPr/>
          <p:nvPr/>
        </p:nvCxnSpPr>
        <p:spPr>
          <a:xfrm>
            <a:off x="6305550" y="3823144"/>
            <a:ext cx="1238250" cy="0"/>
          </a:xfrm>
          <a:prstGeom prst="line">
            <a:avLst/>
          </a:prstGeom>
          <a:ln w="952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05550" y="3899344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Sorted Agency LLC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5750" y="285750"/>
            <a:ext cx="10858500" cy="5400675"/>
          </a:xfrm>
          <a:prstGeom prst="roundRect">
            <a:avLst>
              <a:gd name="adj" fmla="val 526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1500" y="895826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 spc="320">
                <a:solidFill>
                  <a:srgbClr val="E8264B"/>
                </a:solidFill>
                <a:latin typeface="DM Sans"/>
              </a:rPr>
              <a:t>CERTIFIED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1181576"/>
            <a:ext cx="10287000" cy="4191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4000" b="0" i="0">
                <a:solidFill>
                  <a:srgbClr val="F8F7F4"/>
                </a:solidFill>
                <a:latin typeface="Bebas Neue"/>
              </a:rPr>
              <a:t>Sorted Partner Agency.</a:t>
            </a:r>
          </a:p>
        </p:txBody>
      </p:sp>
      <p:sp>
        <p:nvSpPr>
          <p:cNvPr id="35" name="Oval 34"/>
          <p:cNvSpPr/>
          <p:nvPr/>
        </p:nvSpPr>
        <p:spPr>
          <a:xfrm>
            <a:off x="4552950" y="1886426"/>
            <a:ext cx="666750" cy="66675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2950" y="1886426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Partner logo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05450" y="2038826"/>
            <a:ext cx="476250" cy="3619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4200" b="0" i="0">
                <a:solidFill>
                  <a:srgbClr val="8A94A6"/>
                </a:solidFill>
                <a:latin typeface="Bebas Neue"/>
              </a:rPr>
              <a:t>×</a:t>
            </a:r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0" y="1915001"/>
            <a:ext cx="609600" cy="609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1500" y="2934176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8A94A6"/>
                </a:solidFill>
                <a:latin typeface="DM Sans"/>
              </a:rPr>
              <a:t>Powered by Sorted · Issued 2026 · 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85750" y="285750"/>
            <a:ext cx="10858500" cy="5400675"/>
          </a:xfrm>
          <a:prstGeom prst="roundRect">
            <a:avLst>
              <a:gd name="adj" fmla="val 526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29250" y="597217"/>
            <a:ext cx="571500" cy="571500"/>
          </a:xfrm>
          <a:prstGeom prst="ellipse">
            <a:avLst/>
          </a:prstGeom>
          <a:noFill/>
          <a:ln w="317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750" y="1359217"/>
            <a:ext cx="1009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 spc="320">
                <a:solidFill>
                  <a:srgbClr val="E8264B"/>
                </a:solidFill>
                <a:latin typeface="DM Sans"/>
              </a:rPr>
              <a:t>SORTED AWARDS ·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50" y="1606867"/>
            <a:ext cx="10096500" cy="9639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5000"/>
              </a:lnSpc>
            </a:pPr>
            <a:r>
              <a:rPr sz="4600" b="0" i="0">
                <a:solidFill>
                  <a:srgbClr val="E8264B"/>
                </a:solidFill>
                <a:latin typeface="Bebas Neue"/>
              </a:rPr>
              <a:t>D2C Brand</a:t>
            </a:r>
          </a:p>
          <a:p>
            <a:pPr algn="ctr">
              <a:lnSpc>
                <a:spcPct val="95000"/>
              </a:lnSpc>
            </a:pPr>
            <a:r>
              <a:rPr sz="4600" b="0" i="0">
                <a:solidFill>
                  <a:srgbClr val="E8264B"/>
                </a:solidFill>
                <a:latin typeface="Bebas Neue"/>
              </a:rPr>
              <a:t>of the Year.</a:t>
            </a:r>
          </a:p>
        </p:txBody>
      </p:sp>
      <p:sp>
        <p:nvSpPr>
          <p:cNvPr id="36" name="Oval 35"/>
          <p:cNvSpPr/>
          <p:nvPr/>
        </p:nvSpPr>
        <p:spPr>
          <a:xfrm>
            <a:off x="5429250" y="2761297"/>
            <a:ext cx="571500" cy="5715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9250" y="2761297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Winning brand logo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750" y="3580447"/>
            <a:ext cx="100965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Presented for outstanding revenue growth and operational excellence.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62500" y="4151947"/>
            <a:ext cx="1905000" cy="0"/>
          </a:xfrm>
          <a:prstGeom prst="line">
            <a:avLst/>
          </a:prstGeom>
          <a:ln w="9525">
            <a:solidFill>
              <a:srgbClr val="8A9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62500" y="4228147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Dhiraj Palekar · Founder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