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571500" y="1143000"/>
            <a:ext cx="1176337" cy="24765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" y="1143000"/>
            <a:ext cx="1176337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00" b="1" i="0" spc="180">
                <a:solidFill>
                  <a:srgbClr val="F8F7F4"/>
                </a:solidFill>
                <a:latin typeface="DM Sans"/>
              </a:rPr>
              <a:t>DID YOU KNOW: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1905000"/>
            <a:ext cx="9144000" cy="2377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7800" b="0" i="0">
                <a:solidFill>
                  <a:srgbClr val="F8F7F4"/>
                </a:solidFill>
                <a:latin typeface="Bebas Neue"/>
              </a:rPr>
              <a:t>35–45% of D2C revenue should come from Klaviyo flows — not ads.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447294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8A94A6"/>
                </a:solidFill>
                <a:latin typeface="DM Sans"/>
              </a:rPr>
              <a:t>Source: Klaviyo 2025 Benchmark Report · Sorted client avg: 42%</a:t>
            </a:r>
          </a:p>
        </p:txBody>
      </p:sp>
      <p:pic>
        <p:nvPicPr>
          <p:cNvPr id="42" name="Picture 41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0" y="9486900"/>
            <a:ext cx="419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-2057400" y="8229600"/>
            <a:ext cx="6667500" cy="6667500"/>
          </a:xfrm>
          <a:prstGeom prst="ellipse">
            <a:avLst/>
          </a:prstGeom>
          <a:solidFill>
            <a:srgbClr val="E8264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71500" y="11430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000" b="0" i="0">
                <a:solidFill>
                  <a:srgbClr val="E8264B"/>
                </a:solidFill>
                <a:latin typeface="Bebas Neue"/>
              </a:rPr>
              <a:t>Hot Take: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2095500"/>
            <a:ext cx="9144000" cy="36671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11000" b="0" i="0">
                <a:solidFill>
                  <a:srgbClr val="F8F7F4"/>
                </a:solidFill>
                <a:latin typeface="Bebas Neue"/>
              </a:rPr>
              <a:t>If your agency sends PDF reports, you're their customer. Not their client.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5991225"/>
            <a:ext cx="91440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8A94A6"/>
                </a:solidFill>
                <a:latin typeface="DM Sans"/>
              </a:rPr>
              <a:t>— Sorted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43500" y="571500"/>
            <a:ext cx="0" cy="9144000"/>
          </a:xfrm>
          <a:prstGeom prst="line">
            <a:avLst/>
          </a:prstGeom>
          <a:ln w="127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19150" cy="190500"/>
          </a:xfrm>
          <a:prstGeom prst="rect">
            <a:avLst/>
          </a:prstGeom>
        </p:spPr>
      </p:pic>
      <p:pic>
        <p:nvPicPr>
          <p:cNvPr id="39" name="Picture 38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9601200"/>
            <a:ext cx="304800" cy="3048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23900" y="952500"/>
            <a:ext cx="407670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8A94A6"/>
                </a:solidFill>
                <a:latin typeface="DM Sans"/>
              </a:rPr>
              <a:t>MYTH: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3900" y="1219200"/>
            <a:ext cx="40767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6000" b="0" i="0">
                <a:solidFill>
                  <a:srgbClr val="8A94A6"/>
                </a:solidFill>
                <a:latin typeface="Bebas Neue"/>
              </a:rPr>
              <a:t>More ad spend = more revenue.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23900" y="1533525"/>
            <a:ext cx="4076700" cy="0"/>
          </a:xfrm>
          <a:prstGeom prst="line">
            <a:avLst/>
          </a:prstGeom>
          <a:ln w="1905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86400" y="952500"/>
            <a:ext cx="407670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E8264B"/>
                </a:solidFill>
                <a:latin typeface="DM Sans"/>
              </a:rPr>
              <a:t>REALITY: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1219200"/>
            <a:ext cx="40767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6000" b="0" i="0">
                <a:solidFill>
                  <a:srgbClr val="F8F7F4"/>
                </a:solidFill>
                <a:latin typeface="Bebas Neue"/>
              </a:rPr>
              <a:t>Fix Klaviyo first. 40% cheaper revenue.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0" y="9906000"/>
            <a:ext cx="10287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200" b="1" i="0" spc="280">
                <a:solidFill>
                  <a:srgbClr val="E8264B"/>
                </a:solidFill>
                <a:latin typeface="DM Sans"/>
              </a:rPr>
              <a:t>WHAT'S YOUR TAKE? COMMENT 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76250" y="952500"/>
            <a:ext cx="9334500" cy="8229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7200" b="0" i="0">
                <a:solidFill>
                  <a:srgbClr val="F8F7F4"/>
                </a:solidFill>
                <a:latin typeface="Bebas Neue"/>
              </a:rPr>
              <a:t>3-step framework.</a:t>
            </a:r>
          </a:p>
        </p:txBody>
      </p:sp>
      <p:sp>
        <p:nvSpPr>
          <p:cNvPr id="39" name="Oval 38"/>
          <p:cNvSpPr/>
          <p:nvPr/>
        </p:nvSpPr>
        <p:spPr>
          <a:xfrm>
            <a:off x="476250" y="3159125"/>
            <a:ext cx="666750" cy="6667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6250" y="3159125"/>
            <a:ext cx="666750" cy="666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3200" b="0" i="0" spc="100">
                <a:solidFill>
                  <a:srgbClr val="F8F7F4"/>
                </a:solidFill>
                <a:latin typeface="Bebas Neue"/>
              </a:rP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3197225"/>
            <a:ext cx="8439150" cy="4400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4200" b="0" i="0" spc="50">
                <a:solidFill>
                  <a:srgbClr val="F8F7F4"/>
                </a:solidFill>
                <a:latin typeface="Bebas Neue"/>
              </a:rPr>
              <a:t>Audit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3654425"/>
            <a:ext cx="843915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B8C4D8"/>
                </a:solidFill>
                <a:latin typeface="DM Sans"/>
              </a:rPr>
              <a:t>Klaviyo · Meta · Shopify in 45 min.</a:t>
            </a:r>
          </a:p>
        </p:txBody>
      </p:sp>
      <p:sp>
        <p:nvSpPr>
          <p:cNvPr id="43" name="Oval 42"/>
          <p:cNvSpPr/>
          <p:nvPr/>
        </p:nvSpPr>
        <p:spPr>
          <a:xfrm>
            <a:off x="476250" y="5572125"/>
            <a:ext cx="666750" cy="6667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6250" y="5572125"/>
            <a:ext cx="666750" cy="666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3200" b="0" i="0" spc="100">
                <a:solidFill>
                  <a:srgbClr val="F8F7F4"/>
                </a:solidFill>
                <a:latin typeface="Bebas Neue"/>
              </a:rPr>
              <a:t>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5610225"/>
            <a:ext cx="8439150" cy="4400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4200" b="0" i="0" spc="50">
                <a:solidFill>
                  <a:srgbClr val="F8F7F4"/>
                </a:solidFill>
                <a:latin typeface="Bebas Neue"/>
              </a:rPr>
              <a:t>Strategy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6067425"/>
            <a:ext cx="843915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B8C4D8"/>
                </a:solidFill>
                <a:latin typeface="DM Sans"/>
              </a:rPr>
              <a:t>90-day roadmap with weekly milestones.</a:t>
            </a:r>
          </a:p>
        </p:txBody>
      </p:sp>
      <p:sp>
        <p:nvSpPr>
          <p:cNvPr id="47" name="Oval 46"/>
          <p:cNvSpPr/>
          <p:nvPr/>
        </p:nvSpPr>
        <p:spPr>
          <a:xfrm>
            <a:off x="476250" y="7985125"/>
            <a:ext cx="666750" cy="6667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6250" y="7985125"/>
            <a:ext cx="666750" cy="666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3200" b="0" i="0" spc="100">
                <a:solidFill>
                  <a:srgbClr val="F8F7F4"/>
                </a:solidFill>
                <a:latin typeface="Bebas Neue"/>
              </a:rP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" y="8023225"/>
            <a:ext cx="8439150" cy="4400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4200" b="0" i="0" spc="50">
                <a:solidFill>
                  <a:srgbClr val="F8F7F4"/>
                </a:solidFill>
                <a:latin typeface="Bebas Neue"/>
              </a:rPr>
              <a:t>Deploy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600" y="8480425"/>
            <a:ext cx="843915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B8C4D8"/>
                </a:solidFill>
                <a:latin typeface="DM Sans"/>
              </a:rPr>
              <a:t>Flows live in 72 hours. Creative weekly.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10500" y="9906000"/>
            <a:ext cx="200025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0000"/>
              </a:lnSpc>
            </a:pPr>
            <a:r>
              <a:rPr sz="1200" b="1" i="0" spc="280">
                <a:solidFill>
                  <a:srgbClr val="E8264B"/>
                </a:solidFill>
                <a:latin typeface="DM Sans"/>
              </a:rPr>
              <a:t>SAVE THIS 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571500" y="571500"/>
            <a:ext cx="28575" cy="91440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0650" y="381000"/>
            <a:ext cx="895350" cy="2095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52500" y="1333500"/>
            <a:ext cx="8763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DHIRAJ PALEKAR · FOUNDER, SORTED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500" y="1676400"/>
            <a:ext cx="8763000" cy="3086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7200" b="0" i="1">
                <a:solidFill>
                  <a:srgbClr val="F8F7F4"/>
                </a:solidFill>
                <a:latin typeface="Bebas Neue"/>
              </a:rPr>
              <a:t>“Most agencies sell hours. We sell outcomes. If you can't measure it, we can't charge for it.”</a:t>
            </a:r>
          </a:p>
        </p:txBody>
      </p:sp>
      <p:sp>
        <p:nvSpPr>
          <p:cNvPr id="41" name="Oval 40"/>
          <p:cNvSpPr/>
          <p:nvPr/>
        </p:nvSpPr>
        <p:spPr>
          <a:xfrm>
            <a:off x="952500" y="9105900"/>
            <a:ext cx="609600" cy="6096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2500" y="9105900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Dhiraj headshot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14500" y="9258300"/>
            <a:ext cx="28575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8F7F4"/>
                </a:solidFill>
                <a:latin typeface="DM Sans"/>
              </a:rPr>
              <a:t>Dhiraj Palekar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14500" y="9448800"/>
            <a:ext cx="28575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Founder · Sorted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229600" y="-2057400"/>
            <a:ext cx="5715000" cy="5715000"/>
          </a:xfrm>
          <a:prstGeom prst="ellipse">
            <a:avLst/>
          </a:prstGeom>
          <a:solidFill>
            <a:srgbClr val="E8264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571500" y="1143000"/>
            <a:ext cx="1033462" cy="24765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500" y="1143000"/>
            <a:ext cx="1033462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00" b="1" i="0" spc="180">
                <a:solidFill>
                  <a:srgbClr val="F8F7F4"/>
                </a:solidFill>
                <a:latin typeface="DM Sans"/>
              </a:rPr>
              <a:t>TREND ALERT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2000250"/>
            <a:ext cx="9144000" cy="2171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7600" b="0" i="0">
                <a:solidFill>
                  <a:srgbClr val="F8F7F4"/>
                </a:solidFill>
                <a:latin typeface="Bebas Neue"/>
              </a:rPr>
              <a:t>Meta CPMs are up 34% YoY. Email can't save you alone anymore.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4362450"/>
            <a:ext cx="9144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B8C4D8"/>
                </a:solidFill>
                <a:latin typeface="DM Sans"/>
              </a:rPr>
              <a:t>Context: Q4 2025 CPMs hit $15+ for apparel. Retention + creative velocity + zero-party data is the only way out.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" y="52197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WHAT TO DO: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" y="542925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F8F7F4"/>
                </a:solidFill>
                <a:latin typeface="DM Sans"/>
              </a:rPr>
              <a:t>Audit your top 3 flows. Re-cut 12 UGC creatives per month. Launch SMS.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71500" y="952500"/>
            <a:ext cx="5715000" cy="952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8000" b="0" i="0">
                <a:solidFill>
                  <a:srgbClr val="E8264B"/>
                </a:solidFill>
                <a:latin typeface="Bebas Neue"/>
              </a:rPr>
              <a:t>This you?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1500" y="2095500"/>
            <a:ext cx="9144000" cy="495300"/>
          </a:xfrm>
          <a:prstGeom prst="roundRect">
            <a:avLst>
              <a:gd name="adj" fmla="val 833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62000" y="2238375"/>
            <a:ext cx="209550" cy="209550"/>
          </a:xfrm>
          <a:prstGeom prst="roundRect">
            <a:avLst>
              <a:gd name="adj" fmla="val 18181"/>
            </a:avLst>
          </a:prstGeom>
          <a:noFill/>
          <a:ln w="254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4900" y="2095500"/>
            <a:ext cx="84201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8F7F4"/>
                </a:solidFill>
                <a:latin typeface="DM Sans"/>
              </a:rPr>
              <a:t>Klaviyo is under 15% of revenue.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1500" y="2724150"/>
            <a:ext cx="9144000" cy="495300"/>
          </a:xfrm>
          <a:prstGeom prst="roundRect">
            <a:avLst>
              <a:gd name="adj" fmla="val 833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62000" y="2867025"/>
            <a:ext cx="209550" cy="209550"/>
          </a:xfrm>
          <a:prstGeom prst="roundRect">
            <a:avLst>
              <a:gd name="adj" fmla="val 18181"/>
            </a:avLst>
          </a:prstGeom>
          <a:noFill/>
          <a:ln w="254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04900" y="2724150"/>
            <a:ext cx="84201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8F7F4"/>
                </a:solidFill>
                <a:latin typeface="DM Sans"/>
              </a:rPr>
              <a:t>Meta CAC has climbed 3 months straight.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1500" y="3352800"/>
            <a:ext cx="9144000" cy="495300"/>
          </a:xfrm>
          <a:prstGeom prst="roundRect">
            <a:avLst>
              <a:gd name="adj" fmla="val 833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62000" y="3495675"/>
            <a:ext cx="209550" cy="209550"/>
          </a:xfrm>
          <a:prstGeom prst="roundRect">
            <a:avLst>
              <a:gd name="adj" fmla="val 18181"/>
            </a:avLst>
          </a:prstGeom>
          <a:noFill/>
          <a:ln w="254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04900" y="3352800"/>
            <a:ext cx="84201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8F7F4"/>
                </a:solidFill>
                <a:latin typeface="DM Sans"/>
              </a:rPr>
              <a:t>You check ROAS at 11pm. Again.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1500" y="3981450"/>
            <a:ext cx="9144000" cy="495300"/>
          </a:xfrm>
          <a:prstGeom prst="roundRect">
            <a:avLst>
              <a:gd name="adj" fmla="val 833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62000" y="4124325"/>
            <a:ext cx="209550" cy="209550"/>
          </a:xfrm>
          <a:prstGeom prst="roundRect">
            <a:avLst>
              <a:gd name="adj" fmla="val 18181"/>
            </a:avLst>
          </a:prstGeom>
          <a:noFill/>
          <a:ln w="254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04900" y="3981450"/>
            <a:ext cx="84201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8F7F4"/>
                </a:solidFill>
                <a:latin typeface="DM Sans"/>
              </a:rPr>
              <a:t>Reporting is a PDF. Not a dashboard.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1500" y="4610100"/>
            <a:ext cx="9144000" cy="495300"/>
          </a:xfrm>
          <a:prstGeom prst="roundRect">
            <a:avLst>
              <a:gd name="adj" fmla="val 833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62000" y="4752975"/>
            <a:ext cx="209550" cy="209550"/>
          </a:xfrm>
          <a:prstGeom prst="roundRect">
            <a:avLst>
              <a:gd name="adj" fmla="val 18181"/>
            </a:avLst>
          </a:prstGeom>
          <a:noFill/>
          <a:ln w="254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04900" y="4610100"/>
            <a:ext cx="84201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8F7F4"/>
                </a:solidFill>
                <a:latin typeface="DM Sans"/>
              </a:rPr>
              <a:t>You can't name your top 3 SKUs by LTV.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0" y="9048750"/>
            <a:ext cx="10287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B8C4D8"/>
                </a:solidFill>
                <a:latin typeface="DM Sans"/>
              </a:rPr>
              <a:t>If you checked 3+, we need to talk.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080891" y="9372600"/>
            <a:ext cx="2125218" cy="400050"/>
          </a:xfrm>
          <a:prstGeom prst="roundRect">
            <a:avLst>
              <a:gd name="adj" fmla="val 2689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71391" y="9372600"/>
            <a:ext cx="1744218" cy="4000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F8F7F4"/>
                </a:solidFill>
                <a:latin typeface="DM Sans"/>
              </a:rPr>
              <a:t>BOOK A FREE AUDIT 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71500" y="85725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E8264B"/>
                </a:solidFill>
                <a:latin typeface="DM Sans"/>
              </a:rPr>
              <a:t>SORTED · GLOSSARY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" y="1123950"/>
            <a:ext cx="9144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7000" b="0" i="0">
                <a:solidFill>
                  <a:srgbClr val="F8F7F4"/>
                </a:solidFill>
                <a:latin typeface="Bebas Neue"/>
              </a:rPr>
              <a:t>What is a Win-Back Flow?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1866900"/>
            <a:ext cx="91440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180">
                <a:solidFill>
                  <a:srgbClr val="E8264B"/>
                </a:solidFill>
                <a:latin typeface="DM Sans"/>
              </a:rPr>
              <a:t>• Win-Back Flow (Klaviyo automation)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2476500"/>
            <a:ext cx="914400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B8C4D8"/>
                </a:solidFill>
                <a:latin typeface="DM Sans"/>
              </a:rPr>
              <a:t>A Klaviyo automation that re-engages customers who haven't purchased in 60–120 days, using progressive incentives — a reminder, then social proof, then a final 15% offer. Typically recovers 8–12% of lapsed customers.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98107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80">
                <a:solidFill>
                  <a:srgbClr val="8A94A6"/>
                </a:solidFill>
                <a:latin typeface="DM Sans"/>
              </a:rPr>
              <a:t>SORTED GLOSSARY · VOL. 01</a:t>
            </a:r>
          </a:p>
        </p:txBody>
      </p:sp>
      <p:pic>
        <p:nvPicPr>
          <p:cNvPr id="43" name="Picture 4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2075" y="9810750"/>
            <a:ext cx="73342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71500" y="952500"/>
            <a:ext cx="9144000" cy="152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7200" b="0" i="0">
                <a:solidFill>
                  <a:srgbClr val="F8F7F4"/>
                </a:solidFill>
                <a:latin typeface="Bebas Neue"/>
              </a:rPr>
              <a:t>How to 2× email revenue in 30 days.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1500" y="2571750"/>
            <a:ext cx="4505325" cy="3409950"/>
          </a:xfrm>
          <a:prstGeom prst="roundRect">
            <a:avLst>
              <a:gd name="adj" fmla="val 2114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2000" y="2762250"/>
            <a:ext cx="4124325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4800" b="0" i="0">
                <a:solidFill>
                  <a:srgbClr val="E8264B"/>
                </a:solidFill>
                <a:latin typeface="Bebas Neue"/>
              </a:rP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" y="3314700"/>
            <a:ext cx="4124325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8F7F4"/>
                </a:solidFill>
                <a:latin typeface="Bebas Neue"/>
              </a:rPr>
              <a:t>Audit Klaviyo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3714750"/>
            <a:ext cx="4124325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B8C4D8"/>
                </a:solidFill>
                <a:latin typeface="DM Sans"/>
              </a:rPr>
              <a:t>Pull last 90 days flow revenue. Identify the gap.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10175" y="2571750"/>
            <a:ext cx="4505325" cy="3409950"/>
          </a:xfrm>
          <a:prstGeom prst="roundRect">
            <a:avLst>
              <a:gd name="adj" fmla="val 2114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00675" y="2762250"/>
            <a:ext cx="4124325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4800" b="0" i="0">
                <a:solidFill>
                  <a:srgbClr val="E8264B"/>
                </a:solidFill>
                <a:latin typeface="Bebas Neue"/>
              </a:rPr>
              <a:t>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00675" y="3314700"/>
            <a:ext cx="4124325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8F7F4"/>
                </a:solidFill>
                <a:latin typeface="Bebas Neue"/>
              </a:rPr>
              <a:t>Rebuild Welcome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00675" y="3714750"/>
            <a:ext cx="4124325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B8C4D8"/>
                </a:solidFill>
                <a:latin typeface="DM Sans"/>
              </a:rPr>
              <a:t>3 emails · 1 SMS · progressive offer.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1500" y="6115050"/>
            <a:ext cx="4505325" cy="3409950"/>
          </a:xfrm>
          <a:prstGeom prst="roundRect">
            <a:avLst>
              <a:gd name="adj" fmla="val 2114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000" y="6305550"/>
            <a:ext cx="4124325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4800" b="0" i="0">
                <a:solidFill>
                  <a:srgbClr val="E8264B"/>
                </a:solidFill>
                <a:latin typeface="Bebas Neue"/>
              </a:rP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2000" y="6858000"/>
            <a:ext cx="4124325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8F7F4"/>
                </a:solidFill>
                <a:latin typeface="Bebas Neue"/>
              </a:rPr>
              <a:t>Add Browse + Cart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2000" y="7258050"/>
            <a:ext cx="4124325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B8C4D8"/>
                </a:solidFill>
                <a:latin typeface="DM Sans"/>
              </a:rPr>
              <a:t>Behaviour triggers. 30-min delay.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10175" y="6115050"/>
            <a:ext cx="4505325" cy="3409950"/>
          </a:xfrm>
          <a:prstGeom prst="roundRect">
            <a:avLst>
              <a:gd name="adj" fmla="val 2114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00675" y="6305550"/>
            <a:ext cx="4124325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4800" b="0" i="0">
                <a:solidFill>
                  <a:srgbClr val="E8264B"/>
                </a:solidFill>
                <a:latin typeface="Bebas Neue"/>
              </a:rPr>
              <a:t>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00675" y="6858000"/>
            <a:ext cx="4124325" cy="323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8F7F4"/>
                </a:solidFill>
                <a:latin typeface="Bebas Neue"/>
              </a:rPr>
              <a:t>Split test subjects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00675" y="7258050"/>
            <a:ext cx="4124325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B8C4D8"/>
                </a:solidFill>
                <a:latin typeface="DM Sans"/>
              </a:rPr>
              <a:t>Weekly A/B. Winning creative wins budget.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990600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0000"/>
              </a:lnSpc>
            </a:pPr>
            <a:r>
              <a:rPr sz="1200" b="1" i="0" spc="280">
                <a:solidFill>
                  <a:srgbClr val="E8264B"/>
                </a:solidFill>
                <a:latin typeface="DM Sans"/>
              </a:rPr>
              <a:t>SAVE THIS FOR LATER 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