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7429500" y="-1905000"/>
            <a:ext cx="6667500" cy="6667500"/>
          </a:xfrm>
          <a:prstGeom prst="ellipse">
            <a:avLst/>
          </a:prstGeom>
          <a:solidFill>
            <a:srgbClr val="E8264B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71500" y="571500"/>
            <a:ext cx="962025" cy="24765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" y="571500"/>
            <a:ext cx="962025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000" b="1" i="0" spc="180">
                <a:solidFill>
                  <a:srgbClr val="F8F7F4"/>
                </a:solidFill>
                <a:latin typeface="DM Sans"/>
              </a:rPr>
              <a:t>CASE STUDY</a:t>
            </a:r>
          </a:p>
        </p:txBody>
      </p:sp>
      <p:pic>
        <p:nvPicPr>
          <p:cNvPr id="40" name="Picture 39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700" y="609600"/>
            <a:ext cx="1057275" cy="247650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571500" y="1257300"/>
            <a:ext cx="897731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" y="1257300"/>
            <a:ext cx="897731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D2C · EMAIL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" y="2709862"/>
            <a:ext cx="6362700" cy="2095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5000"/>
              </a:lnSpc>
            </a:pPr>
            <a:r>
              <a:rPr sz="22000" b="0" i="0" spc="-200">
                <a:solidFill>
                  <a:srgbClr val="E8264B"/>
                </a:solidFill>
                <a:latin typeface="Bebas Neue"/>
              </a:rPr>
              <a:t>$17.9M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" y="4900612"/>
            <a:ext cx="6477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1" i="0" spc="220">
                <a:solidFill>
                  <a:srgbClr val="F8F7F4"/>
                </a:solidFill>
                <a:latin typeface="DM Sans"/>
              </a:rPr>
              <a:t>ATTRIBUTED EMAIL REVENUE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1500" y="5129212"/>
            <a:ext cx="6477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A94A6"/>
                </a:solidFill>
                <a:latin typeface="DM Sans"/>
              </a:rPr>
              <a:t>URC Beverages · 12-month Klaviyo engagement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39000" y="1809750"/>
            <a:ext cx="2476500" cy="6000750"/>
          </a:xfrm>
          <a:prstGeom prst="roundRect">
            <a:avLst>
              <a:gd name="adj" fmla="val 1904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4524375"/>
            <a:ext cx="381000" cy="3810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239000" y="4943475"/>
            <a:ext cx="2476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client creative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1500" y="7524750"/>
            <a:ext cx="29464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71500" y="7524750"/>
            <a:ext cx="2946400" cy="1143000"/>
          </a:xfrm>
          <a:prstGeom prst="roundRect">
            <a:avLst>
              <a:gd name="adj" fmla="val 3232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71500" y="7524750"/>
            <a:ext cx="29464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2950" y="7658100"/>
            <a:ext cx="260350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200" b="0" i="0">
                <a:solidFill>
                  <a:srgbClr val="E8264B"/>
                </a:solidFill>
                <a:latin typeface="Bebas Neue"/>
              </a:rPr>
              <a:t>28.2%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2950" y="8382000"/>
            <a:ext cx="2603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GROWTH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70300" y="7524750"/>
            <a:ext cx="29464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670300" y="7524750"/>
            <a:ext cx="2946400" cy="1143000"/>
          </a:xfrm>
          <a:prstGeom prst="roundRect">
            <a:avLst>
              <a:gd name="adj" fmla="val 3232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70300" y="7524750"/>
            <a:ext cx="29464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41750" y="7658100"/>
            <a:ext cx="260350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200" b="0" i="0">
                <a:solidFill>
                  <a:srgbClr val="E8264B"/>
                </a:solidFill>
                <a:latin typeface="Bebas Neue"/>
              </a:rPr>
              <a:t>44%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1750" y="8382000"/>
            <a:ext cx="2603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REVENUE SHARE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69100" y="7524750"/>
            <a:ext cx="29464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769100" y="7524750"/>
            <a:ext cx="2946400" cy="1143000"/>
          </a:xfrm>
          <a:prstGeom prst="roundRect">
            <a:avLst>
              <a:gd name="adj" fmla="val 3232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769100" y="7524750"/>
            <a:ext cx="29464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0550" y="7658100"/>
            <a:ext cx="260350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200" b="0" i="0">
                <a:solidFill>
                  <a:srgbClr val="E8264B"/>
                </a:solidFill>
                <a:latin typeface="Bebas Neue"/>
              </a:rPr>
              <a:t>12 MO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0550" y="8382000"/>
            <a:ext cx="2603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ENGAGEMENT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71500" y="9315450"/>
            <a:ext cx="2392680" cy="400050"/>
          </a:xfrm>
          <a:prstGeom prst="roundRect">
            <a:avLst>
              <a:gd name="adj" fmla="val 2388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2000" y="9315450"/>
            <a:ext cx="2011680" cy="4000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F8F7F4"/>
                </a:solidFill>
                <a:latin typeface="DM Sans"/>
              </a:rPr>
              <a:t>BOOK YOUR FREE AUDIT  →</a:t>
            </a:r>
          </a:p>
        </p:txBody>
      </p:sp>
      <p:pic>
        <p:nvPicPr>
          <p:cNvPr id="66" name="Picture 65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0" y="92583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809750" y="1809750"/>
            <a:ext cx="6667500" cy="6667500"/>
          </a:xfrm>
          <a:prstGeom prst="ellipse">
            <a:avLst/>
          </a:prstGeom>
          <a:solidFill>
            <a:srgbClr val="E8264B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2525" y="457200"/>
            <a:ext cx="1057275" cy="2476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57200" y="4572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CASE STUDY · 2025</a:t>
            </a:r>
          </a:p>
        </p:txBody>
      </p:sp>
      <p:sp>
        <p:nvSpPr>
          <p:cNvPr id="40" name="Oval 39"/>
          <p:cNvSpPr/>
          <p:nvPr/>
        </p:nvSpPr>
        <p:spPr>
          <a:xfrm>
            <a:off x="7696200" y="457200"/>
            <a:ext cx="609600" cy="6096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96200" y="457200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Client logo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0" y="3257550"/>
            <a:ext cx="10287000" cy="3771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85000"/>
              </a:lnSpc>
            </a:pPr>
            <a:r>
              <a:rPr sz="36000" b="0" i="0" spc="-400">
                <a:solidFill>
                  <a:srgbClr val="E8264B"/>
                </a:solidFill>
                <a:latin typeface="Bebas Neue"/>
              </a:rPr>
              <a:t>$17.9M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0" y="6686550"/>
            <a:ext cx="10287000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800" b="1" i="0" spc="220">
                <a:solidFill>
                  <a:srgbClr val="F8F7F4"/>
                </a:solidFill>
                <a:latin typeface="DM Sans"/>
              </a:rPr>
              <a:t>ATTRIBUTED EMAIL REVENUE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0" y="6972300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8A94A6"/>
                </a:solidFill>
                <a:latin typeface="DM Sans"/>
              </a:rPr>
              <a:t>12 months · 1 client · Klaviyo</a:t>
            </a:r>
          </a:p>
        </p:txBody>
      </p:sp>
      <p:pic>
        <p:nvPicPr>
          <p:cNvPr id="45" name="Picture 44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0700" y="9410700"/>
            <a:ext cx="495300" cy="4953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81000" y="9753600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B8C4D8"/>
                </a:solidFill>
                <a:latin typeface="DM Sans"/>
              </a:rPr>
              <a:t>SORTED.AGENCY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981075" cy="2286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71500" y="2571750"/>
            <a:ext cx="4057650" cy="3562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5000"/>
              </a:lnSpc>
            </a:pPr>
            <a:r>
              <a:rPr sz="34000" b="0" i="0" spc="-300">
                <a:solidFill>
                  <a:srgbClr val="E8264B"/>
                </a:solidFill>
                <a:latin typeface="Bebas Neue"/>
              </a:rPr>
              <a:t>4.5×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" y="5648325"/>
            <a:ext cx="4057650" cy="1809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500" b="1" i="0" spc="220">
                <a:solidFill>
                  <a:srgbClr val="F8F7F4"/>
                </a:solidFill>
                <a:latin typeface="DM Sans"/>
              </a:rPr>
              <a:t>AVERAGE ROAS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4000" y="2880360"/>
            <a:ext cx="43815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B8C4D8"/>
                </a:solidFill>
                <a:latin typeface="DM Sans"/>
              </a:rPr>
              <a:t>Across 100+ D2C brands we've scaled since 2022.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34000" y="7036308"/>
            <a:ext cx="488949" cy="678942"/>
          </a:xfrm>
          <a:prstGeom prst="roundRect">
            <a:avLst>
              <a:gd name="adj" fmla="val 4208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34000" y="7810500"/>
            <a:ext cx="488949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000" b="0" i="0" spc="120">
                <a:solidFill>
                  <a:srgbClr val="8A94A6"/>
                </a:solidFill>
                <a:latin typeface="DM Sans"/>
              </a:rPr>
              <a:t>Q1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2500" y="6419088"/>
            <a:ext cx="488949" cy="1296161"/>
          </a:xfrm>
          <a:prstGeom prst="roundRect">
            <a:avLst>
              <a:gd name="adj" fmla="val 2204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2500" y="7810500"/>
            <a:ext cx="488949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000" b="0" i="0" spc="120">
                <a:solidFill>
                  <a:srgbClr val="8A94A6"/>
                </a:solidFill>
                <a:latin typeface="DM Sans"/>
              </a:rPr>
              <a:t>Q2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731000" y="5678424"/>
            <a:ext cx="488949" cy="2036826"/>
          </a:xfrm>
          <a:prstGeom prst="roundRect">
            <a:avLst>
              <a:gd name="adj" fmla="val 1402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31000" y="7810500"/>
            <a:ext cx="488949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000" b="0" i="0" spc="120">
                <a:solidFill>
                  <a:srgbClr val="8A94A6"/>
                </a:solidFill>
                <a:latin typeface="DM Sans"/>
              </a:rPr>
              <a:t>Q3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29500" y="5184647"/>
            <a:ext cx="488949" cy="2530602"/>
          </a:xfrm>
          <a:prstGeom prst="roundRect">
            <a:avLst>
              <a:gd name="adj" fmla="val 1129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29500" y="7810500"/>
            <a:ext cx="488949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000" b="0" i="0" spc="120">
                <a:solidFill>
                  <a:srgbClr val="8A94A6"/>
                </a:solidFill>
                <a:latin typeface="DM Sans"/>
              </a:rPr>
              <a:t>Q4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27999" y="4629150"/>
            <a:ext cx="488949" cy="3086100"/>
          </a:xfrm>
          <a:prstGeom prst="roundRect">
            <a:avLst>
              <a:gd name="adj" fmla="val 925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27999" y="7810500"/>
            <a:ext cx="488949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000" b="0" i="0" spc="120">
                <a:solidFill>
                  <a:srgbClr val="8A94A6"/>
                </a:solidFill>
                <a:latin typeface="DM Sans"/>
              </a:rPr>
              <a:t>NOW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1500" y="9505950"/>
            <a:ext cx="2209800" cy="3238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1500" y="9505950"/>
            <a:ext cx="2209800" cy="3238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200" b="1" i="0" spc="180">
                <a:solidFill>
                  <a:srgbClr val="E8264B"/>
                </a:solidFill>
                <a:latin typeface="DM Sans"/>
              </a:rPr>
              <a:t>$30M+ AD SPEND MANAGED</a:t>
            </a:r>
          </a:p>
        </p:txBody>
      </p:sp>
      <p:pic>
        <p:nvPicPr>
          <p:cNvPr id="53" name="Picture 52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0700" y="9410700"/>
            <a:ext cx="4191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43500" y="762000"/>
            <a:ext cx="0" cy="8763000"/>
          </a:xfrm>
          <a:prstGeom prst="line">
            <a:avLst/>
          </a:prstGeom>
          <a:ln w="127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62000" y="1143000"/>
            <a:ext cx="4191000" cy="161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20">
                <a:solidFill>
                  <a:srgbClr val="8A94A6"/>
                </a:solidFill>
                <a:latin typeface="DM Sans"/>
              </a:rPr>
              <a:t>BEFORE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000" y="1333500"/>
            <a:ext cx="4000500" cy="1047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0000" b="0" i="0">
                <a:solidFill>
                  <a:srgbClr val="8A94A6"/>
                </a:solidFill>
                <a:latin typeface="Bebas Neue"/>
              </a:rPr>
              <a:t>Before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2000" y="2667000"/>
            <a:ext cx="4000500" cy="2095500"/>
          </a:xfrm>
          <a:prstGeom prst="roundRect">
            <a:avLst>
              <a:gd name="adj" fmla="val 2857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3429000"/>
            <a:ext cx="381000" cy="381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62000" y="3848100"/>
            <a:ext cx="4000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screenshot — before</a:t>
            </a:r>
          </a:p>
        </p:txBody>
      </p:sp>
      <p:sp>
        <p:nvSpPr>
          <p:cNvPr id="43" name="Oval 42"/>
          <p:cNvSpPr/>
          <p:nvPr/>
        </p:nvSpPr>
        <p:spPr>
          <a:xfrm>
            <a:off x="762000" y="5143500"/>
            <a:ext cx="209550" cy="209550"/>
          </a:xfrm>
          <a:prstGeom prst="ellipse">
            <a:avLst/>
          </a:prstGeom>
          <a:solidFill>
            <a:srgbClr val="0F2240"/>
          </a:solidFill>
          <a:ln w="6350">
            <a:solidFill>
              <a:srgbClr val="8A9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2000" y="51435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8A94A6"/>
                </a:solidFill>
                <a:latin typeface="DM Sans"/>
              </a:rPr>
              <a:t>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5850" y="5143500"/>
            <a:ext cx="367665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8A94A6"/>
                </a:solidFill>
                <a:latin typeface="DM Sans"/>
              </a:rPr>
              <a:t>2.1× ROAS · flatlining revenue</a:t>
            </a:r>
          </a:p>
        </p:txBody>
      </p:sp>
      <p:sp>
        <p:nvSpPr>
          <p:cNvPr id="46" name="Oval 45"/>
          <p:cNvSpPr/>
          <p:nvPr/>
        </p:nvSpPr>
        <p:spPr>
          <a:xfrm>
            <a:off x="762000" y="5619750"/>
            <a:ext cx="209550" cy="209550"/>
          </a:xfrm>
          <a:prstGeom prst="ellipse">
            <a:avLst/>
          </a:prstGeom>
          <a:solidFill>
            <a:srgbClr val="0F2240"/>
          </a:solidFill>
          <a:ln w="6350">
            <a:solidFill>
              <a:srgbClr val="8A9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2000" y="5619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8A94A6"/>
                </a:solidFill>
                <a:latin typeface="DM Sans"/>
              </a:rPr>
              <a:t>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5850" y="5619750"/>
            <a:ext cx="367665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8A94A6"/>
                </a:solidFill>
                <a:latin typeface="DM Sans"/>
              </a:rPr>
              <a:t>Klaviyo at 8% of total revenue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24500" y="1143000"/>
            <a:ext cx="4191000" cy="161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20">
                <a:solidFill>
                  <a:srgbClr val="E8264B"/>
                </a:solidFill>
                <a:latin typeface="DM Sans"/>
              </a:rPr>
              <a:t>AFTER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24500" y="1333500"/>
            <a:ext cx="4000500" cy="1047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0000" b="0" i="0">
                <a:solidFill>
                  <a:srgbClr val="E8264B"/>
                </a:solidFill>
                <a:latin typeface="Bebas Neue"/>
              </a:rPr>
              <a:t>After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524500" y="2667000"/>
            <a:ext cx="4000500" cy="2095500"/>
          </a:xfrm>
          <a:prstGeom prst="roundRect">
            <a:avLst>
              <a:gd name="adj" fmla="val 2857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0" y="3429000"/>
            <a:ext cx="381000" cy="3810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524500" y="3848100"/>
            <a:ext cx="4000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screenshot — after</a:t>
            </a:r>
          </a:p>
        </p:txBody>
      </p:sp>
      <p:sp>
        <p:nvSpPr>
          <p:cNvPr id="54" name="Oval 53"/>
          <p:cNvSpPr/>
          <p:nvPr/>
        </p:nvSpPr>
        <p:spPr>
          <a:xfrm>
            <a:off x="5524500" y="5143500"/>
            <a:ext cx="209550" cy="2095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24500" y="51435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8F7F4"/>
                </a:solidFill>
                <a:latin typeface="DM Sans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48350" y="5143500"/>
            <a:ext cx="367665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8F7F4"/>
                </a:solidFill>
                <a:latin typeface="DM Sans"/>
              </a:rPr>
              <a:t>4.8× ROAS · sustained 9 months</a:t>
            </a:r>
          </a:p>
        </p:txBody>
      </p:sp>
      <p:sp>
        <p:nvSpPr>
          <p:cNvPr id="57" name="Oval 56"/>
          <p:cNvSpPr/>
          <p:nvPr/>
        </p:nvSpPr>
        <p:spPr>
          <a:xfrm>
            <a:off x="5524500" y="5619750"/>
            <a:ext cx="209550" cy="2095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24500" y="5619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8F7F4"/>
                </a:solidFill>
                <a:latin typeface="DM Sans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8350" y="5619750"/>
            <a:ext cx="367665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8F7F4"/>
                </a:solidFill>
                <a:latin typeface="DM Sans"/>
              </a:rPr>
              <a:t>Klaviyo at 44% of total revenue</a:t>
            </a:r>
          </a:p>
        </p:txBody>
      </p:sp>
      <p:pic>
        <p:nvPicPr>
          <p:cNvPr id="60" name="Picture 59" descr="sorte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81000"/>
            <a:ext cx="819150" cy="190500"/>
          </a:xfrm>
          <a:prstGeom prst="rect">
            <a:avLst/>
          </a:prstGeom>
        </p:spPr>
      </p:pic>
      <p:pic>
        <p:nvPicPr>
          <p:cNvPr id="61" name="Picture 60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100" y="9563100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-1905000" y="6477000"/>
            <a:ext cx="7620000" cy="7620000"/>
          </a:xfrm>
          <a:prstGeom prst="ellipse">
            <a:avLst/>
          </a:prstGeom>
          <a:solidFill>
            <a:srgbClr val="E8264B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2525" y="457200"/>
            <a:ext cx="1057275" cy="247650"/>
          </a:xfrm>
          <a:prstGeom prst="rect">
            <a:avLst/>
          </a:prstGeom>
        </p:spPr>
      </p:pic>
      <p:pic>
        <p:nvPicPr>
          <p:cNvPr id="39" name="Picture 38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95300"/>
            <a:ext cx="381000" cy="381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0" y="2571750"/>
            <a:ext cx="10287000" cy="5657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85000"/>
              </a:lnSpc>
            </a:pPr>
            <a:r>
              <a:rPr sz="54000" b="0" i="0" spc="-600">
                <a:solidFill>
                  <a:srgbClr val="E8264B"/>
                </a:solidFill>
                <a:latin typeface="Bebas Neue"/>
              </a:rPr>
              <a:t>718%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0" y="7458075"/>
            <a:ext cx="10287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000" b="1" i="0" spc="220">
                <a:solidFill>
                  <a:srgbClr val="F8F7F4"/>
                </a:solidFill>
                <a:latin typeface="DM Sans"/>
              </a:rPr>
              <a:t>REVENUE GROWTH · 6 MONTHS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0" y="7762875"/>
            <a:ext cx="10287000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8A94A6"/>
                </a:solidFill>
                <a:latin typeface="DM Sans"/>
              </a:rPr>
              <a:t>Homestead Collective · Meta + Google + Klaviyo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00" y="9753600"/>
            <a:ext cx="2286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SWIPE TO SEE HOW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382000" y="381000"/>
            <a:ext cx="1033462" cy="24765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82000" y="381000"/>
            <a:ext cx="1033462" cy="2476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000" b="1" i="0" spc="180">
                <a:solidFill>
                  <a:srgbClr val="F8F7F4"/>
                </a:solidFill>
                <a:latin typeface="DM Sans"/>
              </a:rPr>
              <a:t>SHOPIFY WIN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1000" y="1047750"/>
            <a:ext cx="9525000" cy="3429000"/>
          </a:xfrm>
          <a:prstGeom prst="roundRect">
            <a:avLst>
              <a:gd name="adj" fmla="val 1200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2476500"/>
            <a:ext cx="381000" cy="381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81000" y="289560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Shopify dashboard screenshot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1000" y="4762500"/>
            <a:ext cx="5715000" cy="1885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8000" b="0" i="0" spc="-200">
                <a:solidFill>
                  <a:srgbClr val="E8264B"/>
                </a:solidFill>
                <a:latin typeface="Bebas Neue"/>
              </a:rPr>
              <a:t>$1.45M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1000" y="6391275"/>
            <a:ext cx="571500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F8F7F4"/>
                </a:solidFill>
                <a:latin typeface="DM Sans"/>
              </a:rPr>
              <a:t>SHOPIFY SALES · 90 DAYS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1000" y="8763000"/>
            <a:ext cx="30861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81000" y="8763000"/>
            <a:ext cx="3086100" cy="1143000"/>
          </a:xfrm>
          <a:prstGeom prst="roundRect">
            <a:avLst>
              <a:gd name="adj" fmla="val 3086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1000" y="8763000"/>
            <a:ext cx="30861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2450" y="8896350"/>
            <a:ext cx="274320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200" b="0" i="0">
                <a:solidFill>
                  <a:srgbClr val="E8264B"/>
                </a:solidFill>
                <a:latin typeface="Bebas Neue"/>
              </a:rPr>
              <a:t>27K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2450" y="962025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ORDERS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00450" y="8763000"/>
            <a:ext cx="30861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600450" y="8763000"/>
            <a:ext cx="3086100" cy="1143000"/>
          </a:xfrm>
          <a:prstGeom prst="roundRect">
            <a:avLst>
              <a:gd name="adj" fmla="val 3086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00450" y="8763000"/>
            <a:ext cx="30861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71900" y="8896350"/>
            <a:ext cx="274320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200" b="0" i="0">
                <a:solidFill>
                  <a:srgbClr val="E8264B"/>
                </a:solidFill>
                <a:latin typeface="Bebas Neue"/>
              </a:rPr>
              <a:t>22.96%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71900" y="962025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RETURN RATE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19900" y="8763000"/>
            <a:ext cx="30861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819900" y="8763000"/>
            <a:ext cx="3086100" cy="1143000"/>
          </a:xfrm>
          <a:prstGeom prst="roundRect">
            <a:avLst>
              <a:gd name="adj" fmla="val 3086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19900" y="8763000"/>
            <a:ext cx="30861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91350" y="8896350"/>
            <a:ext cx="274320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200" b="0" i="0">
                <a:solidFill>
                  <a:srgbClr val="E8264B"/>
                </a:solidFill>
                <a:latin typeface="Bebas Neue"/>
              </a:rPr>
              <a:t>+25%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91350" y="962025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YOY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0" y="0"/>
            <a:ext cx="10287000" cy="381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81000" y="381000"/>
            <a:ext cx="3733800" cy="9525000"/>
          </a:xfrm>
          <a:prstGeom prst="roundRect">
            <a:avLst>
              <a:gd name="adj" fmla="val 1200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4857750"/>
            <a:ext cx="381000" cy="381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81000" y="5276850"/>
            <a:ext cx="37338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client headshot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76800" y="571500"/>
            <a:ext cx="50292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CASE STUDY: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76800" y="952500"/>
            <a:ext cx="5029200" cy="1676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8000" b="0" i="0">
                <a:solidFill>
                  <a:srgbClr val="F8F7F4"/>
                </a:solidFill>
                <a:latin typeface="Bebas Neue"/>
              </a:rPr>
              <a:t>3× revenue</a:t>
            </a:r>
          </a:p>
          <a:p>
            <a:pPr algn="l">
              <a:lnSpc>
                <a:spcPct val="90000"/>
              </a:lnSpc>
            </a:pPr>
            <a:r>
              <a:rPr sz="8000" b="0" i="0">
                <a:solidFill>
                  <a:srgbClr val="F8F7F4"/>
                </a:solidFill>
                <a:latin typeface="Bebas Neue"/>
              </a:rPr>
              <a:t>in 90 days.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76800" y="2819400"/>
            <a:ext cx="50292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B8C4D8"/>
                </a:solidFill>
                <a:latin typeface="DM Sans"/>
              </a:rPr>
              <a:t>"Sorted rebuilt our growth engine from the ground up. Every week felt like a year of progress."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76800" y="3676650"/>
            <a:ext cx="50292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— Avni Mehra · Founder, Leafmark Beauty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76800" y="8477250"/>
            <a:ext cx="15748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876800" y="8477250"/>
            <a:ext cx="1574800" cy="1143000"/>
          </a:xfrm>
          <a:prstGeom prst="roundRect">
            <a:avLst>
              <a:gd name="adj" fmla="val 6048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8477250"/>
            <a:ext cx="15748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48250" y="8610600"/>
            <a:ext cx="123190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200" b="0" i="0">
                <a:solidFill>
                  <a:srgbClr val="E8264B"/>
                </a:solidFill>
                <a:latin typeface="Bebas Neue"/>
              </a:rPr>
              <a:t>3.1×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8250" y="9334500"/>
            <a:ext cx="12319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REVENUE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04000" y="8477250"/>
            <a:ext cx="15748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604000" y="8477250"/>
            <a:ext cx="1574800" cy="1143000"/>
          </a:xfrm>
          <a:prstGeom prst="roundRect">
            <a:avLst>
              <a:gd name="adj" fmla="val 6048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04000" y="8477250"/>
            <a:ext cx="15748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75450" y="8610600"/>
            <a:ext cx="123190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200" b="0" i="0">
                <a:solidFill>
                  <a:srgbClr val="E8264B"/>
                </a:solidFill>
                <a:latin typeface="Bebas Neue"/>
              </a:rPr>
              <a:t>41%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75450" y="9334500"/>
            <a:ext cx="12319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EMAIL SHARE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31200" y="8477250"/>
            <a:ext cx="15748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331200" y="8477250"/>
            <a:ext cx="1574800" cy="1143000"/>
          </a:xfrm>
          <a:prstGeom prst="roundRect">
            <a:avLst>
              <a:gd name="adj" fmla="val 6048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31200" y="8477250"/>
            <a:ext cx="15748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02650" y="8610600"/>
            <a:ext cx="123190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200" b="0" i="0">
                <a:solidFill>
                  <a:srgbClr val="E8264B"/>
                </a:solidFill>
                <a:latin typeface="Bebas Neue"/>
              </a:rPr>
              <a:t>5.2×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2650" y="9334500"/>
            <a:ext cx="12319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120">
                <a:solidFill>
                  <a:srgbClr val="B8C4D8"/>
                </a:solidFill>
                <a:latin typeface="DM Sans"/>
              </a:rPr>
              <a:t>ROAS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76800" y="990600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READ FULL CASE →</a:t>
            </a:r>
          </a:p>
        </p:txBody>
      </p:sp>
      <p:pic>
        <p:nvPicPr>
          <p:cNvPr id="61" name="Picture 60" descr="sorte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0" y="9906000"/>
            <a:ext cx="8191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81000" y="381000"/>
            <a:ext cx="9525000" cy="6172200"/>
          </a:xfrm>
          <a:prstGeom prst="roundRect">
            <a:avLst>
              <a:gd name="adj" fmla="val 1200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181350"/>
            <a:ext cx="381000" cy="381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81000" y="360045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Klaviyo / Shopify / GSC screenshot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1000" y="6838950"/>
            <a:ext cx="6172200" cy="11525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1000" b="0" i="0" spc="-100">
                <a:solidFill>
                  <a:srgbClr val="E8264B"/>
                </a:solidFill>
                <a:latin typeface="Bebas Neue"/>
              </a:rPr>
              <a:t>+$892K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1000" y="7834312"/>
            <a:ext cx="61722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B8C4D8"/>
                </a:solidFill>
                <a:latin typeface="DM Sans"/>
              </a:rPr>
              <a:t>Email revenue, 30 days. Real client dashboard.</a:t>
            </a:r>
          </a:p>
        </p:txBody>
      </p:sp>
      <p:pic>
        <p:nvPicPr>
          <p:cNvPr id="42" name="Picture 41" descr="sorte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9525000"/>
            <a:ext cx="895350" cy="209550"/>
          </a:xfrm>
          <a:prstGeom prst="rect">
            <a:avLst/>
          </a:prstGeom>
        </p:spPr>
      </p:pic>
      <p:pic>
        <p:nvPicPr>
          <p:cNvPr id="43" name="Picture 42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0" y="95250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477000" y="-2857500"/>
            <a:ext cx="8572500" cy="8572500"/>
          </a:xfrm>
          <a:prstGeom prst="ellipse">
            <a:avLst/>
          </a:prstGeom>
          <a:solidFill>
            <a:srgbClr val="E8264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-2381250" y="6477000"/>
            <a:ext cx="7620000" cy="7620000"/>
          </a:xfrm>
          <a:prstGeom prst="ellipse">
            <a:avLst/>
          </a:prstGeom>
          <a:solidFill>
            <a:srgbClr val="E8264B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57200"/>
            <a:ext cx="19050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400" b="0" i="0">
                <a:solidFill>
                  <a:srgbClr val="E8264B"/>
                </a:solidFill>
                <a:latin typeface="Bebas Neue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1123950"/>
            <a:ext cx="9525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8A94A6"/>
                </a:solidFill>
                <a:latin typeface="DM Sans"/>
              </a:rPr>
              <a:t>/ 05</a:t>
            </a:r>
          </a:p>
        </p:txBody>
      </p:sp>
      <p:pic>
        <p:nvPicPr>
          <p:cNvPr id="41" name="Picture 40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4450" y="457200"/>
            <a:ext cx="895350" cy="2095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71500" y="2095500"/>
            <a:ext cx="3810000" cy="161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20">
                <a:solidFill>
                  <a:srgbClr val="E8264B"/>
                </a:solidFill>
                <a:latin typeface="DM Sans"/>
              </a:rPr>
              <a:t>SORTED CASE STUDY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" y="2381250"/>
            <a:ext cx="9144000" cy="457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8000"/>
              </a:lnSpc>
            </a:pPr>
            <a:r>
              <a:rPr sz="14000" b="0" i="0" spc="-200">
                <a:solidFill>
                  <a:srgbClr val="F8F7F4"/>
                </a:solidFill>
                <a:latin typeface="Bebas Neue"/>
              </a:rPr>
              <a:t>How we 3×'d</a:t>
            </a:r>
          </a:p>
          <a:p>
            <a:pPr algn="l">
              <a:lnSpc>
                <a:spcPct val="88000"/>
              </a:lnSpc>
            </a:pPr>
            <a:r>
              <a:rPr sz="14000" b="0" i="0" spc="-200">
                <a:solidFill>
                  <a:srgbClr val="F8F7F4"/>
                </a:solidFill>
                <a:latin typeface="Bebas Neue"/>
              </a:rPr>
              <a:t>a D2C brand</a:t>
            </a:r>
          </a:p>
          <a:p>
            <a:pPr algn="l">
              <a:lnSpc>
                <a:spcPct val="88000"/>
              </a:lnSpc>
            </a:pPr>
            <a:r>
              <a:rPr sz="14000" b="0" i="0" spc="-200">
                <a:solidFill>
                  <a:srgbClr val="F8F7F4"/>
                </a:solidFill>
                <a:latin typeface="Bebas Neue"/>
              </a:rPr>
              <a:t>in 90 days.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" y="952500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SWIPE →</a:t>
            </a:r>
          </a:p>
        </p:txBody>
      </p:sp>
      <p:pic>
        <p:nvPicPr>
          <p:cNvPr id="45" name="Picture 44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0700" y="94107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45720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200" b="0" i="0">
                <a:solidFill>
                  <a:srgbClr val="8A94A6"/>
                </a:solidFill>
                <a:latin typeface="Bebas Neue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1028700"/>
            <a:ext cx="9525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8A94A6"/>
                </a:solidFill>
                <a:latin typeface="DM Sans"/>
              </a:rPr>
              <a:t>/ 05</a:t>
            </a:r>
          </a:p>
        </p:txBody>
      </p:sp>
      <p:pic>
        <p:nvPicPr>
          <p:cNvPr id="39" name="Picture 38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4450" y="457200"/>
            <a:ext cx="895350" cy="2095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71500" y="2095500"/>
            <a:ext cx="3810000" cy="161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20">
                <a:solidFill>
                  <a:srgbClr val="E8264B"/>
                </a:solidFill>
                <a:latin typeface="DM Sans"/>
              </a:rPr>
              <a:t>THE PROBLEM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2381250"/>
            <a:ext cx="9144000" cy="1333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8000"/>
              </a:lnSpc>
            </a:pPr>
            <a:r>
              <a:rPr sz="12000" b="0" i="0">
                <a:solidFill>
                  <a:srgbClr val="E8264B"/>
                </a:solidFill>
                <a:latin typeface="Bebas Neue"/>
              </a:rPr>
              <a:t>The problem.</a:t>
            </a:r>
          </a:p>
        </p:txBody>
      </p:sp>
      <p:sp>
        <p:nvSpPr>
          <p:cNvPr id="42" name="Oval 41"/>
          <p:cNvSpPr/>
          <p:nvPr/>
        </p:nvSpPr>
        <p:spPr>
          <a:xfrm>
            <a:off x="571500" y="4381500"/>
            <a:ext cx="285750" cy="285750"/>
          </a:xfrm>
          <a:prstGeom prst="ellipse">
            <a:avLst/>
          </a:prstGeom>
          <a:solidFill>
            <a:srgbClr val="0F2240"/>
          </a:solidFill>
          <a:ln w="127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1500" y="438150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E8264B"/>
                </a:solidFill>
                <a:latin typeface="DM Sans"/>
              </a:rPr>
              <a:t>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700" y="4362450"/>
            <a:ext cx="86868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8F7F4"/>
                </a:solidFill>
                <a:latin typeface="DM Sans"/>
              </a:rPr>
              <a:t>$180K/mo spend, 1.9× ROAS.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8700" y="4686300"/>
            <a:ext cx="86868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8A94A6"/>
                </a:solidFill>
                <a:latin typeface="DM Sans"/>
              </a:rPr>
              <a:t>Meta campaigns were bleeding cash on broad audiences with no creative testing cadence.</a:t>
            </a:r>
          </a:p>
        </p:txBody>
      </p:sp>
      <p:sp>
        <p:nvSpPr>
          <p:cNvPr id="46" name="Oval 45"/>
          <p:cNvSpPr/>
          <p:nvPr/>
        </p:nvSpPr>
        <p:spPr>
          <a:xfrm>
            <a:off x="571500" y="5619750"/>
            <a:ext cx="285750" cy="285750"/>
          </a:xfrm>
          <a:prstGeom prst="ellipse">
            <a:avLst/>
          </a:prstGeom>
          <a:solidFill>
            <a:srgbClr val="0F2240"/>
          </a:solidFill>
          <a:ln w="127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1500" y="561975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E8264B"/>
                </a:solidFill>
                <a:latin typeface="DM Sans"/>
              </a:rPr>
              <a:t>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8700" y="5600700"/>
            <a:ext cx="86868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8F7F4"/>
                </a:solidFill>
                <a:latin typeface="DM Sans"/>
              </a:rPr>
              <a:t>Klaviyo at 7% of revenue.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8700" y="5924550"/>
            <a:ext cx="86868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8A94A6"/>
                </a:solidFill>
                <a:latin typeface="DM Sans"/>
              </a:rPr>
              <a:t>Only a Welcome series live. No Browse, no Cart, no Win-Back. Leaving 30%+ of revenue on the 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45720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200" b="0" i="0">
                <a:solidFill>
                  <a:srgbClr val="8A94A6"/>
                </a:solidFill>
                <a:latin typeface="Bebas Neue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1028700"/>
            <a:ext cx="9525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8A94A6"/>
                </a:solidFill>
                <a:latin typeface="DM Sans"/>
              </a:rPr>
              <a:t>/ 05</a:t>
            </a:r>
          </a:p>
        </p:txBody>
      </p:sp>
      <p:pic>
        <p:nvPicPr>
          <p:cNvPr id="39" name="Picture 38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4450" y="457200"/>
            <a:ext cx="895350" cy="2095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71500" y="2095500"/>
            <a:ext cx="3810000" cy="161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20">
                <a:solidFill>
                  <a:srgbClr val="E8264B"/>
                </a:solidFill>
                <a:latin typeface="DM Sans"/>
              </a:rPr>
              <a:t>WHAT WE DID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2381250"/>
            <a:ext cx="9144000" cy="1333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8000"/>
              </a:lnSpc>
            </a:pPr>
            <a:r>
              <a:rPr sz="12000" b="0" i="0">
                <a:solidFill>
                  <a:srgbClr val="F8F7F4"/>
                </a:solidFill>
                <a:latin typeface="Bebas Neue"/>
              </a:rPr>
              <a:t>What we did.</a:t>
            </a:r>
          </a:p>
        </p:txBody>
      </p:sp>
      <p:sp>
        <p:nvSpPr>
          <p:cNvPr id="42" name="Oval 41"/>
          <p:cNvSpPr/>
          <p:nvPr/>
        </p:nvSpPr>
        <p:spPr>
          <a:xfrm>
            <a:off x="571500" y="4381500"/>
            <a:ext cx="495300" cy="4953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1500" y="4381500"/>
            <a:ext cx="4953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200" b="0" i="0" spc="120">
                <a:solidFill>
                  <a:srgbClr val="F8F7F4"/>
                </a:solidFill>
                <a:latin typeface="Bebas Neue"/>
              </a:rPr>
              <a:t>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57300" y="4400550"/>
            <a:ext cx="8458200" cy="266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8F7F4"/>
                </a:solidFill>
                <a:latin typeface="DM Sans"/>
              </a:rPr>
              <a:t>Rebuilt Meta account structure.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57300" y="4686300"/>
            <a:ext cx="84582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B8C4D8"/>
                </a:solidFill>
                <a:latin typeface="DM Sans"/>
              </a:rPr>
              <a:t>Campaign consolidation, Advantage+, creative testing framework live in 10 days.</a:t>
            </a:r>
          </a:p>
        </p:txBody>
      </p:sp>
      <p:sp>
        <p:nvSpPr>
          <p:cNvPr id="46" name="Oval 45"/>
          <p:cNvSpPr/>
          <p:nvPr/>
        </p:nvSpPr>
        <p:spPr>
          <a:xfrm>
            <a:off x="571500" y="5619750"/>
            <a:ext cx="495300" cy="4953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1500" y="5619750"/>
            <a:ext cx="4953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200" b="0" i="0" spc="120">
                <a:solidFill>
                  <a:srgbClr val="F8F7F4"/>
                </a:solidFill>
                <a:latin typeface="Bebas Neue"/>
              </a:rP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57300" y="5638800"/>
            <a:ext cx="8458200" cy="266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8F7F4"/>
                </a:solidFill>
                <a:latin typeface="DM Sans"/>
              </a:rPr>
              <a:t>Deployed 7 Klaviyo flows.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57300" y="5924550"/>
            <a:ext cx="84582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B8C4D8"/>
                </a:solidFill>
                <a:latin typeface="DM Sans"/>
              </a:rPr>
              <a:t>Welcome · Browse · Cart · Post-Purchase · Win-Back · VIP · Sunset — all split-tested.</a:t>
            </a:r>
          </a:p>
        </p:txBody>
      </p:sp>
      <p:sp>
        <p:nvSpPr>
          <p:cNvPr id="50" name="Oval 49"/>
          <p:cNvSpPr/>
          <p:nvPr/>
        </p:nvSpPr>
        <p:spPr>
          <a:xfrm>
            <a:off x="571500" y="6858000"/>
            <a:ext cx="495300" cy="4953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1500" y="6858000"/>
            <a:ext cx="4953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200" b="0" i="0" spc="120">
                <a:solidFill>
                  <a:srgbClr val="F8F7F4"/>
                </a:solidFill>
                <a:latin typeface="Bebas Neue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57300" y="6877050"/>
            <a:ext cx="8458200" cy="266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8F7F4"/>
                </a:solidFill>
                <a:latin typeface="DM Sans"/>
              </a:rPr>
              <a:t>Peshwa Swarm on reporting.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57300" y="7162800"/>
            <a:ext cx="84582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B8C4D8"/>
                </a:solidFill>
                <a:latin typeface="DM Sans"/>
              </a:rPr>
              <a:t>9 AI agents pulling daily Shopify + Klaviyo + Meta data into a live founder dashboard.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809750" y="1809750"/>
            <a:ext cx="6667500" cy="6667500"/>
          </a:xfrm>
          <a:prstGeom prst="ellipse">
            <a:avLst/>
          </a:prstGeom>
          <a:solidFill>
            <a:srgbClr val="E8264B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5720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200" b="0" i="0">
                <a:solidFill>
                  <a:srgbClr val="E8264B"/>
                </a:solidFill>
                <a:latin typeface="Bebas Neue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1028700"/>
            <a:ext cx="9525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8A94A6"/>
                </a:solidFill>
                <a:latin typeface="DM Sans"/>
              </a:rPr>
              <a:t>/ 05</a:t>
            </a:r>
          </a:p>
        </p:txBody>
      </p:sp>
      <p:sp>
        <p:nvSpPr>
          <p:cNvPr id="40" name="Oval 39"/>
          <p:cNvSpPr/>
          <p:nvPr/>
        </p:nvSpPr>
        <p:spPr>
          <a:xfrm>
            <a:off x="9296400" y="457200"/>
            <a:ext cx="533400" cy="5334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96400" y="457200"/>
            <a:ext cx="533400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Client logo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0" y="3429000"/>
            <a:ext cx="1028700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E8264B"/>
                </a:solidFill>
                <a:latin typeface="DM Sans"/>
              </a:rPr>
              <a:t>THE RESULT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0" y="3714750"/>
            <a:ext cx="10287000" cy="304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85000"/>
              </a:lnSpc>
            </a:pPr>
            <a:r>
              <a:rPr sz="26000" b="0" i="0" spc="-300">
                <a:solidFill>
                  <a:srgbClr val="E8264B"/>
                </a:solidFill>
                <a:latin typeface="Bebas Neue"/>
              </a:rPr>
              <a:t>3.1×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0" y="6477000"/>
            <a:ext cx="10287000" cy="1809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500" b="1" i="0" spc="220">
                <a:solidFill>
                  <a:srgbClr val="F8F7F4"/>
                </a:solidFill>
                <a:latin typeface="DM Sans"/>
              </a:rPr>
              <a:t>REVENUE · 90 DAYS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24000" y="7429500"/>
            <a:ext cx="7239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B8C4D8"/>
                </a:solidFill>
                <a:latin typeface="DM Sans"/>
              </a:rPr>
              <a:t>Want this for your brand?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14750" y="8096250"/>
            <a:ext cx="2492121" cy="495300"/>
          </a:xfrm>
          <a:prstGeom prst="roundRect">
            <a:avLst>
              <a:gd name="adj" fmla="val 2293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62400" y="8096250"/>
            <a:ext cx="199682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 spc="140">
                <a:solidFill>
                  <a:srgbClr val="F8F7F4"/>
                </a:solidFill>
                <a:latin typeface="DM Sans"/>
              </a:rPr>
              <a:t>BOOK A FREE AUDIT  →</a:t>
            </a:r>
          </a:p>
        </p:txBody>
      </p:sp>
      <p:pic>
        <p:nvPicPr>
          <p:cNvPr id="48" name="Picture 47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100" y="9715500"/>
            <a:ext cx="895350" cy="209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