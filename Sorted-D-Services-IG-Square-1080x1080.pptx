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572500" y="381000"/>
            <a:ext cx="897731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72500" y="381000"/>
            <a:ext cx="89773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PERFORMANCE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3800475"/>
            <a:ext cx="4524375" cy="15430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9000" b="0" i="0">
                <a:solidFill>
                  <a:srgbClr val="F8F7F4"/>
                </a:solidFill>
                <a:latin typeface="Bebas Neue"/>
              </a:rPr>
              <a:t>Meta + Google</a:t>
            </a:r>
          </a:p>
          <a:p>
            <a:pPr algn="l">
              <a:lnSpc>
                <a:spcPct val="90000"/>
              </a:lnSpc>
            </a:pPr>
            <a:r>
              <a:rPr sz="9000" b="0" i="0">
                <a:solidFill>
                  <a:srgbClr val="F8F7F4"/>
                </a:solidFill>
                <a:latin typeface="Bebas Neue"/>
              </a:rPr>
              <a:t>+ Programmatic.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250" y="5495925"/>
            <a:ext cx="4524375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Campaign structure, creative testing cadence, AI bidding, full attribution.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76250" y="6238875"/>
            <a:ext cx="447675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6250" y="6238875"/>
            <a:ext cx="447675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ROAS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0125" y="6238875"/>
            <a:ext cx="121920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0125" y="6238875"/>
            <a:ext cx="121920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CREATIVE TESTING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295525" y="6238875"/>
            <a:ext cx="833437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295525" y="6238875"/>
            <a:ext cx="833437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AI BIDDING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76250" y="6734175"/>
            <a:ext cx="1438275" cy="323850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76250" y="6734175"/>
            <a:ext cx="1438275" cy="3238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1200" b="1" i="0" spc="180">
                <a:solidFill>
                  <a:srgbClr val="E8264B"/>
                </a:solidFill>
                <a:latin typeface="DM Sans"/>
              </a:rPr>
              <a:t>$30M+ MANAGED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460389" y="2624666"/>
            <a:ext cx="522043" cy="317500"/>
          </a:xfrm>
          <a:prstGeom prst="roundRect">
            <a:avLst>
              <a:gd name="adj" fmla="val 3649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156447" y="2307166"/>
            <a:ext cx="522043" cy="635000"/>
          </a:xfrm>
          <a:prstGeom prst="roundRect">
            <a:avLst>
              <a:gd name="adj" fmla="val 3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852504" y="2042583"/>
            <a:ext cx="522043" cy="899583"/>
          </a:xfrm>
          <a:prstGeom prst="roundRect">
            <a:avLst>
              <a:gd name="adj" fmla="val 2117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7548562" y="1778000"/>
            <a:ext cx="522043" cy="1164166"/>
          </a:xfrm>
          <a:prstGeom prst="roundRect">
            <a:avLst>
              <a:gd name="adj" fmla="val 1636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244620" y="1513416"/>
            <a:ext cx="522043" cy="1428750"/>
          </a:xfrm>
          <a:prstGeom prst="roundRect">
            <a:avLst>
              <a:gd name="adj" fmla="val 1333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940677" y="1270000"/>
            <a:ext cx="522043" cy="1672166"/>
          </a:xfrm>
          <a:prstGeom prst="roundRect">
            <a:avLst>
              <a:gd name="adj" fmla="val 1139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286375" y="3181350"/>
            <a:ext cx="4524375" cy="1714500"/>
          </a:xfrm>
          <a:prstGeom prst="roundRect">
            <a:avLst>
              <a:gd name="adj" fmla="val 2526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7" name="Picture 56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062" y="3752850"/>
            <a:ext cx="381000" cy="3810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5286375" y="4171950"/>
            <a:ext cx="45243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ad creative screenshot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76250" y="1047750"/>
            <a:ext cx="457200" cy="266700"/>
          </a:xfrm>
          <a:prstGeom prst="roundRect">
            <a:avLst>
              <a:gd name="adj" fmla="val 6250"/>
            </a:avLst>
          </a:prstGeom>
          <a:noFill/>
          <a:ln w="2540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76250" y="1047750"/>
            <a:ext cx="228600" cy="133350"/>
          </a:xfrm>
          <a:prstGeom prst="line">
            <a:avLst/>
          </a:prstGeom>
          <a:ln w="254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704850" y="1047750"/>
            <a:ext cx="228600" cy="133350"/>
          </a:xfrm>
          <a:prstGeom prst="line">
            <a:avLst/>
          </a:prstGeom>
          <a:ln w="25400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76250" y="1676400"/>
            <a:ext cx="4524375" cy="1676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Klaviyo flows</a:t>
            </a:r>
          </a:p>
          <a:p>
            <a:pPr algn="l">
              <a:lnSpc>
                <a:spcPct val="90000"/>
              </a:lnSpc>
            </a:pPr>
            <a:r>
              <a:rPr sz="8000" b="0" i="0">
                <a:solidFill>
                  <a:srgbClr val="F8F7F4"/>
                </a:solidFill>
                <a:latin typeface="Bebas Neue"/>
              </a:rPr>
              <a:t>that print revenue.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6250" y="3181350"/>
            <a:ext cx="4524375" cy="476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40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35-45% of revenue should come from email. Does yours?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6250" y="3752850"/>
            <a:ext cx="2224087" cy="381000"/>
          </a:xfrm>
          <a:prstGeom prst="roundRect">
            <a:avLst>
              <a:gd name="adj" fmla="val 2569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76250" y="3752850"/>
            <a:ext cx="28575" cy="3810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9600" y="3752850"/>
            <a:ext cx="2090737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Welcome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76537" y="3752850"/>
            <a:ext cx="2224087" cy="381000"/>
          </a:xfrm>
          <a:prstGeom prst="roundRect">
            <a:avLst>
              <a:gd name="adj" fmla="val 2569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76537" y="3752850"/>
            <a:ext cx="28575" cy="3810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909887" y="3752850"/>
            <a:ext cx="2090737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Cart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6250" y="4210050"/>
            <a:ext cx="2224087" cy="381000"/>
          </a:xfrm>
          <a:prstGeom prst="roundRect">
            <a:avLst>
              <a:gd name="adj" fmla="val 2569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76250" y="4210050"/>
            <a:ext cx="28575" cy="3810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9600" y="4210050"/>
            <a:ext cx="2090737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Win-Back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776537" y="4210050"/>
            <a:ext cx="2224087" cy="381000"/>
          </a:xfrm>
          <a:prstGeom prst="roundRect">
            <a:avLst>
              <a:gd name="adj" fmla="val 2569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776537" y="4210050"/>
            <a:ext cx="28575" cy="38100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909887" y="4210050"/>
            <a:ext cx="2090737" cy="3810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8F7F4"/>
                </a:solidFill>
                <a:latin typeface="DM Sans"/>
              </a:rPr>
              <a:t>VIP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5286375" y="952500"/>
            <a:ext cx="4524375" cy="8858250"/>
          </a:xfrm>
          <a:prstGeom prst="roundRect">
            <a:avLst>
              <a:gd name="adj" fmla="val 129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062" y="5095875"/>
            <a:ext cx="381000" cy="38100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286375" y="5514975"/>
            <a:ext cx="45243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email creative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2286000" y="2286000"/>
            <a:ext cx="5715000" cy="5715000"/>
          </a:xfrm>
          <a:prstGeom prst="ellipse">
            <a:avLst/>
          </a:prstGeom>
          <a:solidFill>
            <a:srgbClr val="E8264B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cxnSp>
        <p:nvCxnSpPr>
          <p:cNvPr id="39" name="Connector 38"/>
          <p:cNvCxnSpPr/>
          <p:nvPr/>
        </p:nvCxnSpPr>
        <p:spPr>
          <a:xfrm flipV="1">
            <a:off x="5143500" y="2670810"/>
            <a:ext cx="0" cy="1238250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4895850" y="2423160"/>
            <a:ext cx="495300" cy="4953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 flipV="1">
            <a:off x="5143500" y="2960505"/>
            <a:ext cx="979608" cy="948555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875458" y="2712855"/>
            <a:ext cx="495300" cy="4953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" name="Connector 42"/>
          <p:cNvCxnSpPr/>
          <p:nvPr/>
        </p:nvCxnSpPr>
        <p:spPr>
          <a:xfrm flipV="1">
            <a:off x="5143500" y="3694040"/>
            <a:ext cx="1500847" cy="215020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6396697" y="3446390"/>
            <a:ext cx="495300" cy="4953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5143500" y="3909060"/>
            <a:ext cx="1319822" cy="619125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215672" y="4280535"/>
            <a:ext cx="495300" cy="4953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5143500" y="3909060"/>
            <a:ext cx="521238" cy="1163574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5417088" y="4824984"/>
            <a:ext cx="495300" cy="4953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 flipH="1">
            <a:off x="4622261" y="3909060"/>
            <a:ext cx="521239" cy="1163574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4374611" y="4824984"/>
            <a:ext cx="495300" cy="4953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 flipH="1">
            <a:off x="3823677" y="3909060"/>
            <a:ext cx="1319823" cy="619125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3576027" y="4280535"/>
            <a:ext cx="495300" cy="4953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 flipH="1" flipV="1">
            <a:off x="3642652" y="3694040"/>
            <a:ext cx="1500848" cy="215020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Oval 53"/>
          <p:cNvSpPr/>
          <p:nvPr/>
        </p:nvSpPr>
        <p:spPr>
          <a:xfrm>
            <a:off x="3395002" y="3446390"/>
            <a:ext cx="495300" cy="4953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" name="Connector 54"/>
          <p:cNvCxnSpPr/>
          <p:nvPr/>
        </p:nvCxnSpPr>
        <p:spPr>
          <a:xfrm flipH="1" flipV="1">
            <a:off x="4163891" y="2960505"/>
            <a:ext cx="979609" cy="948555"/>
          </a:xfrm>
          <a:prstGeom prst="line">
            <a:avLst/>
          </a:prstGeom>
          <a:ln w="9525">
            <a:solidFill>
              <a:srgbClr val="E8264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Oval 55"/>
          <p:cNvSpPr/>
          <p:nvPr/>
        </p:nvSpPr>
        <p:spPr>
          <a:xfrm>
            <a:off x="3916241" y="2712855"/>
            <a:ext cx="495300" cy="49530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4667250" y="3432810"/>
            <a:ext cx="952500" cy="95250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667250" y="3432810"/>
            <a:ext cx="952500" cy="952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400" b="0" i="0">
                <a:solidFill>
                  <a:srgbClr val="F8F7F4"/>
                </a:solidFill>
                <a:latin typeface="Bebas Neue"/>
              </a:rPr>
              <a:t>CMD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71500" y="8382000"/>
            <a:ext cx="9144000" cy="1047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90000"/>
              </a:lnSpc>
            </a:pPr>
            <a:r>
              <a:rPr sz="10000" b="0" i="0">
                <a:solidFill>
                  <a:srgbClr val="F8F7F4"/>
                </a:solidFill>
                <a:latin typeface="Bebas Neue"/>
              </a:rPr>
              <a:t>Peshwa Swarm - 9 AI Agents.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71500" y="9296400"/>
            <a:ext cx="9144000" cy="228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B8C4D8"/>
                </a:solidFill>
                <a:latin typeface="DM Sans"/>
              </a:rPr>
              <a:t>Replacing entire departments. Running 24/7.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476250" y="952500"/>
            <a:ext cx="9334500" cy="3619500"/>
          </a:xfrm>
          <a:prstGeom prst="roundRect">
            <a:avLst>
              <a:gd name="adj" fmla="val 1020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28650" y="1066800"/>
            <a:ext cx="95250" cy="95250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1050" y="1066800"/>
            <a:ext cx="95250" cy="95250"/>
          </a:xfrm>
          <a:prstGeom prst="ellipse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33450" y="1066800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219200" y="1047750"/>
            <a:ext cx="2857500" cy="1524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8A94A6"/>
                </a:solidFill>
                <a:latin typeface="Courier New"/>
              </a:rPr>
              <a:t>sorted.agency/build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476250" y="1333500"/>
            <a:ext cx="9334500" cy="0"/>
          </a:xfrm>
          <a:prstGeom prst="line">
            <a:avLst/>
          </a:prstGeom>
          <a:ln w="6350">
            <a:solidFill>
              <a:srgbClr val="B8C4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704850" y="1485900"/>
            <a:ext cx="8877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const stack = [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850" y="1485900"/>
            <a:ext cx="4572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264B"/>
                </a:solidFill>
                <a:latin typeface="Courier New"/>
              </a:rPr>
              <a:t>const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3450" y="1696402"/>
            <a:ext cx="8877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'Next.js', 'Shopify', 'React Native', 'SaaS',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850" y="1906905"/>
            <a:ext cx="8877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];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850" y="2231707"/>
            <a:ext cx="8877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E8264B"/>
                </a:solidFill>
                <a:latin typeface="Courier New"/>
              </a:rPr>
              <a:t>// kickoff -&gt; live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850" y="2442210"/>
            <a:ext cx="8877300" cy="21050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B8C4D8"/>
                </a:solidFill>
                <a:latin typeface="Courier New"/>
              </a:rPr>
              <a:t>deploy('72 hours');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76250" y="8601075"/>
            <a:ext cx="9334500" cy="9429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9000" b="0" i="0">
                <a:solidFill>
                  <a:srgbClr val="F8F7F4"/>
                </a:solidFill>
                <a:latin typeface="Bebas Neue"/>
              </a:rPr>
              <a:t>From idea to live - 72 hours.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6250" y="9620250"/>
            <a:ext cx="9334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B8C4D8"/>
                </a:solidFill>
                <a:latin typeface="DM Sans"/>
              </a:rPr>
              <a:t>We built FactoryOS, Spark and more. Next.js - Shopify - React Native - SaaS.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952500"/>
            <a:ext cx="4524375" cy="301751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9600" b="0" i="0">
                <a:solidFill>
                  <a:srgbClr val="F8F7F4"/>
                </a:solidFill>
                <a:latin typeface="Bebas Neue"/>
              </a:rPr>
              <a:t>We build brands that move culture.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76250" y="4255770"/>
            <a:ext cx="904875" cy="85725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381125" y="4255770"/>
            <a:ext cx="904875" cy="857250"/>
          </a:xfrm>
          <a:prstGeom prst="rect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286000" y="4255770"/>
            <a:ext cx="904875" cy="857250"/>
          </a:xfrm>
          <a:prstGeom prst="rect">
            <a:avLst/>
          </a:prstGeom>
          <a:solidFill>
            <a:srgbClr val="F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190875" y="4255770"/>
            <a:ext cx="904875" cy="857250"/>
          </a:xfrm>
          <a:prstGeom prst="rect">
            <a:avLst/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095750" y="4255770"/>
            <a:ext cx="904875" cy="857250"/>
          </a:xfrm>
          <a:prstGeom prst="rect">
            <a:avLst/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76250" y="5303520"/>
            <a:ext cx="857250" cy="857250"/>
          </a:xfrm>
          <a:prstGeom prst="ellipse">
            <a:avLst/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6250" y="530352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750" b="0" i="1">
                <a:solidFill>
                  <a:srgbClr val="8A94A6"/>
                </a:solidFill>
                <a:latin typeface="DM Sans"/>
              </a:rPr>
              <a:t>Brand mark area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286375" y="952500"/>
            <a:ext cx="4524375" cy="8858250"/>
          </a:xfrm>
          <a:prstGeom prst="roundRect">
            <a:avLst>
              <a:gd name="adj" fmla="val 1290"/>
            </a:avLst>
          </a:prstGeom>
          <a:solidFill>
            <a:srgbClr val="0F2240"/>
          </a:solidFill>
          <a:ln w="19050">
            <a:solidFill>
              <a:srgbClr val="E8264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orted-m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062" y="5095875"/>
            <a:ext cx="381000" cy="381000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286375" y="5514975"/>
            <a:ext cx="4524375" cy="190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8A94A6"/>
                </a:solidFill>
                <a:latin typeface="DM Sans"/>
              </a:rPr>
              <a:t>Drop brand collateral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76250" y="476250"/>
            <a:ext cx="7429500" cy="66675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6000" b="0" i="0">
                <a:solidFill>
                  <a:srgbClr val="F8F7F4"/>
                </a:solidFill>
                <a:latin typeface="Bebas Neue"/>
              </a:rPr>
              <a:t>One partner. Full stack.</a:t>
            </a:r>
          </a:p>
        </p:txBody>
      </p:sp>
      <p:pic>
        <p:nvPicPr>
          <p:cNvPr id="38" name="Picture 37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571500"/>
            <a:ext cx="895350" cy="209550"/>
          </a:xfrm>
          <a:prstGeom prst="rect">
            <a:avLst/>
          </a:prstGeom>
        </p:spPr>
      </p:pic>
      <p:sp>
        <p:nvSpPr>
          <p:cNvPr id="39" name="Rounded Rectangle 38"/>
          <p:cNvSpPr/>
          <p:nvPr/>
        </p:nvSpPr>
        <p:spPr>
          <a:xfrm>
            <a:off x="476250" y="1619250"/>
            <a:ext cx="3009900" cy="4019550"/>
          </a:xfrm>
          <a:prstGeom prst="roundRect">
            <a:avLst>
              <a:gd name="adj" fmla="val 284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04850" y="1847850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4850" y="1847850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850" y="251460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Ads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38550" y="1619250"/>
            <a:ext cx="3009900" cy="4019550"/>
          </a:xfrm>
          <a:prstGeom prst="roundRect">
            <a:avLst>
              <a:gd name="adj" fmla="val 284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67150" y="1847850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867150" y="1847850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67150" y="251460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Email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00850" y="1619250"/>
            <a:ext cx="3009900" cy="4019550"/>
          </a:xfrm>
          <a:prstGeom prst="roundRect">
            <a:avLst>
              <a:gd name="adj" fmla="val 284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7029450" y="1847850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029450" y="1847850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29450" y="251460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AI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76250" y="5791200"/>
            <a:ext cx="3009900" cy="4019550"/>
          </a:xfrm>
          <a:prstGeom prst="roundRect">
            <a:avLst>
              <a:gd name="adj" fmla="val 284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04850" y="6019800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4850" y="6019800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850" y="668655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Web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38550" y="5791200"/>
            <a:ext cx="3009900" cy="4019550"/>
          </a:xfrm>
          <a:prstGeom prst="roundRect">
            <a:avLst>
              <a:gd name="adj" fmla="val 284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3867150" y="6019800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867150" y="6019800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67150" y="668655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Brand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800850" y="5791200"/>
            <a:ext cx="3009900" cy="4019550"/>
          </a:xfrm>
          <a:prstGeom prst="roundRect">
            <a:avLst>
              <a:gd name="adj" fmla="val 284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029450" y="6019800"/>
            <a:ext cx="533400" cy="533400"/>
          </a:xfrm>
          <a:prstGeom prst="roundRect">
            <a:avLst>
              <a:gd name="adj" fmla="val 21428"/>
            </a:avLst>
          </a:prstGeom>
          <a:solidFill>
            <a:srgbClr val="09182B"/>
          </a:solidFill>
          <a:ln w="6350">
            <a:solidFill>
              <a:srgbClr val="E82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029450" y="6019800"/>
            <a:ext cx="533400" cy="533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2800" b="0" i="0">
                <a:solidFill>
                  <a:srgbClr val="E8264B"/>
                </a:solidFill>
                <a:latin typeface="Bebas Neue"/>
              </a:rPr>
              <a:t>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29450" y="6686550"/>
            <a:ext cx="2552700" cy="381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2800" b="0" i="0" spc="50">
                <a:solidFill>
                  <a:srgbClr val="F8F7F4"/>
                </a:solidFill>
                <a:latin typeface="Bebas Neue"/>
              </a:rPr>
              <a:t>Strategy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763000" y="381000"/>
            <a:ext cx="640556" cy="190500"/>
          </a:xfrm>
          <a:prstGeom prst="roundRect">
            <a:avLst>
              <a:gd name="adj" fmla="val 5000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63000" y="381000"/>
            <a:ext cx="640556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F8F7F4"/>
                </a:solidFill>
                <a:latin typeface="DM Sans"/>
              </a:rPr>
              <a:t>KLAVIYO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1500" y="1047750"/>
            <a:ext cx="9144000" cy="15925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90000"/>
              </a:lnSpc>
            </a:pPr>
            <a:r>
              <a:rPr sz="7600" b="0" i="0">
                <a:solidFill>
                  <a:srgbClr val="F8F7F4"/>
                </a:solidFill>
                <a:latin typeface="Bebas Neue"/>
              </a:rPr>
              <a:t>All 7 flows.</a:t>
            </a:r>
          </a:p>
          <a:p>
            <a:pPr algn="l">
              <a:lnSpc>
                <a:spcPct val="90000"/>
              </a:lnSpc>
            </a:pPr>
            <a:r>
              <a:rPr sz="7600" b="0" i="0">
                <a:solidFill>
                  <a:srgbClr val="F8F7F4"/>
                </a:solidFill>
                <a:latin typeface="Bebas Neue"/>
              </a:rPr>
              <a:t>Running on autopilot.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71500" y="304800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742950" y="3248025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1550" y="3048000"/>
            <a:ext cx="721995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8F7F4"/>
                </a:solidFill>
                <a:latin typeface="DM Sans"/>
              </a:rPr>
              <a:t>Welcome Series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20050" y="3048000"/>
            <a:ext cx="15240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First touch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71500" y="363855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42950" y="3838575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71550" y="3638550"/>
            <a:ext cx="721995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8F7F4"/>
                </a:solidFill>
                <a:latin typeface="DM Sans"/>
              </a:rPr>
              <a:t>Abandoned Cart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020050" y="3638550"/>
            <a:ext cx="15240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Recover 20%+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71500" y="422910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742950" y="4429125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71550" y="4229100"/>
            <a:ext cx="721995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8F7F4"/>
                </a:solidFill>
                <a:latin typeface="DM Sans"/>
              </a:rPr>
              <a:t>Post-Purchase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20050" y="4229100"/>
            <a:ext cx="15240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LTV driver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1500" y="481965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742950" y="5019675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71550" y="4819650"/>
            <a:ext cx="721995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8F7F4"/>
                </a:solidFill>
                <a:latin typeface="DM Sans"/>
              </a:rPr>
              <a:t>Win-Back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020050" y="4819650"/>
            <a:ext cx="15240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Lapsed customers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71500" y="541020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42950" y="5610225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71550" y="5410200"/>
            <a:ext cx="721995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8F7F4"/>
                </a:solidFill>
                <a:latin typeface="DM Sans"/>
              </a:rPr>
              <a:t>Browse Abandon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020050" y="5410200"/>
            <a:ext cx="15240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Intent signal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71500" y="600075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742950" y="6200775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71550" y="6000750"/>
            <a:ext cx="721995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8F7F4"/>
                </a:solidFill>
                <a:latin typeface="DM Sans"/>
              </a:rPr>
              <a:t>VIP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20050" y="6000750"/>
            <a:ext cx="15240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Top 10%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71500" y="6591300"/>
            <a:ext cx="9144000" cy="495300"/>
          </a:xfrm>
          <a:prstGeom prst="roundRect">
            <a:avLst>
              <a:gd name="adj" fmla="val 833"/>
            </a:avLst>
          </a:prstGeom>
          <a:solidFill>
            <a:srgbClr val="0F2240"/>
          </a:solidFill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742950" y="6791325"/>
            <a:ext cx="95250" cy="95250"/>
          </a:xfrm>
          <a:prstGeom prst="ellipse">
            <a:avLst/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71550" y="6591300"/>
            <a:ext cx="721995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F8F7F4"/>
                </a:solidFill>
                <a:latin typeface="DM Sans"/>
              </a:rPr>
              <a:t>Sunset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020050" y="6591300"/>
            <a:ext cx="1524000" cy="4953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r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List hygiene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09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571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0" y="1143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0" y="1714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0" y="2286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0" y="2857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0" y="3429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0" y="4000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0" y="4572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143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5715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6286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6858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7429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8001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8572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91440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9715500"/>
            <a:ext cx="10287000" cy="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1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43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714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286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857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429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000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572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43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5715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286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29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8001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8572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1440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9715500" y="0"/>
            <a:ext cx="0" cy="10287000"/>
          </a:xfrm>
          <a:prstGeom prst="line">
            <a:avLst/>
          </a:prstGeom>
          <a:ln w="3175">
            <a:solidFill>
              <a:srgbClr val="F8F7F4">
                <a:alpha val="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7" name="Picture 36" descr="sorted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381000"/>
            <a:ext cx="895350" cy="20955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476250" y="952500"/>
            <a:ext cx="9334500" cy="2179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88000"/>
              </a:lnSpc>
            </a:pPr>
            <a:r>
              <a:rPr sz="13000" b="0" i="0" spc="-100">
                <a:solidFill>
                  <a:srgbClr val="E8264B"/>
                </a:solidFill>
                <a:latin typeface="Bebas Neue"/>
              </a:rPr>
              <a:t>We spend</a:t>
            </a:r>
          </a:p>
          <a:p>
            <a:pPr algn="l">
              <a:lnSpc>
                <a:spcPct val="88000"/>
              </a:lnSpc>
            </a:pPr>
            <a:r>
              <a:rPr sz="13000" b="0" i="0" spc="-100">
                <a:solidFill>
                  <a:srgbClr val="E8264B"/>
                </a:solidFill>
                <a:latin typeface="Bebas Neue"/>
              </a:rPr>
              <a:t>$30M+ in ads.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6250" y="3265170"/>
            <a:ext cx="9334500" cy="285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600" b="0" i="0">
                <a:solidFill>
                  <a:srgbClr val="B8C4D8"/>
                </a:solidFill>
                <a:latin typeface="DM Sans"/>
              </a:rPr>
              <a:t>AI-optimised bidding. Human-led strategy.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6250" y="3836670"/>
            <a:ext cx="9334500" cy="142875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ct val="120000"/>
              </a:lnSpc>
            </a:pPr>
            <a:r>
              <a:rPr sz="1100" b="1" i="0" spc="220">
                <a:solidFill>
                  <a:srgbClr val="8A94A6"/>
                </a:solidFill>
                <a:latin typeface="DM Sans"/>
              </a:rPr>
              <a:t>ROAS BENCHMARK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6250" y="4027170"/>
            <a:ext cx="857250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8A94A6"/>
                </a:solidFill>
                <a:latin typeface="DM Sans"/>
              </a:rPr>
              <a:t>Industry avg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47800" y="4046220"/>
            <a:ext cx="7810500" cy="114300"/>
          </a:xfrm>
          <a:prstGeom prst="roundRect">
            <a:avLst>
              <a:gd name="adj" fmla="val 731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447800" y="4046220"/>
            <a:ext cx="3514725" cy="114300"/>
          </a:xfrm>
          <a:prstGeom prst="roundRect">
            <a:avLst>
              <a:gd name="adj" fmla="val 1626"/>
            </a:avLst>
          </a:prstGeom>
          <a:solidFill>
            <a:srgbClr val="8A94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72600" y="4027170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8A94A6"/>
                </a:solidFill>
                <a:latin typeface="DM Sans"/>
              </a:rPr>
              <a:t>2.0x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6250" y="4255770"/>
            <a:ext cx="857250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8F7F4"/>
                </a:solidFill>
                <a:latin typeface="DM Sans"/>
              </a:rPr>
              <a:t>Sorted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447800" y="4274820"/>
            <a:ext cx="7810500" cy="114300"/>
          </a:xfrm>
          <a:prstGeom prst="roundRect">
            <a:avLst>
              <a:gd name="adj" fmla="val 731"/>
            </a:avLst>
          </a:prstGeom>
          <a:solidFill>
            <a:srgbClr val="0F2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447800" y="4274820"/>
            <a:ext cx="7419975" cy="114300"/>
          </a:xfrm>
          <a:prstGeom prst="roundRect">
            <a:avLst>
              <a:gd name="adj" fmla="val 770"/>
            </a:avLst>
          </a:prstGeom>
          <a:solidFill>
            <a:srgbClr val="E82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372600" y="4255770"/>
            <a:ext cx="438150" cy="1524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E8264B"/>
                </a:solidFill>
                <a:latin typeface="DM Sans"/>
              </a:rPr>
              <a:t>4.5x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76250" y="9525000"/>
            <a:ext cx="383381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6250" y="9525000"/>
            <a:ext cx="38338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UGC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5831" y="9525000"/>
            <a:ext cx="576262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5831" y="9525000"/>
            <a:ext cx="576262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STATIC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588293" y="9525000"/>
            <a:ext cx="511968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588293" y="9525000"/>
            <a:ext cx="511968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VIDEO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2176462" y="9525000"/>
            <a:ext cx="70485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176462" y="9525000"/>
            <a:ext cx="7048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CAROUSEL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957512" y="9525000"/>
            <a:ext cx="704850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957512" y="9525000"/>
            <a:ext cx="704850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SHOP ADS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738562" y="9525000"/>
            <a:ext cx="897731" cy="190500"/>
          </a:xfrm>
          <a:prstGeom prst="roundRect">
            <a:avLst>
              <a:gd name="adj" fmla="val 50000"/>
            </a:avLst>
          </a:prstGeom>
          <a:noFill/>
          <a:ln w="6350">
            <a:solidFill>
              <a:srgbClr val="B8C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38562" y="9525000"/>
            <a:ext cx="897731" cy="19050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ctr">
              <a:lnSpc>
                <a:spcPct val="120000"/>
              </a:lnSpc>
            </a:pPr>
            <a:r>
              <a:rPr sz="900" b="1" i="0" spc="180">
                <a:solidFill>
                  <a:srgbClr val="8A94A6"/>
                </a:solidFill>
                <a:latin typeface="DM Sans"/>
              </a:rPr>
              <a:t>RETARGETING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