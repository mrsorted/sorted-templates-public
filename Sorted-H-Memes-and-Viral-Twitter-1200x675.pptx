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1430000" cy="64293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71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43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714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286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857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429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000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572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143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715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286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858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429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001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572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144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715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287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0858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715000" y="381000"/>
            <a:ext cx="0" cy="5667375"/>
          </a:xfrm>
          <a:prstGeom prst="line">
            <a:avLst/>
          </a:prstGeom>
          <a:ln w="12700">
            <a:solidFill>
              <a:srgbClr val="E8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4" name="Picture 33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819150" cy="190500"/>
          </a:xfrm>
          <a:prstGeom prst="rect">
            <a:avLst/>
          </a:prstGeom>
        </p:spPr>
      </p:pic>
      <p:pic>
        <p:nvPicPr>
          <p:cNvPr id="35" name="Picture 34" descr="sorte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5743575"/>
            <a:ext cx="304800" cy="3048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23900" y="857250"/>
            <a:ext cx="4648200" cy="1428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1" i="0" spc="220">
                <a:solidFill>
                  <a:srgbClr val="8A94A6"/>
                </a:solidFill>
                <a:latin typeface="DM Sans"/>
              </a:rPr>
              <a:t>OTHER AGENCIES: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3900" y="1143000"/>
            <a:ext cx="4648200" cy="1047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85000"/>
              </a:lnSpc>
            </a:pPr>
            <a:r>
              <a:rPr sz="10000" b="0" i="0">
                <a:solidFill>
                  <a:srgbClr val="8A94A6"/>
                </a:solidFill>
                <a:latin typeface="Bebas Neue"/>
              </a:rPr>
              <a:t>2.1×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3900" y="2047875"/>
            <a:ext cx="4648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8A94A6"/>
                </a:solidFill>
                <a:latin typeface="DM Sans"/>
              </a:rPr>
              <a:t>ROAS · 6 months 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3900" y="2333625"/>
            <a:ext cx="46482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8A94A6"/>
                </a:solidFill>
                <a:latin typeface="DM Sans"/>
              </a:rPr>
              <a:t>"We need more creative…"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57900" y="857250"/>
            <a:ext cx="4648200" cy="1428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1" i="0" spc="220">
                <a:solidFill>
                  <a:srgbClr val="E8264B"/>
                </a:solidFill>
                <a:latin typeface="DM Sans"/>
              </a:rPr>
              <a:t>SORTED: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57900" y="1143000"/>
            <a:ext cx="4648200" cy="1047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85000"/>
              </a:lnSpc>
            </a:pPr>
            <a:r>
              <a:rPr sz="10000" b="0" i="0">
                <a:solidFill>
                  <a:srgbClr val="E8264B"/>
                </a:solidFill>
                <a:latin typeface="Bebas Neue"/>
              </a:rPr>
              <a:t>4.8×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57900" y="2047875"/>
            <a:ext cx="4648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8F7F4"/>
                </a:solidFill>
                <a:latin typeface="DM Sans"/>
              </a:rPr>
              <a:t>ROAS · 6 months 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57900" y="2333625"/>
            <a:ext cx="46482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100" b="1" i="0">
                <a:solidFill>
                  <a:srgbClr val="F8F7F4"/>
                </a:solidFill>
                <a:latin typeface="DM Sans"/>
              </a:rPr>
              <a:t>"12 creatives shipped this week."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71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43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714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286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857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429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000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572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143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715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286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858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429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001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572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144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715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287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0858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" name="Picture 32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819150" cy="1905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76250" y="476250"/>
            <a:ext cx="10477500" cy="571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4200" b="0" i="0">
                <a:solidFill>
                  <a:srgbClr val="F8F7F4"/>
                </a:solidFill>
                <a:latin typeface="Bebas Neue"/>
              </a:rPr>
              <a:t>Expectation vs Reality.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81000" y="1238250"/>
            <a:ext cx="5238750" cy="3857625"/>
          </a:xfrm>
          <a:prstGeom prst="roundRect">
            <a:avLst>
              <a:gd name="adj" fmla="val 1818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1500" y="1428750"/>
            <a:ext cx="4857750" cy="1428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1" i="0" spc="220">
                <a:solidFill>
                  <a:srgbClr val="8A94A6"/>
                </a:solidFill>
                <a:latin typeface="DM Sans"/>
              </a:rPr>
              <a:t>EXPECTATION</a:t>
            </a:r>
          </a:p>
        </p:txBody>
      </p:sp>
      <p:cxnSp>
        <p:nvCxnSpPr>
          <p:cNvPr id="37" name="Connector 36"/>
          <p:cNvCxnSpPr/>
          <p:nvPr/>
        </p:nvCxnSpPr>
        <p:spPr>
          <a:xfrm flipV="1">
            <a:off x="571500" y="2119312"/>
            <a:ext cx="4857750" cy="2476500"/>
          </a:xfrm>
          <a:prstGeom prst="line">
            <a:avLst/>
          </a:prstGeom>
          <a:ln w="38100">
            <a:solidFill>
              <a:srgbClr val="8A94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5810250" y="1238250"/>
            <a:ext cx="5238750" cy="3857625"/>
          </a:xfrm>
          <a:prstGeom prst="roundRect">
            <a:avLst>
              <a:gd name="adj" fmla="val 1818"/>
            </a:avLst>
          </a:prstGeom>
          <a:solidFill>
            <a:srgbClr val="0F2240"/>
          </a:solidFill>
          <a:ln w="1270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00750" y="1428750"/>
            <a:ext cx="4857750" cy="1428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1" i="0" spc="220">
                <a:solidFill>
                  <a:srgbClr val="E8264B"/>
                </a:solidFill>
                <a:latin typeface="DM Sans"/>
              </a:rPr>
              <a:t>REALITY</a:t>
            </a:r>
          </a:p>
        </p:txBody>
      </p:sp>
      <p:cxnSp>
        <p:nvCxnSpPr>
          <p:cNvPr id="40" name="Connector 39"/>
          <p:cNvCxnSpPr/>
          <p:nvPr/>
        </p:nvCxnSpPr>
        <p:spPr>
          <a:xfrm flipV="1">
            <a:off x="6162675" y="4131468"/>
            <a:ext cx="485775" cy="464344"/>
          </a:xfrm>
          <a:prstGeom prst="line">
            <a:avLst/>
          </a:prstGeom>
          <a:ln w="38100">
            <a:solidFill>
              <a:srgbClr val="E8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6648450" y="4131468"/>
            <a:ext cx="485775" cy="309563"/>
          </a:xfrm>
          <a:prstGeom prst="line">
            <a:avLst/>
          </a:prstGeom>
          <a:ln w="38100">
            <a:solidFill>
              <a:srgbClr val="E8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7134225" y="3821906"/>
            <a:ext cx="485775" cy="619125"/>
          </a:xfrm>
          <a:prstGeom prst="line">
            <a:avLst/>
          </a:prstGeom>
          <a:ln w="38100">
            <a:solidFill>
              <a:srgbClr val="E8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620000" y="3821906"/>
            <a:ext cx="485775" cy="464344"/>
          </a:xfrm>
          <a:prstGeom prst="line">
            <a:avLst/>
          </a:prstGeom>
          <a:ln w="38100">
            <a:solidFill>
              <a:srgbClr val="E8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8105775" y="3202781"/>
            <a:ext cx="485775" cy="1083469"/>
          </a:xfrm>
          <a:prstGeom prst="line">
            <a:avLst/>
          </a:prstGeom>
          <a:ln w="38100">
            <a:solidFill>
              <a:srgbClr val="E8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8591550" y="3202781"/>
            <a:ext cx="485775" cy="464344"/>
          </a:xfrm>
          <a:prstGeom prst="line">
            <a:avLst/>
          </a:prstGeom>
          <a:ln w="38100">
            <a:solidFill>
              <a:srgbClr val="E8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9077325" y="2893218"/>
            <a:ext cx="485775" cy="773907"/>
          </a:xfrm>
          <a:prstGeom prst="line">
            <a:avLst/>
          </a:prstGeom>
          <a:ln w="38100">
            <a:solidFill>
              <a:srgbClr val="E8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563100" y="2893218"/>
            <a:ext cx="485775" cy="464344"/>
          </a:xfrm>
          <a:prstGeom prst="line">
            <a:avLst/>
          </a:prstGeom>
          <a:ln w="38100">
            <a:solidFill>
              <a:srgbClr val="E8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10048875" y="2119312"/>
            <a:ext cx="647700" cy="1238250"/>
          </a:xfrm>
          <a:prstGeom prst="line">
            <a:avLst/>
          </a:prstGeom>
          <a:ln w="38100">
            <a:solidFill>
              <a:srgbClr val="E8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476250" y="5667375"/>
            <a:ext cx="104775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B8C4D8"/>
                </a:solidFill>
                <a:latin typeface="DM Sans"/>
              </a:rPr>
              <a:t>Reality looks like the right. We make it go up anyway.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71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43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714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286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857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429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000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572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143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715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286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858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429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001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572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144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715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287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0858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" name="Picture 32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819150" cy="190500"/>
          </a:xfrm>
          <a:prstGeom prst="rect">
            <a:avLst/>
          </a:prstGeom>
        </p:spPr>
      </p:pic>
      <p:pic>
        <p:nvPicPr>
          <p:cNvPr id="34" name="Picture 33" descr="sorte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3250" y="5762625"/>
            <a:ext cx="285750" cy="28575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71500" y="2357437"/>
            <a:ext cx="10287000" cy="1619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300" b="1" i="0" spc="220">
                <a:solidFill>
                  <a:srgbClr val="8A94A6"/>
                </a:solidFill>
                <a:latin typeface="DM Sans"/>
              </a:rPr>
              <a:t>IF YOU KNOW, YOU KNOW: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1500" y="2738437"/>
            <a:ext cx="10287000" cy="2286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90000"/>
              </a:lnSpc>
            </a:pPr>
            <a:r>
              <a:rPr sz="10000" b="0" i="0">
                <a:solidFill>
                  <a:srgbClr val="F8F7F4"/>
                </a:solidFill>
                <a:latin typeface="Bebas Neue"/>
              </a:rPr>
              <a:t>"The data team will circle back Monday."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