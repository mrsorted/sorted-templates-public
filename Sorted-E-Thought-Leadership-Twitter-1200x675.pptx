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1430000" cy="64293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71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43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714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286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857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429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000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72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143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715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286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858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429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001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572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144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715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287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858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Picture 32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733425" cy="171450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571500" y="762000"/>
            <a:ext cx="1026318" cy="190500"/>
          </a:xfrm>
          <a:prstGeom prst="roundRect">
            <a:avLst>
              <a:gd name="adj" fmla="val 50000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1500" y="762000"/>
            <a:ext cx="1026318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900" b="1" i="0" spc="180">
                <a:solidFill>
                  <a:srgbClr val="F8F7F4"/>
                </a:solidFill>
                <a:latin typeface="DM Sans"/>
              </a:rPr>
              <a:t>DID YOU KNOW: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500" y="1333500"/>
            <a:ext cx="10287000" cy="1645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5400" b="0" i="0">
                <a:solidFill>
                  <a:srgbClr val="F8F7F4"/>
                </a:solidFill>
                <a:latin typeface="Bebas Neue"/>
              </a:rPr>
              <a:t>35–45% of D2C revenue should come from Klaviyo flows — not ads.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1500" y="3169920"/>
            <a:ext cx="102870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8A94A6"/>
                </a:solidFill>
                <a:latin typeface="DM Sans"/>
              </a:rPr>
              <a:t>Source: Klaviyo 2025 Benchmark Report · Sorted client avg: 42%</a:t>
            </a:r>
          </a:p>
        </p:txBody>
      </p:sp>
      <p:pic>
        <p:nvPicPr>
          <p:cNvPr id="38" name="Picture 37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5743575"/>
            <a:ext cx="3048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71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43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714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286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857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429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000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72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143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715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286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858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429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001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572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144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715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287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858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9144000" y="-1285875"/>
            <a:ext cx="5715000" cy="5715000"/>
          </a:xfrm>
          <a:prstGeom prst="ellipse">
            <a:avLst/>
          </a:prstGeom>
          <a:solidFill>
            <a:srgbClr val="E8264B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733425" cy="171450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571500" y="762000"/>
            <a:ext cx="897731" cy="190500"/>
          </a:xfrm>
          <a:prstGeom prst="roundRect">
            <a:avLst>
              <a:gd name="adj" fmla="val 50000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1500" y="762000"/>
            <a:ext cx="897731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900" b="1" i="0" spc="180">
                <a:solidFill>
                  <a:srgbClr val="F8F7F4"/>
                </a:solidFill>
                <a:latin typeface="DM Sans"/>
              </a:rPr>
              <a:t>TREND ALERT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1500" y="1333500"/>
            <a:ext cx="10287000" cy="15430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5400" b="0" i="0">
                <a:solidFill>
                  <a:srgbClr val="F8F7F4"/>
                </a:solidFill>
                <a:latin typeface="Bebas Neue"/>
              </a:rPr>
              <a:t>Meta CPMs are up 34% YoY. Email can't save you alone anymore.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1500" y="3067050"/>
            <a:ext cx="10287000" cy="76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B8C4D8"/>
                </a:solidFill>
                <a:latin typeface="DM Sans"/>
              </a:rPr>
              <a:t>Context: Q4 2025 CPMs hit $15+ for apparel. Retention + creative velocity + zero-party data is the only way out.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1500" y="39243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00" b="1" i="0" spc="220">
                <a:solidFill>
                  <a:srgbClr val="E8264B"/>
                </a:solidFill>
                <a:latin typeface="DM Sans"/>
              </a:rPr>
              <a:t>WHAT TO DO: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1500" y="4133850"/>
            <a:ext cx="1028700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F8F7F4"/>
                </a:solidFill>
                <a:latin typeface="DM Sans"/>
              </a:rPr>
              <a:t>Audit your top 3 flows. Re-cut 12 UGC creatives per month. Launch SMS.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71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43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714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286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857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429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000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72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143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715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286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858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429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001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572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144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715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287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858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0" y="571500"/>
            <a:ext cx="28575" cy="52863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19150" cy="1905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71500" y="857250"/>
            <a:ext cx="10287000" cy="21431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88000"/>
              </a:lnSpc>
            </a:pPr>
            <a:r>
              <a:rPr sz="9000" b="0" i="0" spc="-100">
                <a:solidFill>
                  <a:srgbClr val="E8264B"/>
                </a:solidFill>
                <a:latin typeface="Bebas Neue"/>
              </a:rPr>
              <a:t>71% of D2C brands never recover abandoned carts.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500" y="3190875"/>
            <a:ext cx="8572500" cy="1143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B8C4D8"/>
                </a:solidFill>
                <a:latin typeface="DM Sans"/>
              </a:rPr>
              <a:t>That's an average $4,200 per month left on the table — for a brand doing $100K/month. A single Klaviyo flow, set up once, recovers 18–24% of them.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1500" y="6048375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00" b="1" i="0" spc="280">
                <a:solidFill>
                  <a:srgbClr val="E8264B"/>
                </a:solidFill>
                <a:latin typeface="DM Sans"/>
              </a:rPr>
              <a:t>WHAT THIS MEANS FOR YOUR BRAND 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64293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71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43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714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286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857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429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000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72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143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715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286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858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429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001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572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144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715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2870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858500" y="0"/>
            <a:ext cx="0" cy="64293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Picture 32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95350" cy="2095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71500" y="857250"/>
            <a:ext cx="4762500" cy="1619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1" i="0" spc="220">
                <a:solidFill>
                  <a:srgbClr val="E8264B"/>
                </a:solidFill>
                <a:latin typeface="DM Sans"/>
              </a:rPr>
              <a:t>SORTED · GLOSSARY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1500" y="1123950"/>
            <a:ext cx="10287000" cy="76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7000" b="0" i="0">
                <a:solidFill>
                  <a:srgbClr val="F8F7F4"/>
                </a:solidFill>
                <a:latin typeface="Bebas Neue"/>
              </a:rPr>
              <a:t>What is a Win-Back Flow?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500" y="1866900"/>
            <a:ext cx="10287000" cy="171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180">
                <a:solidFill>
                  <a:srgbClr val="E8264B"/>
                </a:solidFill>
                <a:latin typeface="DM Sans"/>
              </a:rPr>
              <a:t>• Win-Back Flow (Klaviyo automation)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1500" y="2476500"/>
            <a:ext cx="10287000" cy="2286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B8C4D8"/>
                </a:solidFill>
                <a:latin typeface="DM Sans"/>
              </a:rPr>
              <a:t>A Klaviyo automation that re-engages customers who haven't purchased in 60–120 days, using progressive incentives — a reminder, then social proof, then a final 15% offer. Typically recovers 8–12% of lapsed customers.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1500" y="5953125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280">
                <a:solidFill>
                  <a:srgbClr val="8A94A6"/>
                </a:solidFill>
                <a:latin typeface="DM Sans"/>
              </a:rPr>
              <a:t>SORTED GLOSSARY · VOL. 01</a:t>
            </a:r>
          </a:p>
        </p:txBody>
      </p:sp>
      <p:pic>
        <p:nvPicPr>
          <p:cNvPr id="39" name="Picture 38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5075" y="5953125"/>
            <a:ext cx="733425" cy="1714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