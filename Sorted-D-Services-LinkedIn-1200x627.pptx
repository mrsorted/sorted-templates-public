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715500" y="381000"/>
            <a:ext cx="897731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5500" y="3810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250" y="1787842"/>
            <a:ext cx="5095875" cy="10629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200" b="0" i="0">
                <a:solidFill>
                  <a:srgbClr val="F8F7F4"/>
                </a:solidFill>
                <a:latin typeface="Bebas Neue"/>
              </a:rPr>
              <a:t>Meta + Google</a:t>
            </a:r>
          </a:p>
          <a:p>
            <a:pPr algn="l">
              <a:lnSpc>
                <a:spcPct val="90000"/>
              </a:lnSpc>
            </a:pPr>
            <a:r>
              <a:rPr sz="6200" b="0" i="0">
                <a:solidFill>
                  <a:srgbClr val="F8F7F4"/>
                </a:solidFill>
                <a:latin typeface="Bebas Neue"/>
              </a:rPr>
              <a:t>+ Programmatic.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250" y="3003232"/>
            <a:ext cx="509587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Campaign structure, creative testing cadence, AI bidding, full attribution.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6250" y="3746182"/>
            <a:ext cx="447675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6250" y="3746182"/>
            <a:ext cx="44767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ROAS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0125" y="3746182"/>
            <a:ext cx="12192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0125" y="3746182"/>
            <a:ext cx="12192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CREATIVE TESTING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95525" y="3746182"/>
            <a:ext cx="833437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95525" y="3746182"/>
            <a:ext cx="83343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AI BIDDING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6250" y="4241482"/>
            <a:ext cx="1438275" cy="3238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250" y="4241482"/>
            <a:ext cx="1438275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 spc="180">
                <a:solidFill>
                  <a:srgbClr val="E8264B"/>
                </a:solidFill>
                <a:latin typeface="DM Sans"/>
              </a:rPr>
              <a:t>$30M+ MANAGED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53870" y="1968500"/>
            <a:ext cx="587985" cy="238125"/>
          </a:xfrm>
          <a:prstGeom prst="roundRect">
            <a:avLst>
              <a:gd name="adj" fmla="val 3239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837850" y="1730375"/>
            <a:ext cx="587985" cy="476250"/>
          </a:xfrm>
          <a:prstGeom prst="roundRect">
            <a:avLst>
              <a:gd name="adj" fmla="val 3239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21831" y="1531937"/>
            <a:ext cx="587985" cy="674687"/>
          </a:xfrm>
          <a:prstGeom prst="roundRect">
            <a:avLst>
              <a:gd name="adj" fmla="val 2823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05812" y="1333500"/>
            <a:ext cx="587985" cy="873125"/>
          </a:xfrm>
          <a:prstGeom prst="roundRect">
            <a:avLst>
              <a:gd name="adj" fmla="val 2181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89793" y="1135062"/>
            <a:ext cx="587985" cy="1071562"/>
          </a:xfrm>
          <a:prstGeom prst="roundRect">
            <a:avLst>
              <a:gd name="adj" fmla="val 1777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973774" y="952500"/>
            <a:ext cx="587985" cy="1254125"/>
          </a:xfrm>
          <a:prstGeom prst="roundRect">
            <a:avLst>
              <a:gd name="adj" fmla="val 1518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857875" y="2419350"/>
            <a:ext cx="5095875" cy="1333500"/>
          </a:xfrm>
          <a:prstGeom prst="roundRect">
            <a:avLst>
              <a:gd name="adj" fmla="val 2242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312" y="2800350"/>
            <a:ext cx="381000" cy="381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57875" y="3219450"/>
            <a:ext cx="5095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ad creative 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76250" y="857250"/>
            <a:ext cx="457200" cy="266700"/>
          </a:xfrm>
          <a:prstGeom prst="roundRect">
            <a:avLst>
              <a:gd name="adj" fmla="val 6250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76250" y="857250"/>
            <a:ext cx="228600" cy="133350"/>
          </a:xfrm>
          <a:prstGeom prst="line">
            <a:avLst/>
          </a:prstGeom>
          <a:ln w="254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04850" y="857250"/>
            <a:ext cx="228600" cy="133350"/>
          </a:xfrm>
          <a:prstGeom prst="line">
            <a:avLst/>
          </a:prstGeom>
          <a:ln w="254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6250" y="1485900"/>
            <a:ext cx="5095875" cy="1215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800" b="0" i="0">
                <a:solidFill>
                  <a:srgbClr val="F8F7F4"/>
                </a:solidFill>
                <a:latin typeface="Bebas Neue"/>
              </a:rPr>
              <a:t>Klaviyo flows</a:t>
            </a:r>
          </a:p>
          <a:p>
            <a:pPr algn="l">
              <a:lnSpc>
                <a:spcPct val="90000"/>
              </a:lnSpc>
            </a:pPr>
            <a:r>
              <a:rPr sz="5800" b="0" i="0">
                <a:solidFill>
                  <a:srgbClr val="F8F7F4"/>
                </a:solidFill>
                <a:latin typeface="Bebas Neue"/>
              </a:rPr>
              <a:t>that print revenue.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250" y="2613660"/>
            <a:ext cx="5095875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35-45% of revenue should come from email. Does yours?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6250" y="3185160"/>
            <a:ext cx="2509837" cy="381000"/>
          </a:xfrm>
          <a:prstGeom prst="roundRect">
            <a:avLst>
              <a:gd name="adj" fmla="val 227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6250" y="3185160"/>
            <a:ext cx="28575" cy="3810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600" y="3185160"/>
            <a:ext cx="2376487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Welcome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62287" y="3185160"/>
            <a:ext cx="2509837" cy="381000"/>
          </a:xfrm>
          <a:prstGeom prst="roundRect">
            <a:avLst>
              <a:gd name="adj" fmla="val 227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62287" y="3185160"/>
            <a:ext cx="28575" cy="3810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95637" y="3185160"/>
            <a:ext cx="2376487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Cart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6250" y="3642360"/>
            <a:ext cx="2509837" cy="381000"/>
          </a:xfrm>
          <a:prstGeom prst="roundRect">
            <a:avLst>
              <a:gd name="adj" fmla="val 227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6250" y="3642360"/>
            <a:ext cx="28575" cy="3810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600" y="3642360"/>
            <a:ext cx="2376487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Win-Back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62287" y="3642360"/>
            <a:ext cx="2509837" cy="381000"/>
          </a:xfrm>
          <a:prstGeom prst="roundRect">
            <a:avLst>
              <a:gd name="adj" fmla="val 227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062287" y="3642360"/>
            <a:ext cx="28575" cy="3810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95637" y="3642360"/>
            <a:ext cx="2376487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VIP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7875" y="762000"/>
            <a:ext cx="5095875" cy="4829175"/>
          </a:xfrm>
          <a:prstGeom prst="roundRect">
            <a:avLst>
              <a:gd name="adj" fmla="val 2242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312" y="2890837"/>
            <a:ext cx="381000" cy="381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857875" y="3309937"/>
            <a:ext cx="50958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email creative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857500" y="128587"/>
            <a:ext cx="5715000" cy="57150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 flipV="1">
            <a:off x="5715000" y="1402651"/>
            <a:ext cx="0" cy="866775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541645" y="1229296"/>
            <a:ext cx="346710" cy="34671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715000" y="1605438"/>
            <a:ext cx="816340" cy="663988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357985" y="1432083"/>
            <a:ext cx="346710" cy="34671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715000" y="2118912"/>
            <a:ext cx="1250705" cy="150514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792350" y="1945557"/>
            <a:ext cx="346710" cy="34671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715000" y="2269426"/>
            <a:ext cx="1099852" cy="433388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641497" y="2529459"/>
            <a:ext cx="346710" cy="34671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5715000" y="2269426"/>
            <a:ext cx="434365" cy="814502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976010" y="2910573"/>
            <a:ext cx="346710" cy="34671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H="1">
            <a:off x="5280634" y="2269426"/>
            <a:ext cx="434366" cy="814502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107279" y="2910573"/>
            <a:ext cx="346710" cy="34671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H="1">
            <a:off x="4615147" y="2269426"/>
            <a:ext cx="1099853" cy="433388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4441792" y="2529459"/>
            <a:ext cx="346710" cy="34671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4464294" y="2118912"/>
            <a:ext cx="1250706" cy="150514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290939" y="1945557"/>
            <a:ext cx="346710" cy="34671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4898659" y="1605438"/>
            <a:ext cx="816341" cy="663988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4725304" y="1432083"/>
            <a:ext cx="346710" cy="34671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81625" y="1936051"/>
            <a:ext cx="666750" cy="6667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81625" y="1936051"/>
            <a:ext cx="666750" cy="666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F8F7F4"/>
                </a:solidFill>
                <a:latin typeface="Bebas Neue"/>
              </a:rPr>
              <a:t>CMD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" y="4882515"/>
            <a:ext cx="10287000" cy="6496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200" b="0" i="0">
                <a:solidFill>
                  <a:srgbClr val="F8F7F4"/>
                </a:solidFill>
                <a:latin typeface="Bebas Neue"/>
              </a:rPr>
              <a:t>Peshwa Swarm - 9 AI Agents.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5362575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Replacing entire departments. Running 24/7.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76250" y="762000"/>
            <a:ext cx="10477500" cy="2476500"/>
          </a:xfrm>
          <a:prstGeom prst="roundRect">
            <a:avLst>
              <a:gd name="adj" fmla="val 909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8650" y="876300"/>
            <a:ext cx="95250" cy="95250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1050" y="876300"/>
            <a:ext cx="95250" cy="95250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3450" y="876300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9200" y="85725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Courier New"/>
              </a:rPr>
              <a:t>sorted.agency/build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76250" y="1143000"/>
            <a:ext cx="104775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4850" y="1295400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const stack = [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850" y="1295400"/>
            <a:ext cx="4572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264B"/>
                </a:solidFill>
                <a:latin typeface="Courier New"/>
              </a:rPr>
              <a:t>const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450" y="1505902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'Next.js', 'Shopify', 'React Native', 'SaaS',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1716405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];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850" y="2041207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264B"/>
                </a:solidFill>
                <a:latin typeface="Courier New"/>
              </a:rPr>
              <a:t>// kickoff -&gt; live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850" y="2251710"/>
            <a:ext cx="10020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deploy('72 hours');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250" y="4600575"/>
            <a:ext cx="104775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From idea to live - 72 hours.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250" y="5305425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8C4D8"/>
                </a:solidFill>
                <a:latin typeface="DM Sans"/>
              </a:rPr>
              <a:t>We built FactoryOS, Spark and more. Next.js - Shopify - React Native - SaaS.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6250" y="762000"/>
            <a:ext cx="104775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90-day growth roadmap.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66750" y="3143250"/>
            <a:ext cx="3333750" cy="476250"/>
          </a:xfrm>
          <a:prstGeom prst="line">
            <a:avLst/>
          </a:prstGeom>
          <a:ln w="3175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00500" y="2667000"/>
            <a:ext cx="3333750" cy="476250"/>
          </a:xfrm>
          <a:prstGeom prst="line">
            <a:avLst/>
          </a:prstGeom>
          <a:ln w="3175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334250" y="2286000"/>
            <a:ext cx="3429000" cy="381000"/>
          </a:xfrm>
          <a:prstGeom prst="line">
            <a:avLst/>
          </a:prstGeom>
          <a:ln w="3175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33400" y="3486150"/>
            <a:ext cx="266700" cy="26670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0550" y="354330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867150" y="3009900"/>
            <a:ext cx="266700" cy="26670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24300" y="306705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00900" y="2533650"/>
            <a:ext cx="266700" cy="26670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58050" y="259080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29900" y="2152650"/>
            <a:ext cx="266700" cy="266700"/>
          </a:xfrm>
          <a:prstGeom prst="ellipse">
            <a:avLst/>
          </a:prstGeom>
          <a:noFill/>
          <a:ln w="9525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7050" y="2209800"/>
            <a:ext cx="152400" cy="1524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6250" y="4638675"/>
            <a:ext cx="2533650" cy="857250"/>
          </a:xfrm>
          <a:prstGeom prst="roundRect">
            <a:avLst>
              <a:gd name="adj" fmla="val 300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6250" y="4638675"/>
            <a:ext cx="2533650" cy="190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650" y="4772025"/>
            <a:ext cx="22288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" y="4962525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8F7F4"/>
                </a:solidFill>
                <a:latin typeface="Bebas Neue"/>
              </a:rPr>
              <a:t>Audit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24200" y="4638675"/>
            <a:ext cx="2533650" cy="857250"/>
          </a:xfrm>
          <a:prstGeom prst="roundRect">
            <a:avLst>
              <a:gd name="adj" fmla="val 300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24200" y="4638675"/>
            <a:ext cx="2533650" cy="190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76600" y="4772025"/>
            <a:ext cx="22288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76600" y="4962525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8F7F4"/>
                </a:solidFill>
                <a:latin typeface="Bebas Neue"/>
              </a:rPr>
              <a:t>Strategy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72150" y="4638675"/>
            <a:ext cx="2533650" cy="857250"/>
          </a:xfrm>
          <a:prstGeom prst="roundRect">
            <a:avLst>
              <a:gd name="adj" fmla="val 300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72150" y="4638675"/>
            <a:ext cx="2533650" cy="190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24550" y="4772025"/>
            <a:ext cx="22288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24550" y="4962525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8F7F4"/>
                </a:solidFill>
                <a:latin typeface="Bebas Neue"/>
              </a:rPr>
              <a:t>Deploy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20100" y="4638675"/>
            <a:ext cx="2533650" cy="857250"/>
          </a:xfrm>
          <a:prstGeom prst="roundRect">
            <a:avLst>
              <a:gd name="adj" fmla="val 300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20100" y="4638675"/>
            <a:ext cx="2533650" cy="190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72500" y="4772025"/>
            <a:ext cx="22288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72500" y="4962525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F8F7F4"/>
                </a:solidFill>
                <a:latin typeface="Bebas Neue"/>
              </a:rPr>
              <a:t>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6250" y="4762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One partner. Full stack.</a:t>
            </a:r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1500"/>
            <a:ext cx="895350" cy="2095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76250" y="1619250"/>
            <a:ext cx="3390900" cy="1862137"/>
          </a:xfrm>
          <a:prstGeom prst="roundRect">
            <a:avLst>
              <a:gd name="adj" fmla="val 337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4850" y="1847850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850" y="184785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850" y="2514600"/>
            <a:ext cx="2933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Ads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19550" y="1619250"/>
            <a:ext cx="3390900" cy="1862137"/>
          </a:xfrm>
          <a:prstGeom prst="roundRect">
            <a:avLst>
              <a:gd name="adj" fmla="val 337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48150" y="1847850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48150" y="184785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48150" y="2514600"/>
            <a:ext cx="2933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Email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62850" y="1619250"/>
            <a:ext cx="3390900" cy="1862137"/>
          </a:xfrm>
          <a:prstGeom prst="roundRect">
            <a:avLst>
              <a:gd name="adj" fmla="val 337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91450" y="1847850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91450" y="184785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1450" y="2514600"/>
            <a:ext cx="2933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AI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6250" y="3633787"/>
            <a:ext cx="3390900" cy="1862137"/>
          </a:xfrm>
          <a:prstGeom prst="roundRect">
            <a:avLst>
              <a:gd name="adj" fmla="val 337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04850" y="3862387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850" y="3862387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850" y="4529137"/>
            <a:ext cx="2933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Web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19550" y="3633787"/>
            <a:ext cx="3390900" cy="1862137"/>
          </a:xfrm>
          <a:prstGeom prst="roundRect">
            <a:avLst>
              <a:gd name="adj" fmla="val 337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248150" y="3862387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8150" y="3862387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8150" y="4529137"/>
            <a:ext cx="2933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Brand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62850" y="3633787"/>
            <a:ext cx="3390900" cy="1862137"/>
          </a:xfrm>
          <a:prstGeom prst="roundRect">
            <a:avLst>
              <a:gd name="adj" fmla="val 337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791450" y="3862387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91450" y="3862387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91450" y="4529137"/>
            <a:ext cx="2933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810750" y="381000"/>
            <a:ext cx="962025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0750" y="381000"/>
            <a:ext cx="96202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FOR AGENCIES</a:t>
            </a:r>
          </a:p>
        </p:txBody>
      </p:sp>
      <p:sp>
        <p:nvSpPr>
          <p:cNvPr id="35" name="Oval 34"/>
          <p:cNvSpPr/>
          <p:nvPr/>
        </p:nvSpPr>
        <p:spPr>
          <a:xfrm>
            <a:off x="1314450" y="2605087"/>
            <a:ext cx="1143000" cy="1143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4450" y="2605087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A94A6"/>
                </a:solidFill>
                <a:latin typeface="DM Sans"/>
              </a:rPr>
              <a:t>Your agency logo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47950" y="2890837"/>
            <a:ext cx="4572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4800" b="0" i="0">
                <a:solidFill>
                  <a:srgbClr val="8A94A6"/>
                </a:solidFill>
                <a:latin typeface="Bebas Neue"/>
              </a:rPr>
              <a:t>+</a:t>
            </a:r>
          </a:p>
        </p:txBody>
      </p:sp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0" y="2719387"/>
            <a:ext cx="914400" cy="914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29250" y="1315402"/>
            <a:ext cx="5524500" cy="1341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8F7F4"/>
                </a:solidFill>
                <a:latin typeface="Bebas Neue"/>
              </a:rPr>
              <a:t>Your brand.</a:t>
            </a:r>
          </a:p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8F7F4"/>
                </a:solidFill>
                <a:latin typeface="Bebas Neue"/>
              </a:rPr>
              <a:t>Our execution.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9250" y="284702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7850" y="284702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Performance Marketing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9250" y="309467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7850" y="309467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Klaviyo Flows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9250" y="334232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57850" y="334232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Creative Production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9250" y="358997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7850" y="358997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Peshwa Reporting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29250" y="3837622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57850" y="3837622"/>
            <a:ext cx="52959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Dev + SaaS Build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29250" y="4561522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Full NDA - USD billing - US timezone.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