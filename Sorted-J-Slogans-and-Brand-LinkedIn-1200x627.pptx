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1430000" cy="597217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5972175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71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143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714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286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857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429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000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572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143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715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286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858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429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001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572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144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715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0287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0858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2" name="Picture 31" descr="sorte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381000"/>
            <a:ext cx="895350" cy="209550"/>
          </a:xfrm>
          <a:prstGeom prst="rect">
            <a:avLst/>
          </a:prstGeom>
        </p:spPr>
      </p:pic>
      <p:pic>
        <p:nvPicPr>
          <p:cNvPr id="33" name="Picture 32" descr="sorted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1800" y="5133975"/>
            <a:ext cx="457200" cy="4572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71500" y="0"/>
            <a:ext cx="10287000" cy="5972175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88000"/>
              </a:lnSpc>
            </a:pPr>
            <a:r>
              <a:rPr sz="12000" b="0" i="0">
                <a:solidFill>
                  <a:srgbClr val="F8F7F4"/>
                </a:solidFill>
                <a:latin typeface="Bebas Neue"/>
              </a:rPr>
              <a:t>We build growth machines.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5972175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71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143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714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286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857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429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000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572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143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715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286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858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429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001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572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144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715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0287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0858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2" name="Picture 31" descr="sorte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381000"/>
            <a:ext cx="895350" cy="20955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571500" y="2188845"/>
            <a:ext cx="1028700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</a:pPr>
            <a:r>
              <a:rPr sz="6000" b="0" i="0">
                <a:solidFill>
                  <a:srgbClr val="8A94A6"/>
                </a:solidFill>
                <a:latin typeface="Bebas Neue"/>
              </a:rPr>
              <a:t>Most agencies give you reports.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1500" y="3007995"/>
            <a:ext cx="10287000" cy="8458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</a:pPr>
            <a:r>
              <a:rPr sz="7400" b="0" i="0">
                <a:solidFill>
                  <a:srgbClr val="E8264B"/>
                </a:solidFill>
                <a:latin typeface="Bebas Neue"/>
              </a:rPr>
              <a:t>We give you results.</a:t>
            </a:r>
          </a:p>
        </p:txBody>
      </p:sp>
      <p:pic>
        <p:nvPicPr>
          <p:cNvPr id="35" name="Picture 34" descr="sorte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4462" y="5362575"/>
            <a:ext cx="981075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5972175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71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143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714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286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857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429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000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572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143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715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286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858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429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001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572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144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715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0287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0858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2" name="Picture 31" descr="sorte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381000"/>
            <a:ext cx="895350" cy="20955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8572500" y="571500"/>
            <a:ext cx="2286000" cy="1428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100" b="1" i="0" spc="220">
                <a:solidFill>
                  <a:srgbClr val="E8264B"/>
                </a:solidFill>
                <a:latin typeface="DM Sans"/>
              </a:rPr>
              <a:t>OUR VALUES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76250" y="1238250"/>
            <a:ext cx="5162550" cy="2052637"/>
          </a:xfrm>
          <a:prstGeom prst="roundRect">
            <a:avLst>
              <a:gd name="adj" fmla="val 1845"/>
            </a:avLst>
          </a:prstGeom>
          <a:solidFill>
            <a:srgbClr val="0F2240"/>
          </a:solidFill>
          <a:ln w="635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76250" y="1238250"/>
            <a:ext cx="5162550" cy="28575"/>
          </a:xfrm>
          <a:prstGeom prst="rect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2000" y="1524000"/>
            <a:ext cx="4591050" cy="5867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5600" b="0" i="0">
                <a:solidFill>
                  <a:srgbClr val="F8F7F4"/>
                </a:solidFill>
                <a:latin typeface="Bebas Neue"/>
              </a:rPr>
              <a:t>Direct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2000" y="2871787"/>
            <a:ext cx="4591050" cy="285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8A94A6"/>
                </a:solidFill>
                <a:latin typeface="DM Sans"/>
              </a:rPr>
              <a:t>No soft-pedalling.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791200" y="1238250"/>
            <a:ext cx="5162550" cy="2052637"/>
          </a:xfrm>
          <a:prstGeom prst="roundRect">
            <a:avLst>
              <a:gd name="adj" fmla="val 1845"/>
            </a:avLst>
          </a:prstGeom>
          <a:solidFill>
            <a:srgbClr val="0F2240"/>
          </a:solidFill>
          <a:ln w="635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791200" y="1238250"/>
            <a:ext cx="5162550" cy="28575"/>
          </a:xfrm>
          <a:prstGeom prst="rect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76950" y="1524000"/>
            <a:ext cx="4591050" cy="5867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5600" b="0" i="0">
                <a:solidFill>
                  <a:srgbClr val="F8F7F4"/>
                </a:solidFill>
                <a:latin typeface="Bebas Neue"/>
              </a:rPr>
              <a:t>Specific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76950" y="2871787"/>
            <a:ext cx="4591050" cy="285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8A94A6"/>
                </a:solidFill>
                <a:latin typeface="DM Sans"/>
              </a:rPr>
              <a:t>Numbers over narrative.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76250" y="3443287"/>
            <a:ext cx="5162550" cy="2052637"/>
          </a:xfrm>
          <a:prstGeom prst="roundRect">
            <a:avLst>
              <a:gd name="adj" fmla="val 1845"/>
            </a:avLst>
          </a:prstGeom>
          <a:solidFill>
            <a:srgbClr val="0F2240"/>
          </a:solidFill>
          <a:ln w="635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76250" y="3443287"/>
            <a:ext cx="5162550" cy="28575"/>
          </a:xfrm>
          <a:prstGeom prst="rect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62000" y="3729037"/>
            <a:ext cx="4591050" cy="5867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5600" b="0" i="0">
                <a:solidFill>
                  <a:srgbClr val="F8F7F4"/>
                </a:solidFill>
                <a:latin typeface="Bebas Neue"/>
              </a:rPr>
              <a:t>Honest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2000" y="5076825"/>
            <a:ext cx="4591050" cy="285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8A94A6"/>
                </a:solidFill>
                <a:latin typeface="DM Sans"/>
              </a:rPr>
              <a:t>If it's broken, we say so.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791200" y="3443287"/>
            <a:ext cx="5162550" cy="2052637"/>
          </a:xfrm>
          <a:prstGeom prst="roundRect">
            <a:avLst>
              <a:gd name="adj" fmla="val 1845"/>
            </a:avLst>
          </a:prstGeom>
          <a:solidFill>
            <a:srgbClr val="0F2240"/>
          </a:solidFill>
          <a:ln w="635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791200" y="3443287"/>
            <a:ext cx="5162550" cy="28575"/>
          </a:xfrm>
          <a:prstGeom prst="rect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076950" y="3729037"/>
            <a:ext cx="4591050" cy="5867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5600" b="0" i="0">
                <a:solidFill>
                  <a:srgbClr val="F8F7F4"/>
                </a:solidFill>
                <a:latin typeface="Bebas Neue"/>
              </a:rPr>
              <a:t>Bold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76950" y="5076825"/>
            <a:ext cx="4591050" cy="285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8A94A6"/>
                </a:solidFill>
                <a:latin typeface="DM Sans"/>
              </a:rPr>
              <a:t>Play offence, not defence.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5972175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71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143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714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286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857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429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000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572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143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715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286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858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429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001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572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144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715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0287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0858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2" name="Picture 31" descr="sorte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381000"/>
            <a:ext cx="895350" cy="209550"/>
          </a:xfrm>
          <a:prstGeom prst="rect">
            <a:avLst/>
          </a:prstGeom>
        </p:spPr>
      </p:pic>
      <p:pic>
        <p:nvPicPr>
          <p:cNvPr id="33" name="Picture 32" descr="sorted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9900" y="5172075"/>
            <a:ext cx="419100" cy="4191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71500" y="2001202"/>
            <a:ext cx="1028700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</a:pPr>
            <a:r>
              <a:rPr sz="6400" b="0" i="0">
                <a:solidFill>
                  <a:srgbClr val="8A94A6"/>
                </a:solidFill>
                <a:latin typeface="Bebas Neue"/>
              </a:rPr>
              <a:t>We're not an agency.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71500" y="2306002"/>
            <a:ext cx="5120640" cy="0"/>
          </a:xfrm>
          <a:prstGeom prst="line">
            <a:avLst/>
          </a:prstGeom>
          <a:ln w="38100">
            <a:solidFill>
              <a:srgbClr val="E826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71500" y="2824162"/>
            <a:ext cx="1028700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</a:pPr>
            <a:r>
              <a:rPr sz="6400" b="0" i="0">
                <a:solidFill>
                  <a:srgbClr val="E8264B"/>
                </a:solidFill>
                <a:latin typeface="Bebas Neue"/>
              </a:rPr>
              <a:t>We're your growth system.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1500" y="3723322"/>
            <a:ext cx="10287000" cy="285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400" b="0" i="1">
                <a:solidFill>
                  <a:srgbClr val="B8C4D8"/>
                </a:solidFill>
                <a:latin typeface="DM Sans"/>
              </a:rPr>
              <a:t>Big difference.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5972175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71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143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714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286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857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429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000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572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143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715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286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858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429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001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572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144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715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0287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0858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8001000" y="-1190625"/>
            <a:ext cx="5715000" cy="5715000"/>
          </a:xfrm>
          <a:prstGeom prst="ellipse">
            <a:avLst/>
          </a:prstGeom>
          <a:solidFill>
            <a:srgbClr val="E8264B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sorte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381000"/>
            <a:ext cx="895350" cy="209550"/>
          </a:xfrm>
          <a:prstGeom prst="rect">
            <a:avLst/>
          </a:prstGeom>
        </p:spPr>
      </p:pic>
      <p:sp>
        <p:nvSpPr>
          <p:cNvPr id="34" name="Oval 33"/>
          <p:cNvSpPr/>
          <p:nvPr/>
        </p:nvSpPr>
        <p:spPr>
          <a:xfrm>
            <a:off x="571500" y="1633537"/>
            <a:ext cx="533400" cy="533400"/>
          </a:xfrm>
          <a:prstGeom prst="ellipse">
            <a:avLst/>
          </a:prstGeom>
          <a:noFill/>
          <a:ln w="38100">
            <a:solidFill>
              <a:srgbClr val="E8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1500" y="2300287"/>
            <a:ext cx="10287000" cy="81724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7800" b="0" i="0">
                <a:solidFill>
                  <a:srgbClr val="E8264B"/>
                </a:solidFill>
                <a:latin typeface="Bebas Neue"/>
              </a:rPr>
              <a:t>Your revenue is leaking.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1500" y="3176587"/>
            <a:ext cx="6667500" cy="4762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F8F7F4"/>
                </a:solidFill>
                <a:latin typeface="DM Sans"/>
              </a:rPr>
              <a:t>We'll show you exactly where. Free.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71500" y="3748087"/>
            <a:ext cx="2125218" cy="400050"/>
          </a:xfrm>
          <a:prstGeom prst="roundRect">
            <a:avLst>
              <a:gd name="adj" fmla="val 2689"/>
            </a:avLst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2000" y="3748087"/>
            <a:ext cx="1744218" cy="4000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200" b="1" i="0" spc="140">
                <a:solidFill>
                  <a:srgbClr val="F8F7F4"/>
                </a:solidFill>
                <a:latin typeface="DM Sans"/>
              </a:rPr>
              <a:t>BOOK A FREE AUDIT 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5972175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71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143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714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286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857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429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000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572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143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715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286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858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429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001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572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144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715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0287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0858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2" name="Picture 31" descr="sorte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381000"/>
            <a:ext cx="895350" cy="209550"/>
          </a:xfrm>
          <a:prstGeom prst="rect">
            <a:avLst/>
          </a:prstGeom>
        </p:spPr>
      </p:pic>
      <p:pic>
        <p:nvPicPr>
          <p:cNvPr id="33" name="Picture 32" descr="sorted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9900" y="5172075"/>
            <a:ext cx="419100" cy="4191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71500" y="1959292"/>
            <a:ext cx="1028700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</a:pPr>
            <a:r>
              <a:rPr sz="6400" b="0" i="0">
                <a:solidFill>
                  <a:srgbClr val="8A94A6"/>
                </a:solidFill>
                <a:latin typeface="Bebas Neue"/>
              </a:rPr>
              <a:t>Campaigns expire.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1500" y="2763202"/>
            <a:ext cx="10287000" cy="82295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</a:pPr>
            <a:r>
              <a:rPr sz="7200" b="0" i="0">
                <a:solidFill>
                  <a:srgbClr val="F8F7F4"/>
                </a:solidFill>
                <a:latin typeface="Bebas Neue"/>
              </a:rPr>
              <a:t>Growth systems compound.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4892039" y="3449002"/>
            <a:ext cx="2592324" cy="0"/>
          </a:xfrm>
          <a:prstGeom prst="line">
            <a:avLst/>
          </a:prstGeom>
          <a:ln w="50800">
            <a:solidFill>
              <a:srgbClr val="E826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571500" y="3746182"/>
            <a:ext cx="10287000" cy="285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B8C4D8"/>
                </a:solidFill>
                <a:latin typeface="DM Sans"/>
              </a:rPr>
              <a:t>We build the latter.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