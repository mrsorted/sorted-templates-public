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3400" y="571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SORTED · BY THE NUMBERS</a:t>
            </a:r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0" y="533400"/>
            <a:ext cx="895350" cy="20955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33400" y="12001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3400" y="1200150"/>
            <a:ext cx="4533900" cy="3962400"/>
          </a:xfrm>
          <a:prstGeom prst="roundRect">
            <a:avLst>
              <a:gd name="adj" fmla="val 210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3400" y="12001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" y="1466850"/>
            <a:ext cx="4000500" cy="146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0" b="0" i="0" spc="-100">
                <a:solidFill>
                  <a:srgbClr val="E8264B"/>
                </a:solidFill>
                <a:latin typeface="Bebas Neue"/>
              </a:rPr>
              <a:t>100+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4857750"/>
            <a:ext cx="4000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60">
                <a:solidFill>
                  <a:srgbClr val="F8F7F4"/>
                </a:solidFill>
                <a:latin typeface="DM Sans"/>
              </a:rPr>
              <a:t>BRANDS SCALED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9700" y="12001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219700" y="1200150"/>
            <a:ext cx="4533900" cy="3962400"/>
          </a:xfrm>
          <a:prstGeom prst="roundRect">
            <a:avLst>
              <a:gd name="adj" fmla="val 210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19700" y="12001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0" y="1466850"/>
            <a:ext cx="4000500" cy="146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0" b="0" i="0" spc="-100">
                <a:solidFill>
                  <a:srgbClr val="E8264B"/>
                </a:solidFill>
                <a:latin typeface="Bebas Neue"/>
              </a:rPr>
              <a:t>$40M+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857750"/>
            <a:ext cx="4000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60">
                <a:solidFill>
                  <a:srgbClr val="F8F7F4"/>
                </a:solidFill>
                <a:latin typeface="DM Sans"/>
              </a:rPr>
              <a:t>REVENUE TRACKED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3400" y="53149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3400" y="5314950"/>
            <a:ext cx="4533900" cy="3962400"/>
          </a:xfrm>
          <a:prstGeom prst="roundRect">
            <a:avLst>
              <a:gd name="adj" fmla="val 210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3400" y="53149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" y="5581650"/>
            <a:ext cx="4000500" cy="146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0" b="0" i="0" spc="-1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" y="8972550"/>
            <a:ext cx="4000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60">
                <a:solidFill>
                  <a:srgbClr val="F8F7F4"/>
                </a:solidFill>
                <a:latin typeface="DM Sans"/>
              </a:rPr>
              <a:t>AVG ROAS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9700" y="53149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219700" y="5314950"/>
            <a:ext cx="4533900" cy="3962400"/>
          </a:xfrm>
          <a:prstGeom prst="roundRect">
            <a:avLst>
              <a:gd name="adj" fmla="val 210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9700" y="5314950"/>
            <a:ext cx="45339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0" y="5581650"/>
            <a:ext cx="4000500" cy="1466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0" b="0" i="0" spc="-100">
                <a:solidFill>
                  <a:srgbClr val="E8264B"/>
                </a:solidFill>
                <a:latin typeface="Bebas Neue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0" y="8972550"/>
            <a:ext cx="4000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60">
                <a:solidFill>
                  <a:srgbClr val="F8F7F4"/>
                </a:solidFill>
                <a:latin typeface="DM Sans"/>
              </a:rPr>
              <a:t>AI AGENTS</a:t>
            </a:r>
          </a:p>
        </p:txBody>
      </p:sp>
      <p:pic>
        <p:nvPicPr>
          <p:cNvPr id="59" name="Picture 5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950595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333500" y="304800"/>
            <a:ext cx="7620000" cy="7620000"/>
          </a:xfrm>
          <a:prstGeom prst="ellipse">
            <a:avLst/>
          </a:prstGeom>
          <a:solidFill>
            <a:srgbClr val="E8264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825" y="419100"/>
            <a:ext cx="981075" cy="228600"/>
          </a:xfrm>
          <a:prstGeom prst="rect">
            <a:avLst/>
          </a:prstGeom>
        </p:spPr>
      </p:pic>
      <p:pic>
        <p:nvPicPr>
          <p:cNvPr id="39" name="Picture 38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457200"/>
            <a:ext cx="419100" cy="4191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0" y="2943225"/>
            <a:ext cx="10287000" cy="440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85000"/>
              </a:lnSpc>
            </a:pPr>
            <a:r>
              <a:rPr sz="42000" b="0" i="0" spc="-5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9750" y="7134225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F8F7F4"/>
                </a:solidFill>
                <a:latin typeface="DM Sans"/>
              </a:rPr>
              <a:t>AVERAGE ROAS ACROSS 100+ D2C BRANDS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97536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91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343900" y="419100"/>
            <a:ext cx="1347787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3900" y="419100"/>
            <a:ext cx="134778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REAL CLIENT ·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-600075" y="4000500"/>
            <a:ext cx="2514600" cy="2514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4000" b="0" i="0" spc="-200">
                <a:solidFill>
                  <a:srgbClr val="8A94A6"/>
                </a:solidFill>
                <a:latin typeface="Bebas Neue"/>
              </a:rPr>
              <a:t>$0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00275" y="5029200"/>
            <a:ext cx="762000" cy="0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924175" y="4791075"/>
            <a:ext cx="133350" cy="238125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924175" y="5029200"/>
            <a:ext cx="133350" cy="238125"/>
          </a:xfrm>
          <a:prstGeom prst="line">
            <a:avLst/>
          </a:prstGeom>
          <a:ln w="508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43275" y="4000500"/>
            <a:ext cx="7543800" cy="2514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4000" b="0" i="0" spc="-200">
                <a:solidFill>
                  <a:srgbClr val="E8264B"/>
                </a:solidFill>
                <a:latin typeface="Bebas Neue"/>
              </a:rPr>
              <a:t>$17.9M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55320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FROM EMAIL ALONE · 12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0" y="6858000"/>
            <a:ext cx="10287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URC Beverages × Sorted · Klaviyo engagement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9100"/>
            <a:ext cx="895350" cy="20955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7429500" y="7429500"/>
            <a:ext cx="6667500" cy="66675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1500" y="3086100"/>
            <a:ext cx="685800" cy="685800"/>
          </a:xfrm>
          <a:prstGeom prst="ellipse">
            <a:avLst/>
          </a:prstGeom>
          <a:noFill/>
          <a:ln w="381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914400" y="3188970"/>
            <a:ext cx="0" cy="24003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14400" y="3429000"/>
            <a:ext cx="171450" cy="102870"/>
          </a:xfrm>
          <a:prstGeom prst="line">
            <a:avLst/>
          </a:prstGeom>
          <a:ln w="381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47800" y="33528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1" i="0" spc="220">
                <a:solidFill>
                  <a:srgbClr val="E8264B"/>
                </a:solidFill>
                <a:latin typeface="DM Sans"/>
              </a:rPr>
              <a:t>FROM KICKOFF TO LIVE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" y="3905250"/>
            <a:ext cx="9144000" cy="3562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34000" b="0" i="0" spc="-300">
                <a:solidFill>
                  <a:srgbClr val="F8F7F4"/>
                </a:solidFill>
                <a:latin typeface="Bebas Neue"/>
              </a:rPr>
              <a:t>72 Hours.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" y="7153275"/>
            <a:ext cx="66675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B8C4D8"/>
                </a:solidFill>
                <a:latin typeface="DM Sans"/>
              </a:rPr>
              <a:t>Audit, strategy, creative, Klaviyo flows and live Meta campaigns. Not weeks. Not months. Three days.</a:t>
            </a:r>
          </a:p>
        </p:txBody>
      </p:sp>
      <p:pic>
        <p:nvPicPr>
          <p:cNvPr id="45" name="Picture 44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94488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91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343900" y="419100"/>
            <a:ext cx="962025" cy="1905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3900" y="4191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E8264B"/>
                </a:solidFill>
                <a:latin typeface="DM Sans"/>
              </a:rPr>
              <a:t>PESHWA SWARM</a:t>
            </a:r>
          </a:p>
        </p:txBody>
      </p:sp>
      <p:sp>
        <p:nvSpPr>
          <p:cNvPr id="40" name="Oval 39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48000" y="3048000"/>
            <a:ext cx="4191000" cy="4191000"/>
          </a:xfrm>
          <a:prstGeom prst="ellipse">
            <a:avLst/>
          </a:prstGeom>
          <a:noFill/>
          <a:ln w="1270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14750" y="3714750"/>
            <a:ext cx="2857500" cy="2857500"/>
          </a:xfrm>
          <a:prstGeom prst="ellipse">
            <a:avLst/>
          </a:prstGeom>
          <a:noFill/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5143500" y="3048000"/>
            <a:ext cx="0" cy="209550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838700" y="274320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38700" y="297180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ADS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5143500" y="3538253"/>
            <a:ext cx="1346961" cy="1605247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185661" y="3233453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85661" y="3462053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KLAVIYO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5143500" y="4779620"/>
            <a:ext cx="2063664" cy="36388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902364" y="447482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2364" y="470342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CREATIVE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143500" y="5143500"/>
            <a:ext cx="1814756" cy="104775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653456" y="588645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3456" y="611505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ANALYTICS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143500" y="5143500"/>
            <a:ext cx="716703" cy="1969125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5555403" y="6807825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5403" y="7036425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SEO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4426796" y="5143500"/>
            <a:ext cx="716704" cy="1969125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121996" y="6807825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21996" y="7036425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SHOPIFY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3328743" y="5143500"/>
            <a:ext cx="1814757" cy="104775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023943" y="588645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23943" y="611505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CX</a:t>
            </a:r>
          </a:p>
        </p:txBody>
      </p:sp>
      <p:cxnSp>
        <p:nvCxnSpPr>
          <p:cNvPr id="64" name="Connector 63"/>
          <p:cNvCxnSpPr/>
          <p:nvPr/>
        </p:nvCxnSpPr>
        <p:spPr>
          <a:xfrm flipH="1" flipV="1">
            <a:off x="3079835" y="4779620"/>
            <a:ext cx="2063665" cy="363880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775035" y="4474820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75035" y="4703420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RESEARCH</a:t>
            </a:r>
          </a:p>
        </p:txBody>
      </p:sp>
      <p:cxnSp>
        <p:nvCxnSpPr>
          <p:cNvPr id="67" name="Connector 66"/>
          <p:cNvCxnSpPr/>
          <p:nvPr/>
        </p:nvCxnSpPr>
        <p:spPr>
          <a:xfrm flipH="1" flipV="1">
            <a:off x="3796538" y="3538253"/>
            <a:ext cx="1346962" cy="1605247"/>
          </a:xfrm>
          <a:prstGeom prst="line">
            <a:avLst/>
          </a:prstGeom>
          <a:ln w="762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491738" y="3233453"/>
            <a:ext cx="609600" cy="6096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91738" y="3462053"/>
            <a:ext cx="6096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1" i="0" spc="80">
                <a:solidFill>
                  <a:srgbClr val="F8F7F4"/>
                </a:solidFill>
                <a:latin typeface="DM Sans"/>
              </a:rPr>
              <a:t>OPS</a:t>
            </a:r>
          </a:p>
        </p:txBody>
      </p:sp>
      <p:sp>
        <p:nvSpPr>
          <p:cNvPr id="70" name="Oval 69"/>
          <p:cNvSpPr/>
          <p:nvPr/>
        </p:nvSpPr>
        <p:spPr>
          <a:xfrm>
            <a:off x="4610100" y="4610100"/>
            <a:ext cx="1066800" cy="10668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10100" y="4991100"/>
            <a:ext cx="10668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2600" b="0" i="0" spc="100">
                <a:solidFill>
                  <a:srgbClr val="F8F7F4"/>
                </a:solidFill>
                <a:latin typeface="Bebas Neue"/>
              </a:rPr>
              <a:t>CMD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1500" y="8763000"/>
            <a:ext cx="571500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9 AI Agents.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1500" y="96774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Working while you sleep.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1000" y="381000"/>
            <a:ext cx="8382000" cy="6172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400" b="0" i="0">
                <a:solidFill>
                  <a:srgbClr val="F8F7F4"/>
                </a:solidFill>
                <a:latin typeface="Bebas Neue"/>
              </a:rPr>
              <a:t>Agencies vs Sorted.</a:t>
            </a:r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476250"/>
            <a:ext cx="895350" cy="20955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381000" y="1333500"/>
            <a:ext cx="9525000" cy="857250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1000" y="1333500"/>
            <a:ext cx="9525000" cy="438150"/>
          </a:xfrm>
          <a:prstGeom prst="rect">
            <a:avLst/>
          </a:prstGeom>
          <a:solidFill>
            <a:srgbClr val="13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66416" y="1333500"/>
            <a:ext cx="3439583" cy="438150"/>
          </a:xfrm>
          <a:prstGeom prst="rect">
            <a:avLst/>
          </a:prstGeom>
          <a:solidFill>
            <a:srgbClr val="13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" y="1485900"/>
            <a:ext cx="2264833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DIMENSION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7333" y="1485900"/>
            <a:ext cx="3058583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MOST AGENCIES 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916" y="1485900"/>
            <a:ext cx="3058583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SORTED ✓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026833" y="1333500"/>
            <a:ext cx="0" cy="857250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466416" y="1333500"/>
            <a:ext cx="0" cy="857250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1000" y="1771650"/>
            <a:ext cx="9525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81000" y="3127375"/>
            <a:ext cx="9525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1500" y="1771650"/>
            <a:ext cx="226483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Model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17333" y="1771650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45933" y="1771650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Retainer + Hours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6916" y="1771650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5516" y="1771650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Outcome-based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81000" y="4483100"/>
            <a:ext cx="9525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1500" y="3127375"/>
            <a:ext cx="226483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17333" y="3127375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45933" y="3127375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Siloed, rotating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6916" y="3127375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85516" y="3127375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9 AI agents + lead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81000" y="5838825"/>
            <a:ext cx="9525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71500" y="4483100"/>
            <a:ext cx="226483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Speed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17333" y="4483100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45933" y="4483100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4-8 week onboarding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56916" y="4483100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85516" y="4483100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72 hour deploy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81000" y="7194550"/>
            <a:ext cx="9525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71500" y="5838825"/>
            <a:ext cx="226483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Reporting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17333" y="5838825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45933" y="5838825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Monthly PDF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56916" y="5838825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85516" y="5838825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Live dashboard 24/7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81000" y="8550275"/>
            <a:ext cx="95250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71500" y="7194550"/>
            <a:ext cx="226483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AI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17333" y="7194550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45933" y="7194550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Bolt-on Chat tool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56916" y="7194550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85516" y="7194550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Embedded Peshwa Swarm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1500" y="8550275"/>
            <a:ext cx="226483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Coverage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17333" y="8550275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8A94A6"/>
                </a:solidFill>
                <a:latin typeface="DM Sans"/>
              </a:rPr>
              <a:t>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45933" y="8550275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8A94A6"/>
                </a:solidFill>
                <a:latin typeface="DM Sans"/>
              </a:rPr>
              <a:t>Single channel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56916" y="8550275"/>
            <a:ext cx="190500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8264B"/>
                </a:solidFill>
                <a:latin typeface="DM Sans"/>
              </a:rPr>
              <a:t>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85516" y="8550275"/>
            <a:ext cx="2829983" cy="135572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8F7F4"/>
                </a:solidFill>
                <a:latin typeface="DM Sans"/>
              </a:rPr>
              <a:t>Full D2C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85750"/>
            <a:ext cx="819150" cy="1905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763000" y="285750"/>
            <a:ext cx="769143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3000" y="285750"/>
            <a:ext cx="769143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REAL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1000" y="762000"/>
            <a:ext cx="9525000" cy="5467350"/>
          </a:xfrm>
          <a:prstGeom prst="roundRect">
            <a:avLst>
              <a:gd name="adj" fmla="val 12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209925"/>
            <a:ext cx="381000" cy="381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81000" y="3629025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Klaviyo / Shopify / GSC dashboard screenshot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7543800"/>
            <a:ext cx="9525000" cy="1257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1000" b="0" i="0" spc="-100">
                <a:solidFill>
                  <a:srgbClr val="E8264B"/>
                </a:solidFill>
                <a:latin typeface="Bebas Neue"/>
              </a:rPr>
              <a:t>$40M+ Tracked.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866775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8A94A6"/>
                </a:solidFill>
                <a:latin typeface="DM Sans"/>
              </a:rPr>
              <a:t>Real numbers. Real client accounts. Live dashboards, not slide decks.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809750" y="1809750"/>
            <a:ext cx="6667500" cy="6667500"/>
          </a:xfrm>
          <a:prstGeom prst="ellipse">
            <a:avLst/>
          </a:prstGeom>
          <a:solidFill>
            <a:srgbClr val="E8264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19100" cy="4191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53300" y="571500"/>
            <a:ext cx="24765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SORTED · ROLLING STATS · 05 FRAMES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1143000"/>
            <a:ext cx="93726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6400" b="0" i="0">
                <a:solidFill>
                  <a:srgbClr val="F8F7F4"/>
                </a:solidFill>
                <a:latin typeface="Bebas Neue"/>
              </a:rPr>
              <a:t>5 Rolling Stats.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905000"/>
            <a:ext cx="93726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IG Story carousel · 1080×1920 · five frames of proof.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667000"/>
            <a:ext cx="9372600" cy="1280160"/>
          </a:xfrm>
          <a:prstGeom prst="roundRect">
            <a:avLst>
              <a:gd name="adj" fmla="val 81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2667000"/>
            <a:ext cx="57150" cy="128016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278130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E8264B"/>
                </a:solidFill>
                <a:latin typeface="DM Sans"/>
              </a:rPr>
              <a:t>01 / 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3194685"/>
            <a:ext cx="4000500" cy="834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300" b="0" i="0" spc="-100">
                <a:solidFill>
                  <a:srgbClr val="E8264B"/>
                </a:solidFill>
                <a:latin typeface="Bebas Neue"/>
              </a:rPr>
              <a:t>100+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38700" y="2667000"/>
            <a:ext cx="476250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D2C BRANDS SCALED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061460"/>
            <a:ext cx="9372600" cy="1280160"/>
          </a:xfrm>
          <a:prstGeom prst="roundRect">
            <a:avLst>
              <a:gd name="adj" fmla="val 81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061460"/>
            <a:ext cx="57150" cy="128016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17576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E8264B"/>
                </a:solidFill>
                <a:latin typeface="DM Sans"/>
              </a:rPr>
              <a:t>02 / 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589145"/>
            <a:ext cx="4000500" cy="834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300" b="0" i="0" spc="-100">
                <a:solidFill>
                  <a:srgbClr val="E8264B"/>
                </a:solidFill>
                <a:latin typeface="Bebas Neue"/>
              </a:rPr>
              <a:t>$40M+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38700" y="4061460"/>
            <a:ext cx="476250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REVENUE TRACKED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455920"/>
            <a:ext cx="9372600" cy="1280160"/>
          </a:xfrm>
          <a:prstGeom prst="roundRect">
            <a:avLst>
              <a:gd name="adj" fmla="val 81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455920"/>
            <a:ext cx="57150" cy="128016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57022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E8264B"/>
                </a:solidFill>
                <a:latin typeface="DM Sans"/>
              </a:rPr>
              <a:t>03 / 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83604"/>
            <a:ext cx="4000500" cy="834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300" b="0" i="0" spc="-100">
                <a:solidFill>
                  <a:srgbClr val="E8264B"/>
                </a:solidFill>
                <a:latin typeface="Bebas Neue"/>
              </a:rPr>
              <a:t>4.5×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38700" y="5455920"/>
            <a:ext cx="476250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AVERAGE ROAS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6850380"/>
            <a:ext cx="9372600" cy="1280160"/>
          </a:xfrm>
          <a:prstGeom prst="roundRect">
            <a:avLst>
              <a:gd name="adj" fmla="val 81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6850380"/>
            <a:ext cx="57150" cy="128016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696468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E8264B"/>
                </a:solidFill>
                <a:latin typeface="DM Sans"/>
              </a:rPr>
              <a:t>04 / 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7378065"/>
            <a:ext cx="4000500" cy="834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300" b="0" i="0" spc="-100">
                <a:solidFill>
                  <a:srgbClr val="E8264B"/>
                </a:solidFill>
                <a:latin typeface="Bebas Neue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38700" y="6850380"/>
            <a:ext cx="476250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AI AGENTS DEPLOYED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8244840"/>
            <a:ext cx="9372600" cy="1280160"/>
          </a:xfrm>
          <a:prstGeom prst="roundRect">
            <a:avLst>
              <a:gd name="adj" fmla="val 81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8244840"/>
            <a:ext cx="57150" cy="128016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835914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00">
                <a:solidFill>
                  <a:srgbClr val="E8264B"/>
                </a:solidFill>
                <a:latin typeface="DM Sans"/>
              </a:rPr>
              <a:t>05 / 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8772525"/>
            <a:ext cx="4000500" cy="83439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300" b="0" i="0" spc="-100">
                <a:solidFill>
                  <a:srgbClr val="E8264B"/>
                </a:solidFill>
                <a:latin typeface="Bebas Neue"/>
              </a:rPr>
              <a:t>72hr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38700" y="8244840"/>
            <a:ext cx="4762500" cy="12801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800" b="1" i="0" spc="220">
                <a:solidFill>
                  <a:srgbClr val="F8F7F4"/>
                </a:solidFill>
                <a:latin typeface="DM Sans"/>
              </a:rPr>
              <a:t>KICKOFF TO LIVE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96774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B8C4D8"/>
                </a:solidFill>
                <a:latin typeface="DM Sans"/>
              </a:rPr>
              <a:t>SORTED.AGENCY</a:t>
            </a:r>
          </a:p>
        </p:txBody>
      </p:sp>
      <p:pic>
        <p:nvPicPr>
          <p:cNvPr id="68" name="Picture 67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4450" y="9620250"/>
            <a:ext cx="895350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