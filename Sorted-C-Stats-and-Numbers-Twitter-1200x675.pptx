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1430000" cy="64293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14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57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9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00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43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86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9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2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15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87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58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19100" y="457200"/>
            <a:ext cx="3810000" cy="133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220">
                <a:solidFill>
                  <a:srgbClr val="E8264B"/>
                </a:solidFill>
                <a:latin typeface="DM Sans"/>
              </a:rPr>
              <a:t>SORTED · BY THE NUMBERS</a:t>
            </a:r>
          </a:p>
        </p:txBody>
      </p:sp>
      <p:pic>
        <p:nvPicPr>
          <p:cNvPr id="34" name="Picture 33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5550" y="419100"/>
            <a:ext cx="895350" cy="20955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419100" y="895350"/>
            <a:ext cx="5219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19100" y="895350"/>
            <a:ext cx="5219700" cy="2243137"/>
          </a:xfrm>
          <a:prstGeom prst="roundRect">
            <a:avLst>
              <a:gd name="adj" fmla="val 1824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9100" y="895350"/>
            <a:ext cx="5219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1162050"/>
            <a:ext cx="4686300" cy="1047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0000" b="0" i="0" spc="-100">
                <a:solidFill>
                  <a:srgbClr val="E8264B"/>
                </a:solidFill>
                <a:latin typeface="Bebas Neue"/>
              </a:rPr>
              <a:t>100+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2833687"/>
            <a:ext cx="46863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8F7F4"/>
                </a:solidFill>
                <a:latin typeface="DM Sans"/>
              </a:rPr>
              <a:t>BRANDS SCALED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91200" y="895350"/>
            <a:ext cx="5219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791200" y="895350"/>
            <a:ext cx="5219700" cy="2243137"/>
          </a:xfrm>
          <a:prstGeom prst="roundRect">
            <a:avLst>
              <a:gd name="adj" fmla="val 1824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791200" y="895350"/>
            <a:ext cx="5219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57900" y="1162050"/>
            <a:ext cx="4686300" cy="1047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0000" b="0" i="0" spc="-100">
                <a:solidFill>
                  <a:srgbClr val="E8264B"/>
                </a:solidFill>
                <a:latin typeface="Bebas Neue"/>
              </a:rPr>
              <a:t>$40M+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57900" y="2833687"/>
            <a:ext cx="46863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8F7F4"/>
                </a:solidFill>
                <a:latin typeface="DM Sans"/>
              </a:rPr>
              <a:t>REVENUE TRACKED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9100" y="3290887"/>
            <a:ext cx="5219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19100" y="3290887"/>
            <a:ext cx="5219700" cy="2243137"/>
          </a:xfrm>
          <a:prstGeom prst="roundRect">
            <a:avLst>
              <a:gd name="adj" fmla="val 1824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9100" y="3290887"/>
            <a:ext cx="5219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3557587"/>
            <a:ext cx="4686300" cy="1047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0000" b="0" i="0" spc="-100">
                <a:solidFill>
                  <a:srgbClr val="E8264B"/>
                </a:solidFill>
                <a:latin typeface="Bebas Neue"/>
              </a:rPr>
              <a:t>4.5×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5229225"/>
            <a:ext cx="46863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8F7F4"/>
                </a:solidFill>
                <a:latin typeface="DM Sans"/>
              </a:rPr>
              <a:t>AVG ROAS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91200" y="3290887"/>
            <a:ext cx="5219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791200" y="3290887"/>
            <a:ext cx="5219700" cy="2243137"/>
          </a:xfrm>
          <a:prstGeom prst="roundRect">
            <a:avLst>
              <a:gd name="adj" fmla="val 1824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91200" y="3290887"/>
            <a:ext cx="5219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57900" y="3557587"/>
            <a:ext cx="4686300" cy="1047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0000" b="0" i="0" spc="-100">
                <a:solidFill>
                  <a:srgbClr val="E8264B"/>
                </a:solidFill>
                <a:latin typeface="Bebas Neue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57900" y="5229225"/>
            <a:ext cx="46863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8F7F4"/>
                </a:solidFill>
                <a:latin typeface="DM Sans"/>
              </a:rPr>
              <a:t>AI AGENTS</a:t>
            </a:r>
          </a:p>
        </p:txBody>
      </p:sp>
      <p:pic>
        <p:nvPicPr>
          <p:cNvPr id="55" name="Picture 54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150" y="5819775"/>
            <a:ext cx="28575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14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57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9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00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43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86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9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2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15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87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58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419100"/>
            <a:ext cx="895350" cy="20955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9486900" y="419100"/>
            <a:ext cx="1347787" cy="19050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86900" y="419100"/>
            <a:ext cx="1347787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F8F7F4"/>
                </a:solidFill>
                <a:latin typeface="DM Sans"/>
              </a:rPr>
              <a:t>REAL CLIENT ·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76399" y="2405062"/>
            <a:ext cx="1781175" cy="1781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7000" b="0" i="0" spc="-200">
                <a:solidFill>
                  <a:srgbClr val="8A94A6"/>
                </a:solidFill>
                <a:latin typeface="Bebas Neue"/>
              </a:rPr>
              <a:t>$0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648075" y="3133725"/>
            <a:ext cx="476250" cy="0"/>
          </a:xfrm>
          <a:prstGeom prst="line">
            <a:avLst/>
          </a:prstGeom>
          <a:ln w="508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086225" y="2962275"/>
            <a:ext cx="133350" cy="171450"/>
          </a:xfrm>
          <a:prstGeom prst="line">
            <a:avLst/>
          </a:prstGeom>
          <a:ln w="508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086225" y="3133725"/>
            <a:ext cx="133350" cy="171450"/>
          </a:xfrm>
          <a:prstGeom prst="line">
            <a:avLst/>
          </a:prstGeom>
          <a:ln w="508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410075" y="2405062"/>
            <a:ext cx="5343525" cy="1781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7000" b="0" i="0" spc="-200">
                <a:solidFill>
                  <a:srgbClr val="E8264B"/>
                </a:solidFill>
                <a:latin typeface="Bebas Neue"/>
              </a:rPr>
              <a:t>$17.9M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0" y="4291012"/>
            <a:ext cx="1143000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F8F7F4"/>
                </a:solidFill>
                <a:latin typeface="DM Sans"/>
              </a:rPr>
              <a:t>FROM EMAIL ALONE · 12 MONTHS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0" y="4557712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URC Beverages × Sorted · Klaviyo engagement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14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57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9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00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43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86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9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2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15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87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58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71500" y="3810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E8264B"/>
                </a:solidFill>
                <a:latin typeface="DM Sans"/>
              </a:rPr>
              <a:t>SORTED · LIVE TICKER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" y="590550"/>
            <a:ext cx="10287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7000" b="0" i="0">
                <a:solidFill>
                  <a:srgbClr val="F8F7F4"/>
                </a:solidFill>
                <a:latin typeface="Bebas Neue"/>
              </a:rPr>
              <a:t>The numbers don't lie.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1619250"/>
            <a:ext cx="66675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B8C4D8"/>
                </a:solidFill>
                <a:latin typeface="DM Sans"/>
              </a:rPr>
              <a:t>Live across 100+ D2C brands, measured against real dashboards — Shopify, Klaviyo, Meta, Google.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5476875"/>
            <a:ext cx="11430000" cy="9525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0" y="5724525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4000" b="0" i="0" spc="50">
                <a:solidFill>
                  <a:srgbClr val="F8F7F4"/>
                </a:solidFill>
                <a:latin typeface="Bebas Neue"/>
              </a:rPr>
              <a:t>100+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6750" y="59436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F8F7F4"/>
                </a:solidFill>
                <a:latin typeface="DM Sans"/>
              </a:rPr>
              <a:t>BRANDS</a:t>
            </a:r>
          </a:p>
        </p:txBody>
      </p:sp>
      <p:sp>
        <p:nvSpPr>
          <p:cNvPr id="39" name="Oval 38"/>
          <p:cNvSpPr/>
          <p:nvPr/>
        </p:nvSpPr>
        <p:spPr>
          <a:xfrm>
            <a:off x="1876425" y="5924550"/>
            <a:ext cx="57150" cy="57150"/>
          </a:xfrm>
          <a:prstGeom prst="ellipse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05000" y="5724525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4000" b="0" i="0" spc="50">
                <a:solidFill>
                  <a:srgbClr val="F8F7F4"/>
                </a:solidFill>
                <a:latin typeface="Bebas Neue"/>
              </a:rPr>
              <a:t>$40M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71750" y="59436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F8F7F4"/>
                </a:solidFill>
                <a:latin typeface="DM Sans"/>
              </a:rPr>
              <a:t>REVENUE</a:t>
            </a:r>
          </a:p>
        </p:txBody>
      </p:sp>
      <p:sp>
        <p:nvSpPr>
          <p:cNvPr id="42" name="Oval 41"/>
          <p:cNvSpPr/>
          <p:nvPr/>
        </p:nvSpPr>
        <p:spPr>
          <a:xfrm>
            <a:off x="3781425" y="5924550"/>
            <a:ext cx="57150" cy="57150"/>
          </a:xfrm>
          <a:prstGeom prst="ellipse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10000" y="5724525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4000" b="0" i="0" spc="50">
                <a:solidFill>
                  <a:srgbClr val="F8F7F4"/>
                </a:solidFill>
                <a:latin typeface="Bebas Neue"/>
              </a:rPr>
              <a:t>4.5×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76750" y="59436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F8F7F4"/>
                </a:solidFill>
                <a:latin typeface="DM Sans"/>
              </a:rPr>
              <a:t>ROAS</a:t>
            </a:r>
          </a:p>
        </p:txBody>
      </p:sp>
      <p:sp>
        <p:nvSpPr>
          <p:cNvPr id="45" name="Oval 44"/>
          <p:cNvSpPr/>
          <p:nvPr/>
        </p:nvSpPr>
        <p:spPr>
          <a:xfrm>
            <a:off x="5686425" y="5924550"/>
            <a:ext cx="57150" cy="57150"/>
          </a:xfrm>
          <a:prstGeom prst="ellipse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57900" y="572452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4000" b="0" i="0" spc="50">
                <a:solidFill>
                  <a:srgbClr val="F8F7F4"/>
                </a:solidFill>
                <a:latin typeface="Bebas Neue"/>
              </a:rP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1750" y="59436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F8F7F4"/>
                </a:solidFill>
                <a:latin typeface="DM Sans"/>
              </a:rPr>
              <a:t>AI AGENTS</a:t>
            </a:r>
          </a:p>
        </p:txBody>
      </p:sp>
      <p:sp>
        <p:nvSpPr>
          <p:cNvPr id="48" name="Oval 47"/>
          <p:cNvSpPr/>
          <p:nvPr/>
        </p:nvSpPr>
        <p:spPr>
          <a:xfrm>
            <a:off x="7591425" y="5924550"/>
            <a:ext cx="57150" cy="57150"/>
          </a:xfrm>
          <a:prstGeom prst="ellipse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20000" y="5724525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4000" b="0" i="0" spc="50">
                <a:solidFill>
                  <a:srgbClr val="F8F7F4"/>
                </a:solidFill>
                <a:latin typeface="Bebas Neue"/>
              </a:rPr>
              <a:t>72hr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6750" y="59436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F8F7F4"/>
                </a:solidFill>
                <a:latin typeface="DM Sans"/>
              </a:rPr>
              <a:t>DEPLOY</a:t>
            </a:r>
          </a:p>
        </p:txBody>
      </p:sp>
      <p:sp>
        <p:nvSpPr>
          <p:cNvPr id="51" name="Oval 50"/>
          <p:cNvSpPr/>
          <p:nvPr/>
        </p:nvSpPr>
        <p:spPr>
          <a:xfrm>
            <a:off x="9496425" y="5924550"/>
            <a:ext cx="57150" cy="57150"/>
          </a:xfrm>
          <a:prstGeom prst="ellipse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39300" y="5724525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4000" b="0" i="0" spc="50">
                <a:solidFill>
                  <a:srgbClr val="F8F7F4"/>
                </a:solidFill>
                <a:latin typeface="Bebas Neue"/>
              </a:rPr>
              <a:t>40%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91750" y="59436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F8F7F4"/>
                </a:solidFill>
                <a:latin typeface="DM Sans"/>
              </a:rPr>
              <a:t>COST REDUCTION</a:t>
            </a:r>
          </a:p>
        </p:txBody>
      </p:sp>
      <p:pic>
        <p:nvPicPr>
          <p:cNvPr id="54" name="Picture 53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3650" y="381000"/>
            <a:ext cx="8953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14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57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9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00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43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86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9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2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15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87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58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419100"/>
            <a:ext cx="895350" cy="209550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8572500" y="3571875"/>
            <a:ext cx="6667500" cy="6667500"/>
          </a:xfrm>
          <a:prstGeom prst="ellipse">
            <a:avLst/>
          </a:prstGeom>
          <a:solidFill>
            <a:srgbClr val="E8264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2000" y="1800225"/>
            <a:ext cx="495300" cy="495300"/>
          </a:xfrm>
          <a:prstGeom prst="ellipse">
            <a:avLst/>
          </a:prstGeom>
          <a:noFill/>
          <a:ln w="381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1009650" y="1874520"/>
            <a:ext cx="0" cy="173355"/>
          </a:xfrm>
          <a:prstGeom prst="line">
            <a:avLst/>
          </a:prstGeom>
          <a:ln w="381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09650" y="2047875"/>
            <a:ext cx="123825" cy="74295"/>
          </a:xfrm>
          <a:prstGeom prst="line">
            <a:avLst/>
          </a:prstGeom>
          <a:ln w="381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447800" y="1971675"/>
            <a:ext cx="5715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E8264B"/>
                </a:solidFill>
                <a:latin typeface="DM Sans"/>
              </a:rPr>
              <a:t>FROM KICKOFF TO LIVE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000" y="2428875"/>
            <a:ext cx="9906000" cy="2514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8000"/>
              </a:lnSpc>
            </a:pPr>
            <a:r>
              <a:rPr sz="24000" b="0" i="0" spc="-300">
                <a:solidFill>
                  <a:srgbClr val="F8F7F4"/>
                </a:solidFill>
                <a:latin typeface="Bebas Neue"/>
              </a:rPr>
              <a:t>72 Hours.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000" y="4772025"/>
            <a:ext cx="66675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B8C4D8"/>
                </a:solidFill>
                <a:latin typeface="DM Sans"/>
              </a:rPr>
              <a:t>Audit, strategy, creative, Klaviyo flows and live Meta campaigns. Not weeks. Not months. Three days.</a:t>
            </a:r>
          </a:p>
        </p:txBody>
      </p:sp>
      <p:pic>
        <p:nvPicPr>
          <p:cNvPr id="41" name="Picture 40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5667375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14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57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9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00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43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86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9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2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15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87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58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cxnSp>
        <p:nvCxnSpPr>
          <p:cNvPr id="34" name="Connector 33"/>
          <p:cNvCxnSpPr/>
          <p:nvPr/>
        </p:nvCxnSpPr>
        <p:spPr>
          <a:xfrm>
            <a:off x="952500" y="2643187"/>
            <a:ext cx="0" cy="1047750"/>
          </a:xfrm>
          <a:prstGeom prst="line">
            <a:avLst/>
          </a:prstGeom>
          <a:ln w="762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375" y="3452812"/>
            <a:ext cx="238125" cy="238125"/>
          </a:xfrm>
          <a:prstGeom prst="line">
            <a:avLst/>
          </a:prstGeom>
          <a:ln w="762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952500" y="3452812"/>
            <a:ext cx="238125" cy="238125"/>
          </a:xfrm>
          <a:prstGeom prst="line">
            <a:avLst/>
          </a:prstGeom>
          <a:ln w="762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809750" y="1785937"/>
            <a:ext cx="9048750" cy="1619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20">
                <a:solidFill>
                  <a:srgbClr val="E8264B"/>
                </a:solidFill>
                <a:latin typeface="DM Sans"/>
              </a:rPr>
              <a:t>VS TRADITIONAL AGENCY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09750" y="2014537"/>
            <a:ext cx="9048750" cy="1333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8000"/>
              </a:lnSpc>
            </a:pPr>
            <a:r>
              <a:rPr sz="13000" b="0" i="0" spc="-100">
                <a:solidFill>
                  <a:srgbClr val="E8264B"/>
                </a:solidFill>
                <a:latin typeface="Bebas Neue"/>
              </a:rPr>
              <a:t>40% Cost Reduction.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09750" y="3500437"/>
            <a:ext cx="6667500" cy="857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B8C4D8"/>
                </a:solidFill>
                <a:latin typeface="DM Sans"/>
              </a:rPr>
              <a:t>Via AI automation. Same outcomes, half the overhead. Peshwa Swarm replaces entire reporting departments.</a:t>
            </a:r>
          </a:p>
        </p:txBody>
      </p:sp>
      <p:pic>
        <p:nvPicPr>
          <p:cNvPr id="40" name="Picture 39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6100" y="5705475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14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57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9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00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43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86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9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2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15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87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58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85750"/>
            <a:ext cx="819150" cy="19050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9906000" y="285750"/>
            <a:ext cx="769143" cy="19050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06000" y="285750"/>
            <a:ext cx="769143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F8F7F4"/>
                </a:solidFill>
                <a:latin typeface="DM Sans"/>
              </a:rPr>
              <a:t>REAL 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1000" y="762000"/>
            <a:ext cx="10668000" cy="3343275"/>
          </a:xfrm>
          <a:prstGeom prst="roundRect">
            <a:avLst>
              <a:gd name="adj" fmla="val 1071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0" y="2147887"/>
            <a:ext cx="381000" cy="381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81000" y="2566987"/>
            <a:ext cx="10668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Klaviyo / Shopify / GSC dashboard screenshot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000" y="4695825"/>
            <a:ext cx="106680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8000" b="0" i="0" spc="-100">
                <a:solidFill>
                  <a:srgbClr val="E8264B"/>
                </a:solidFill>
                <a:latin typeface="Bebas Neue"/>
              </a:rPr>
              <a:t>$40M+ Tracked.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1000" y="5534025"/>
            <a:ext cx="106680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A94A6"/>
                </a:solidFill>
                <a:latin typeface="DM Sans"/>
              </a:rPr>
              <a:t>Real numbers. Real client accounts. Live dashboards, not slide decks.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