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10287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10858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11430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1200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1257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1314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1371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1428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1485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1543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1600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1657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1714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1771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715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1430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7145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2860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8575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4290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0005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5720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51435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57150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2865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8580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4295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80010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5725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1440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7155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381000" y="2552700"/>
            <a:ext cx="9525000" cy="9525000"/>
          </a:xfrm>
          <a:prstGeom prst="ellipse">
            <a:avLst/>
          </a:prstGeom>
          <a:solidFill>
            <a:srgbClr val="E8264B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6825" y="419100"/>
            <a:ext cx="981075" cy="228600"/>
          </a:xfrm>
          <a:prstGeom prst="rect">
            <a:avLst/>
          </a:prstGeom>
        </p:spPr>
      </p:pic>
      <p:pic>
        <p:nvPicPr>
          <p:cNvPr id="53" name="Picture 52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457200"/>
            <a:ext cx="419100" cy="41910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0" y="6524625"/>
            <a:ext cx="10287000" cy="5238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85000"/>
              </a:lnSpc>
            </a:pPr>
            <a:r>
              <a:rPr sz="50000" b="0" i="0" spc="-500">
                <a:solidFill>
                  <a:srgbClr val="E8264B"/>
                </a:solidFill>
                <a:latin typeface="Bebas Neue"/>
              </a:rPr>
              <a:t>4.5×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333500" y="11477625"/>
            <a:ext cx="7620000" cy="2476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2200" b="1" i="0" spc="220">
                <a:solidFill>
                  <a:srgbClr val="F8F7F4"/>
                </a:solidFill>
                <a:latin typeface="DM Sans"/>
              </a:rPr>
              <a:t>AVERAGE ROAS ACROSS 100+ D2C BRANDS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81000" y="17373600"/>
            <a:ext cx="2286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400" b="1" i="0" spc="220">
                <a:solidFill>
                  <a:srgbClr val="B8C4D8"/>
                </a:solidFill>
                <a:latin typeface="DM Sans"/>
              </a:rPr>
              <a:t>SORTED.AGENCY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