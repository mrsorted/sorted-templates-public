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01000" y="571500"/>
            <a:ext cx="1347787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571500"/>
            <a:ext cx="134778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CLIENT TESTIMONIAL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1238250"/>
            <a:ext cx="28575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70000"/>
              </a:lnSpc>
            </a:pPr>
            <a:r>
              <a:rPr sz="24000" b="0" i="0">
                <a:solidFill>
                  <a:srgbClr val="E8264B"/>
                </a:solidFill>
                <a:latin typeface="Bebas Neue"/>
              </a:rPr>
              <a:t>"</a:t>
            </a:r>
          </a:p>
        </p:txBody>
      </p:sp>
      <p:sp>
        <p:nvSpPr>
          <p:cNvPr id="41" name="Oval 40"/>
          <p:cNvSpPr/>
          <p:nvPr/>
        </p:nvSpPr>
        <p:spPr>
          <a:xfrm>
            <a:off x="571500" y="26670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9150" y="26670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6800" y="26670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14450" y="26670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62100" y="26670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" y="3067050"/>
            <a:ext cx="9144000" cy="4933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2800" b="0" i="1">
                <a:solidFill>
                  <a:srgbClr val="F8F7F4"/>
                </a:solidFill>
                <a:latin typeface="DM Sans"/>
              </a:rPr>
              <a:t>"They're incredibly ethical and go above and beyond to help you scale. One of the rare agencies that actually cares about your outcome."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71500" y="8667750"/>
            <a:ext cx="9144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71500" y="887730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" y="88773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Drop headshot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52550" y="8934450"/>
            <a:ext cx="779145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 spc="50">
                <a:solidFill>
                  <a:srgbClr val="F8F7F4"/>
                </a:solidFill>
                <a:latin typeface="Bebas Neue"/>
              </a:rPr>
              <a:t>Brandon Gil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52550" y="9201150"/>
            <a:ext cx="779145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President, Gil Ventures LLC</a:t>
            </a:r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89916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76250" y="476250"/>
            <a:ext cx="9334500" cy="9334500"/>
          </a:xfrm>
          <a:prstGeom prst="roundRect">
            <a:avLst>
              <a:gd name="adj" fmla="val 163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7750" y="1047750"/>
            <a:ext cx="2857500" cy="209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70000"/>
              </a:lnSpc>
            </a:pPr>
            <a:r>
              <a:rPr sz="22000" b="0" i="0">
                <a:solidFill>
                  <a:srgbClr val="E8264B"/>
                </a:solidFill>
                <a:latin typeface="Bebas Neue"/>
              </a:rPr>
              <a:t>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" y="2295525"/>
            <a:ext cx="8191500" cy="57054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3400" b="0" i="1">
                <a:solidFill>
                  <a:srgbClr val="F8F7F4"/>
                </a:solidFill>
                <a:latin typeface="DM Sans"/>
              </a:rPr>
              <a:t>Revenue tripled in 6 months. They rebuilt our entire growth engine from the ground up.</a:t>
            </a:r>
          </a:p>
        </p:txBody>
      </p:sp>
      <p:sp>
        <p:nvSpPr>
          <p:cNvPr id="40" name="Oval 39"/>
          <p:cNvSpPr/>
          <p:nvPr/>
        </p:nvSpPr>
        <p:spPr>
          <a:xfrm>
            <a:off x="1047750" y="8324850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7750" y="832485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Drop headshot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81200" y="8420100"/>
            <a:ext cx="61150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000" b="0" i="0" spc="50">
                <a:solidFill>
                  <a:srgbClr val="F8F7F4"/>
                </a:solidFill>
                <a:latin typeface="Bebas Neue"/>
              </a:rPr>
              <a:t>Avni Mehra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1200" y="8724900"/>
            <a:ext cx="611505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Founder, Leafmark Beauty</a:t>
            </a:r>
          </a:p>
        </p:txBody>
      </p:sp>
      <p:pic>
        <p:nvPicPr>
          <p:cNvPr id="44" name="Picture 4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8601075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6250" y="476250"/>
            <a:ext cx="3429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REAL MESSAGE · UNEDITED</a:t>
            </a:r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476250"/>
            <a:ext cx="819150" cy="19050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76250" y="952500"/>
            <a:ext cx="9334500" cy="8286750"/>
          </a:xfrm>
          <a:prstGeom prst="roundRect">
            <a:avLst>
              <a:gd name="adj" fmla="val 1428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2950" y="1219200"/>
            <a:ext cx="381000" cy="381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950" y="12192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8250" y="1238250"/>
            <a:ext cx="80200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Rahul Sen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8250" y="1428750"/>
            <a:ext cx="80200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active now · LinkedIn</a:t>
            </a:r>
          </a:p>
        </p:txBody>
      </p:sp>
      <p:sp>
        <p:nvSpPr>
          <p:cNvPr id="44" name="Oval 43"/>
          <p:cNvSpPr/>
          <p:nvPr/>
        </p:nvSpPr>
        <p:spPr>
          <a:xfrm>
            <a:off x="9353550" y="1371600"/>
            <a:ext cx="28575" cy="28575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10700" y="1371600"/>
            <a:ext cx="28575" cy="28575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67850" y="1371600"/>
            <a:ext cx="28575" cy="28575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42950" y="1733550"/>
            <a:ext cx="88011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2950" y="1905000"/>
            <a:ext cx="7477125" cy="800100"/>
          </a:xfrm>
          <a:prstGeom prst="roundRect">
            <a:avLst>
              <a:gd name="adj" fmla="val 1783"/>
            </a:avLst>
          </a:prstGeom>
          <a:solidFill>
            <a:srgbClr val="09182B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2038350"/>
            <a:ext cx="7134225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F8F7F4"/>
                </a:solidFill>
                <a:latin typeface="DM Sans"/>
              </a:rPr>
              <a:t>"Klaviyo went from 8% to 44% of revenue in a single quarter. I've never seen a team move this fast."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2800350"/>
            <a:ext cx="2476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12:42 PM · via LinkedIn  ✓✓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6250" y="9582150"/>
            <a:ext cx="8763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8A94A6"/>
                </a:solidFill>
                <a:latin typeface="DM Sans"/>
              </a:rPr>
              <a:t>CMO, URC BEVERAGES</a:t>
            </a:r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950" y="94869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91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19900" y="419100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100+ D2C BRANDS TRUST SORTED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9100" y="1047750"/>
            <a:ext cx="94488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2000"/>
              </a:lnSpc>
            </a:pPr>
            <a:r>
              <a:rPr sz="8400" b="0" i="0">
                <a:solidFill>
                  <a:srgbClr val="F8F7F4"/>
                </a:solidFill>
                <a:latin typeface="Bebas Neue"/>
              </a:rPr>
              <a:t>The Wall of Love.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9100" y="228600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19100" y="2286000"/>
            <a:ext cx="4657725" cy="2387600"/>
          </a:xfrm>
          <a:prstGeom prst="roundRect">
            <a:avLst>
              <a:gd name="adj" fmla="val 1635"/>
            </a:avLst>
          </a:prstGeom>
          <a:solidFill>
            <a:srgbClr val="09182B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9100" y="228600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2438400"/>
            <a:ext cx="4276725" cy="185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F8F7F4"/>
                </a:solidFill>
                <a:latin typeface="DM Sans"/>
              </a:rPr>
              <a:t>"They actually care about your outcome."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4387850"/>
            <a:ext cx="42767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8A94A6"/>
                </a:solidFill>
                <a:latin typeface="DM Sans"/>
              </a:rPr>
              <a:t>BRANDON GIL · GIL VENTURES LLC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0175" y="228600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10175" y="2286000"/>
            <a:ext cx="4657725" cy="2387600"/>
          </a:xfrm>
          <a:prstGeom prst="roundRect">
            <a:avLst>
              <a:gd name="adj" fmla="val 163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0175" y="228600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675" y="2438400"/>
            <a:ext cx="4276725" cy="185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F8F7F4"/>
                </a:solidFill>
                <a:latin typeface="DM Sans"/>
              </a:rPr>
              <a:t>"Revenue tripled in 6 months."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675" y="4387850"/>
            <a:ext cx="42767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8A94A6"/>
                </a:solidFill>
                <a:latin typeface="DM Sans"/>
              </a:rPr>
              <a:t>AVNI MEHRA · LEAFMARK BEAUTY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9100" y="480695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19100" y="4806950"/>
            <a:ext cx="4657725" cy="2387600"/>
          </a:xfrm>
          <a:prstGeom prst="roundRect">
            <a:avLst>
              <a:gd name="adj" fmla="val 1635"/>
            </a:avLst>
          </a:prstGeom>
          <a:solidFill>
            <a:srgbClr val="09182B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9100" y="480695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600" y="4959350"/>
            <a:ext cx="4276725" cy="185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F8F7F4"/>
                </a:solidFill>
                <a:latin typeface="DM Sans"/>
              </a:rPr>
              <a:t>"Klaviyo went from 8% to 44% of revenue."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6908799"/>
            <a:ext cx="42767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8A94A6"/>
                </a:solidFill>
                <a:latin typeface="DM Sans"/>
              </a:rPr>
              <a:t>RAHUL SEN · URC BEVERAGES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0175" y="480695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210175" y="4806950"/>
            <a:ext cx="4657725" cy="2387600"/>
          </a:xfrm>
          <a:prstGeom prst="roundRect">
            <a:avLst>
              <a:gd name="adj" fmla="val 163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10175" y="4806950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00675" y="4959350"/>
            <a:ext cx="4276725" cy="185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F8F7F4"/>
                </a:solidFill>
                <a:latin typeface="DM Sans"/>
              </a:rPr>
              <a:t>"Reports sharper than my internal team's."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0675" y="6908799"/>
            <a:ext cx="42767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8A94A6"/>
                </a:solidFill>
                <a:latin typeface="DM Sans"/>
              </a:rPr>
              <a:t>MIRA KAPOOR · HOMESTEAD COLLECTIVE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9100" y="7327899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19100" y="7327899"/>
            <a:ext cx="4657725" cy="2387600"/>
          </a:xfrm>
          <a:prstGeom prst="roundRect">
            <a:avLst>
              <a:gd name="adj" fmla="val 1635"/>
            </a:avLst>
          </a:prstGeom>
          <a:solidFill>
            <a:srgbClr val="09182B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9100" y="7327899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9600" y="7480299"/>
            <a:ext cx="4276725" cy="185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F8F7F4"/>
                </a:solidFill>
                <a:latin typeface="DM Sans"/>
              </a:rPr>
              <a:t>"4.8× ROAS sustained for 9 months."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9429749"/>
            <a:ext cx="42767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8A94A6"/>
                </a:solidFill>
                <a:latin typeface="DM Sans"/>
              </a:rPr>
              <a:t>DEV IYER · REV SCALE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0175" y="7327899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210175" y="7327899"/>
            <a:ext cx="4657725" cy="2387600"/>
          </a:xfrm>
          <a:prstGeom prst="roundRect">
            <a:avLst>
              <a:gd name="adj" fmla="val 163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10175" y="7327899"/>
            <a:ext cx="28575" cy="23876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00675" y="7480299"/>
            <a:ext cx="4276725" cy="185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F8F7F4"/>
                </a:solidFill>
                <a:latin typeface="DM Sans"/>
              </a:rPr>
              <a:t>"Caught a $40K/mo attribution error."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00675" y="9429749"/>
            <a:ext cx="42767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8A94A6"/>
                </a:solidFill>
                <a:latin typeface="DM Sans"/>
              </a:rPr>
              <a:t>SARA QURESHI · EZ MELTS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0" y="1333500"/>
            <a:ext cx="10287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TRUSTED 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15621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0000" b="0" i="0">
                <a:solidFill>
                  <a:srgbClr val="F8F7F4"/>
                </a:solidFill>
                <a:latin typeface="Bebas Neue"/>
              </a:rPr>
              <a:t>100+ D2C brands.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7250" y="30861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250" y="30861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URC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43237" y="30861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43237" y="30861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MIT Sloan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29225" y="30861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29225" y="30861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WHO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15212" y="30861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15212" y="30861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Rev Scale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7250" y="382905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250" y="382905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Surge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43237" y="382905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43237" y="382905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EZ Melts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29225" y="382905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29225" y="382905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Homestead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15212" y="382905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15212" y="382905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TFC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7250" y="45720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250" y="45720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Teplo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43237" y="45720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43237" y="45720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Free Range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29225" y="45720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29225" y="45720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Sent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15212" y="4572000"/>
            <a:ext cx="2014537" cy="571500"/>
          </a:xfrm>
          <a:prstGeom prst="roundRect">
            <a:avLst>
              <a:gd name="adj" fmla="val 2836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15212" y="4572000"/>
            <a:ext cx="20145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Explosive Whey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4857750"/>
            <a:ext cx="381000" cy="381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0" y="52768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video thumbnail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657850"/>
            <a:ext cx="10287000" cy="46291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4800"/>
            <a:ext cx="895350" cy="20955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8648700" y="304800"/>
            <a:ext cx="962025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8700" y="3048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CLIENT STORY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0" y="3954780"/>
            <a:ext cx="1143000" cy="11430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395478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5400" b="0" i="0">
                <a:solidFill>
                  <a:srgbClr val="F8F7F4"/>
                </a:solidFill>
                <a:latin typeface="DM Sans"/>
              </a:rPr>
              <a:t>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9315450"/>
            <a:ext cx="7010400" cy="377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 spc="50">
                <a:solidFill>
                  <a:srgbClr val="F8F7F4"/>
                </a:solidFill>
                <a:latin typeface="Bebas Neue"/>
              </a:rPr>
              <a:t>Mira Kapoor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4800" y="9696450"/>
            <a:ext cx="7010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Co-founder, Homestead Collective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5700" y="9791700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WATCH THEIR STORY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