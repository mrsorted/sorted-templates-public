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429500" y="-1905000"/>
            <a:ext cx="6667500" cy="6667500"/>
          </a:xfrm>
          <a:prstGeom prst="ellipse">
            <a:avLst/>
          </a:prstGeom>
          <a:solidFill>
            <a:srgbClr val="E8264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1500" y="571500"/>
            <a:ext cx="962025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571500"/>
            <a:ext cx="962025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CASE STUDY</a:t>
            </a:r>
          </a:p>
        </p:txBody>
      </p:sp>
      <p:pic>
        <p:nvPicPr>
          <p:cNvPr id="40" name="Picture 39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609600"/>
            <a:ext cx="1057275" cy="24765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71500" y="1257300"/>
            <a:ext cx="89773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" y="12573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D2C ·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2286000"/>
            <a:ext cx="6477000" cy="2476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22000" b="0" i="0" spc="-2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4476750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" y="4781550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URC Beverages · 12-month Klaviyo engagement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9000" y="2286000"/>
            <a:ext cx="2476500" cy="2857500"/>
          </a:xfrm>
          <a:prstGeom prst="roundRect">
            <a:avLst>
              <a:gd name="adj" fmla="val 40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3429000"/>
            <a:ext cx="381000" cy="381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39000" y="3848100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creative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" y="742950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1500" y="7429500"/>
            <a:ext cx="2946400" cy="1143000"/>
          </a:xfrm>
          <a:prstGeom prst="roundRect">
            <a:avLst>
              <a:gd name="adj" fmla="val 32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1500" y="742950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950" y="7562850"/>
            <a:ext cx="2603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28.2%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8286750"/>
            <a:ext cx="2603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GROWTH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0300" y="742950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670300" y="7429500"/>
            <a:ext cx="2946400" cy="1143000"/>
          </a:xfrm>
          <a:prstGeom prst="roundRect">
            <a:avLst>
              <a:gd name="adj" fmla="val 32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70300" y="742950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1750" y="7562850"/>
            <a:ext cx="2603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44%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1750" y="8286750"/>
            <a:ext cx="2603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 SHARE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9100" y="742950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769100" y="7429500"/>
            <a:ext cx="2946400" cy="1143000"/>
          </a:xfrm>
          <a:prstGeom prst="roundRect">
            <a:avLst>
              <a:gd name="adj" fmla="val 32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69100" y="742950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0550" y="7562850"/>
            <a:ext cx="2603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12 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0550" y="8286750"/>
            <a:ext cx="2603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ENGAGEMENT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1500" y="9315450"/>
            <a:ext cx="2392680" cy="400050"/>
          </a:xfrm>
          <a:prstGeom prst="roundRect">
            <a:avLst>
              <a:gd name="adj" fmla="val 2388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0" y="9315450"/>
            <a:ext cx="2011680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BOOK YOUR FREE AUDIT  →</a:t>
            </a:r>
          </a:p>
        </p:txBody>
      </p:sp>
      <p:pic>
        <p:nvPicPr>
          <p:cNvPr id="66" name="Picture 6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92583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5" y="457200"/>
            <a:ext cx="1057275" cy="247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4572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CASE STUDY · 2025</a:t>
            </a:r>
          </a:p>
        </p:txBody>
      </p:sp>
      <p:sp>
        <p:nvSpPr>
          <p:cNvPr id="40" name="Oval 39"/>
          <p:cNvSpPr/>
          <p:nvPr/>
        </p:nvSpPr>
        <p:spPr>
          <a:xfrm>
            <a:off x="7696200" y="45720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96200" y="4572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2667000"/>
            <a:ext cx="10287000" cy="400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36000" b="0" i="0" spc="-4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85800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72390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12 months · 1 client · Klaviyo</a:t>
            </a:r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410700"/>
            <a:ext cx="495300" cy="495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81000" y="9753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81075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2095500"/>
            <a:ext cx="4762500" cy="342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34000" b="0" i="0" spc="-3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5524500"/>
            <a:ext cx="4762500" cy="180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 i="0" spc="220">
                <a:solidFill>
                  <a:srgbClr val="F8F7F4"/>
                </a:solidFill>
                <a:latin typeface="DM Sans"/>
              </a:rPr>
              <a:t>AVERAGE ROAS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4500" y="2476500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B8C4D8"/>
                </a:solidFill>
                <a:latin typeface="DM Sans"/>
              </a:rPr>
              <a:t>Across 100+ D2C brands we've scaled since 2022.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24500" y="5143500"/>
            <a:ext cx="533400" cy="381000"/>
          </a:xfrm>
          <a:prstGeom prst="roundRect">
            <a:avLst>
              <a:gd name="adj" fmla="val 5357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86500" y="4762500"/>
            <a:ext cx="533400" cy="762000"/>
          </a:xfrm>
          <a:prstGeom prst="roundRect">
            <a:avLst>
              <a:gd name="adj" fmla="val 375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48500" y="4286250"/>
            <a:ext cx="533400" cy="1238250"/>
          </a:xfrm>
          <a:prstGeom prst="roundRect">
            <a:avLst>
              <a:gd name="adj" fmla="val 2307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10500" y="4000500"/>
            <a:ext cx="533400" cy="1524000"/>
          </a:xfrm>
          <a:prstGeom prst="roundRect">
            <a:avLst>
              <a:gd name="adj" fmla="val 1875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0" y="3714750"/>
            <a:ext cx="533400" cy="1809750"/>
          </a:xfrm>
          <a:prstGeom prst="roundRect">
            <a:avLst>
              <a:gd name="adj" fmla="val 1578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24500" y="56388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56388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8500" y="56388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0" y="56388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2500" y="5638800"/>
            <a:ext cx="533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NOW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1500" y="9505950"/>
            <a:ext cx="2209800" cy="3238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" y="9505950"/>
            <a:ext cx="220980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 spc="180">
                <a:solidFill>
                  <a:srgbClr val="E8264B"/>
                </a:solidFill>
                <a:latin typeface="DM Sans"/>
              </a:rPr>
              <a:t>$30M+ AD SPEND MANAGED</a:t>
            </a:r>
          </a:p>
        </p:txBody>
      </p:sp>
      <p:pic>
        <p:nvPicPr>
          <p:cNvPr id="53" name="Picture 5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4107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43500" y="762000"/>
            <a:ext cx="0" cy="8763000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2000" y="1143000"/>
            <a:ext cx="4191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8A94A6"/>
                </a:solidFill>
                <a:latin typeface="DM Sans"/>
              </a:rP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1333500"/>
            <a:ext cx="4191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>
                <a:solidFill>
                  <a:srgbClr val="8A94A6"/>
                </a:solidFill>
                <a:latin typeface="Bebas Neue"/>
              </a:rPr>
              <a:t>Before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" y="2667000"/>
            <a:ext cx="4191000" cy="2095500"/>
          </a:xfrm>
          <a:prstGeom prst="roundRect">
            <a:avLst>
              <a:gd name="adj" fmla="val 2727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429000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62000" y="3848100"/>
            <a:ext cx="4191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screenshot — before</a:t>
            </a:r>
          </a:p>
        </p:txBody>
      </p:sp>
      <p:sp>
        <p:nvSpPr>
          <p:cNvPr id="43" name="Oval 42"/>
          <p:cNvSpPr/>
          <p:nvPr/>
        </p:nvSpPr>
        <p:spPr>
          <a:xfrm>
            <a:off x="762000" y="5143500"/>
            <a:ext cx="209550" cy="209550"/>
          </a:xfrm>
          <a:prstGeom prst="ellipse">
            <a:avLst/>
          </a:prstGeom>
          <a:solidFill>
            <a:srgbClr val="0F2240"/>
          </a:solidFill>
          <a:ln w="63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5143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850" y="514350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2.1× ROAS · flatlining revenue</a:t>
            </a:r>
          </a:p>
        </p:txBody>
      </p:sp>
      <p:sp>
        <p:nvSpPr>
          <p:cNvPr id="46" name="Oval 45"/>
          <p:cNvSpPr/>
          <p:nvPr/>
        </p:nvSpPr>
        <p:spPr>
          <a:xfrm>
            <a:off x="762000" y="5619750"/>
            <a:ext cx="209550" cy="209550"/>
          </a:xfrm>
          <a:prstGeom prst="ellipse">
            <a:avLst/>
          </a:prstGeom>
          <a:solidFill>
            <a:srgbClr val="0F2240"/>
          </a:solidFill>
          <a:ln w="63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0" y="561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850" y="561975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Klaviyo at 8% of total revenue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0" y="1143000"/>
            <a:ext cx="4191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AFTER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24500" y="1333500"/>
            <a:ext cx="4191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>
                <a:solidFill>
                  <a:srgbClr val="E8264B"/>
                </a:solidFill>
                <a:latin typeface="Bebas Neue"/>
              </a:rPr>
              <a:t>After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24500" y="2667000"/>
            <a:ext cx="4191000" cy="2095500"/>
          </a:xfrm>
          <a:prstGeom prst="roundRect">
            <a:avLst>
              <a:gd name="adj" fmla="val 2727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3429000"/>
            <a:ext cx="381000" cy="381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24500" y="3848100"/>
            <a:ext cx="4191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screenshot — after</a:t>
            </a:r>
          </a:p>
        </p:txBody>
      </p:sp>
      <p:sp>
        <p:nvSpPr>
          <p:cNvPr id="54" name="Oval 53"/>
          <p:cNvSpPr/>
          <p:nvPr/>
        </p:nvSpPr>
        <p:spPr>
          <a:xfrm>
            <a:off x="5524500" y="51435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24500" y="5143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8350" y="514350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4.8× ROAS · sustained 9 months</a:t>
            </a:r>
          </a:p>
        </p:txBody>
      </p:sp>
      <p:sp>
        <p:nvSpPr>
          <p:cNvPr id="57" name="Oval 56"/>
          <p:cNvSpPr/>
          <p:nvPr/>
        </p:nvSpPr>
        <p:spPr>
          <a:xfrm>
            <a:off x="5524500" y="561975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24500" y="561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8350" y="561975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Klaviyo at 44% of total revenue</a:t>
            </a:r>
          </a:p>
        </p:txBody>
      </p:sp>
      <p:pic>
        <p:nvPicPr>
          <p:cNvPr id="60" name="Picture 59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61" name="Picture 60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100" y="956310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-1905000" y="6477000"/>
            <a:ext cx="7620000" cy="76200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5" y="457200"/>
            <a:ext cx="1057275" cy="24765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95300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0" y="2286000"/>
            <a:ext cx="10287000" cy="533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54000" b="0" i="0" spc="-600">
                <a:solidFill>
                  <a:srgbClr val="E8264B"/>
                </a:solidFill>
                <a:latin typeface="Bebas Neue"/>
              </a:rPr>
              <a:t>718%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70485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1" i="0" spc="220">
                <a:solidFill>
                  <a:srgbClr val="F8F7F4"/>
                </a:solidFill>
                <a:latin typeface="DM Sans"/>
              </a:rPr>
              <a:t>REVENUE GROWTH ·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742950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Homestead Collective · Meta + Google + Klaviyo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9753600"/>
            <a:ext cx="2286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SWIPE TO SEE HOW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382000" y="381000"/>
            <a:ext cx="1033462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2000" y="381000"/>
            <a:ext cx="1033462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SHOPIFY WIN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1000" y="1047750"/>
            <a:ext cx="9525000" cy="34290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476500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1000" y="28956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Shopify dashboard screenshot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4762500"/>
            <a:ext cx="571500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8000" b="0" i="0" spc="-200">
                <a:solidFill>
                  <a:srgbClr val="E8264B"/>
                </a:solidFill>
                <a:latin typeface="Bebas Neue"/>
              </a:rPr>
              <a:t>$1.45M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64770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8F7F4"/>
                </a:solidFill>
                <a:latin typeface="DM Sans"/>
              </a:rPr>
              <a:t>SHOPIFY SALES · 90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000" y="85725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1000" y="8572500"/>
            <a:ext cx="3086100" cy="1143000"/>
          </a:xfrm>
          <a:prstGeom prst="roundRect">
            <a:avLst>
              <a:gd name="adj" fmla="val 308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1000" y="85725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450" y="8705850"/>
            <a:ext cx="27432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27K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" y="942975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ORDERS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450" y="85725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00450" y="8572500"/>
            <a:ext cx="3086100" cy="1143000"/>
          </a:xfrm>
          <a:prstGeom prst="roundRect">
            <a:avLst>
              <a:gd name="adj" fmla="val 308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00450" y="85725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71900" y="8705850"/>
            <a:ext cx="27432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22.96%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71900" y="942975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RETURN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9900" y="85725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819900" y="8572500"/>
            <a:ext cx="3086100" cy="1143000"/>
          </a:xfrm>
          <a:prstGeom prst="roundRect">
            <a:avLst>
              <a:gd name="adj" fmla="val 308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19900" y="85725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1350" y="8705850"/>
            <a:ext cx="27432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+25%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1350" y="942975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YOY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0"/>
            <a:ext cx="10287000" cy="381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1000" y="381000"/>
            <a:ext cx="3810000" cy="95250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4857750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1000" y="52768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headshot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6750" y="571500"/>
            <a:ext cx="5334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CASE STUDY: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6750" y="952500"/>
            <a:ext cx="533400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3× revenue</a:t>
            </a:r>
          </a:p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in 90 days.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285750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B8C4D8"/>
                </a:solidFill>
                <a:latin typeface="DM Sans"/>
              </a:rPr>
              <a:t>"Sorted rebuilt our growth engine from the ground up. Every week felt like a year of progress."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6750" y="3810000"/>
            <a:ext cx="5334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— Avni Mehra · Founder, Leafmark Beauty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76750" y="8001000"/>
            <a:ext cx="17081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76750" y="8001000"/>
            <a:ext cx="1708150" cy="1143000"/>
          </a:xfrm>
          <a:prstGeom prst="roundRect">
            <a:avLst>
              <a:gd name="adj" fmla="val 557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76750" y="8001000"/>
            <a:ext cx="17081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8200" y="8134350"/>
            <a:ext cx="136525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3.1×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8200" y="8858250"/>
            <a:ext cx="13652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37300" y="8001000"/>
            <a:ext cx="17081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37300" y="8001000"/>
            <a:ext cx="1708150" cy="1143000"/>
          </a:xfrm>
          <a:prstGeom prst="roundRect">
            <a:avLst>
              <a:gd name="adj" fmla="val 557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37300" y="8001000"/>
            <a:ext cx="17081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08750" y="8134350"/>
            <a:ext cx="136525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41%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8750" y="8858250"/>
            <a:ext cx="13652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EMAIL SHARE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97850" y="8001000"/>
            <a:ext cx="17081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97850" y="8001000"/>
            <a:ext cx="1708150" cy="1143000"/>
          </a:xfrm>
          <a:prstGeom prst="roundRect">
            <a:avLst>
              <a:gd name="adj" fmla="val 557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97850" y="8001000"/>
            <a:ext cx="17081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9300" y="8134350"/>
            <a:ext cx="136525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5.2×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9300" y="8858250"/>
            <a:ext cx="13652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ROAS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6750" y="96202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READ FULL CASE →</a:t>
            </a:r>
          </a:p>
        </p:txBody>
      </p:sp>
      <p:pic>
        <p:nvPicPr>
          <p:cNvPr id="61" name="Picture 60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9696450"/>
            <a:ext cx="8191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1000" y="381000"/>
            <a:ext cx="9525000" cy="59055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048000"/>
            <a:ext cx="381000" cy="381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1000" y="34671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screenshot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6667500"/>
            <a:ext cx="6096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1000" b="0" i="0" spc="-100">
                <a:solidFill>
                  <a:srgbClr val="E8264B"/>
                </a:solidFill>
                <a:latin typeface="Bebas Neue"/>
              </a:rPr>
              <a:t>+$892K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7905750"/>
            <a:ext cx="6096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Email revenue, 30 days. Real client dashboard.</a:t>
            </a:r>
          </a:p>
        </p:txBody>
      </p:sp>
      <p:pic>
        <p:nvPicPr>
          <p:cNvPr id="42" name="Picture 41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8953500"/>
            <a:ext cx="895350" cy="209550"/>
          </a:xfrm>
          <a:prstGeom prst="rect">
            <a:avLst/>
          </a:prstGeom>
        </p:spPr>
      </p:pic>
      <p:pic>
        <p:nvPicPr>
          <p:cNvPr id="43" name="Picture 42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89535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77000" y="-2857500"/>
            <a:ext cx="8572500" cy="8572500"/>
          </a:xfrm>
          <a:prstGeom prst="ellipse">
            <a:avLst/>
          </a:prstGeom>
          <a:solidFill>
            <a:srgbClr val="E8264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-2381250" y="6477000"/>
            <a:ext cx="7620000" cy="7620000"/>
          </a:xfrm>
          <a:prstGeom prst="ellipse">
            <a:avLst/>
          </a:prstGeom>
          <a:solidFill>
            <a:srgbClr val="E8264B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7200"/>
            <a:ext cx="1905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E8264B"/>
                </a:solidFill>
                <a:latin typeface="Bebas Neue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112395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pic>
        <p:nvPicPr>
          <p:cNvPr id="41" name="Picture 40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57200"/>
            <a:ext cx="895350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1500" y="2095500"/>
            <a:ext cx="3810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SORTED 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2381250"/>
            <a:ext cx="9144000" cy="457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4000" b="0" i="0" spc="-200">
                <a:solidFill>
                  <a:srgbClr val="F8F7F4"/>
                </a:solidFill>
                <a:latin typeface="Bebas Neue"/>
              </a:rPr>
              <a:t>How we 3×'d</a:t>
            </a:r>
          </a:p>
          <a:p>
            <a:pPr algn="l">
              <a:lnSpc>
                <a:spcPct val="88000"/>
              </a:lnSpc>
            </a:pPr>
            <a:r>
              <a:rPr sz="14000" b="0" i="0" spc="-200">
                <a:solidFill>
                  <a:srgbClr val="F8F7F4"/>
                </a:solidFill>
                <a:latin typeface="Bebas Neue"/>
              </a:rPr>
              <a:t>a D2C brand</a:t>
            </a:r>
          </a:p>
          <a:p>
            <a:pPr algn="l">
              <a:lnSpc>
                <a:spcPct val="88000"/>
              </a:lnSpc>
            </a:pPr>
            <a:r>
              <a:rPr sz="14000" b="0" i="0" spc="-200">
                <a:solidFill>
                  <a:srgbClr val="F8F7F4"/>
                </a:solidFill>
                <a:latin typeface="Bebas Neue"/>
              </a:rPr>
              <a:t>in 90 days.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95250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SWIPE →</a:t>
            </a:r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4107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8A94A6"/>
                </a:solidFill>
                <a:latin typeface="Bebas Neue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0287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pic>
        <p:nvPicPr>
          <p:cNvPr id="39" name="Picture 38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57200"/>
            <a:ext cx="89535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1500" y="2095500"/>
            <a:ext cx="3810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THE PROBLEM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2381250"/>
            <a:ext cx="9144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E8264B"/>
                </a:solidFill>
                <a:latin typeface="Bebas Neue"/>
              </a:rPr>
              <a:t>The problem.</a:t>
            </a:r>
          </a:p>
        </p:txBody>
      </p:sp>
      <p:sp>
        <p:nvSpPr>
          <p:cNvPr id="42" name="Oval 41"/>
          <p:cNvSpPr/>
          <p:nvPr/>
        </p:nvSpPr>
        <p:spPr>
          <a:xfrm>
            <a:off x="571500" y="4381500"/>
            <a:ext cx="285750" cy="285750"/>
          </a:xfrm>
          <a:prstGeom prst="ellipse">
            <a:avLst/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" y="43815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8264B"/>
                </a:solidFill>
                <a:latin typeface="DM Sans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" y="4362450"/>
            <a:ext cx="8686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$180K/mo spend, 1.9× ROAS.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" y="4686300"/>
            <a:ext cx="86868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Meta campaigns were bleeding cash on broad audiences with no creative testing cadence.</a:t>
            </a:r>
          </a:p>
        </p:txBody>
      </p:sp>
      <p:sp>
        <p:nvSpPr>
          <p:cNvPr id="46" name="Oval 45"/>
          <p:cNvSpPr/>
          <p:nvPr/>
        </p:nvSpPr>
        <p:spPr>
          <a:xfrm>
            <a:off x="571500" y="5619750"/>
            <a:ext cx="285750" cy="285750"/>
          </a:xfrm>
          <a:prstGeom prst="ellipse">
            <a:avLst/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56197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8264B"/>
                </a:solidFill>
                <a:latin typeface="DM Sans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" y="5600700"/>
            <a:ext cx="8686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Klaviyo at 7% of revenue.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" y="5924550"/>
            <a:ext cx="86868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Only a Welcome series live. No Browse, no Cart, no Win-Back. Leaving 30%+ of revenue on the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8A94A6"/>
                </a:solidFill>
                <a:latin typeface="Bebas Neue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0287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pic>
        <p:nvPicPr>
          <p:cNvPr id="39" name="Picture 38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57200"/>
            <a:ext cx="89535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1500" y="2095500"/>
            <a:ext cx="3810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WHAT WE DID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2381250"/>
            <a:ext cx="9144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What we did.</a:t>
            </a:r>
          </a:p>
        </p:txBody>
      </p:sp>
      <p:sp>
        <p:nvSpPr>
          <p:cNvPr id="42" name="Oval 41"/>
          <p:cNvSpPr/>
          <p:nvPr/>
        </p:nvSpPr>
        <p:spPr>
          <a:xfrm>
            <a:off x="571500" y="4381500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" y="4381500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 spc="120">
                <a:solidFill>
                  <a:srgbClr val="F8F7F4"/>
                </a:solidFill>
                <a:latin typeface="Bebas Neue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7300" y="4400550"/>
            <a:ext cx="8458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Rebuilt Meta account structure.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7300" y="4686300"/>
            <a:ext cx="8458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Campaign consolidation, Advantage+, creative testing framework live in 10 days.</a:t>
            </a:r>
          </a:p>
        </p:txBody>
      </p:sp>
      <p:sp>
        <p:nvSpPr>
          <p:cNvPr id="46" name="Oval 45"/>
          <p:cNvSpPr/>
          <p:nvPr/>
        </p:nvSpPr>
        <p:spPr>
          <a:xfrm>
            <a:off x="571500" y="5619750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5619750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 spc="120">
                <a:solidFill>
                  <a:srgbClr val="F8F7F4"/>
                </a:solidFill>
                <a:latin typeface="Bebas Neue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7300" y="5638800"/>
            <a:ext cx="8458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Deployed 7 Klaviyo flows.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7300" y="5924550"/>
            <a:ext cx="8458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Welcome · Browse · Cart · Post-Purchase · Win-Back · VIP · Sunset — all split-tested.</a:t>
            </a:r>
          </a:p>
        </p:txBody>
      </p:sp>
      <p:sp>
        <p:nvSpPr>
          <p:cNvPr id="50" name="Oval 49"/>
          <p:cNvSpPr/>
          <p:nvPr/>
        </p:nvSpPr>
        <p:spPr>
          <a:xfrm>
            <a:off x="571500" y="6858000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" y="6858000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 spc="120">
                <a:solidFill>
                  <a:srgbClr val="F8F7F4"/>
                </a:solidFill>
                <a:latin typeface="Bebas Neue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7300" y="6877050"/>
            <a:ext cx="8458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Peshwa Swarm on reporting.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57300" y="7162800"/>
            <a:ext cx="8458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9 AI agents pulling daily Shopify + Klaviyo + Meta data into a live founder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E8264B"/>
                </a:solidFill>
                <a:latin typeface="Bebas Neue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0287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sp>
        <p:nvSpPr>
          <p:cNvPr id="40" name="Oval 39"/>
          <p:cNvSpPr/>
          <p:nvPr/>
        </p:nvSpPr>
        <p:spPr>
          <a:xfrm>
            <a:off x="9296400" y="457200"/>
            <a:ext cx="533400" cy="5334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6400" y="45720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3429000"/>
            <a:ext cx="10287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THE 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3714750"/>
            <a:ext cx="10287000" cy="30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26000" b="0" i="0" spc="-300">
                <a:solidFill>
                  <a:srgbClr val="E8264B"/>
                </a:solidFill>
                <a:latin typeface="Bebas Neue"/>
              </a:rPr>
              <a:t>3.1×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477000"/>
            <a:ext cx="10287000" cy="180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 i="0" spc="220">
                <a:solidFill>
                  <a:srgbClr val="F8F7F4"/>
                </a:solidFill>
                <a:latin typeface="DM Sans"/>
              </a:rPr>
              <a:t>REVENUE · 90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" y="7429500"/>
            <a:ext cx="7239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B8C4D8"/>
                </a:solidFill>
                <a:latin typeface="DM Sans"/>
              </a:rPr>
              <a:t>Want this for your brand?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57625" y="8096250"/>
            <a:ext cx="2492121" cy="495300"/>
          </a:xfrm>
          <a:prstGeom prst="roundRect">
            <a:avLst>
              <a:gd name="adj" fmla="val 2293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05275" y="8096250"/>
            <a:ext cx="199682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 spc="140">
                <a:solidFill>
                  <a:srgbClr val="F8F7F4"/>
                </a:solidFill>
                <a:latin typeface="DM Sans"/>
              </a:rPr>
              <a:t>BOOK A FREE AUDIT  →</a:t>
            </a:r>
          </a:p>
        </p:txBody>
      </p:sp>
      <p:pic>
        <p:nvPicPr>
          <p:cNvPr id="48" name="Picture 4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971550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