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1430000" cy="64293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14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57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9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00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43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86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9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2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15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87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58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572500" y="-1905000"/>
            <a:ext cx="6667500" cy="6667500"/>
          </a:xfrm>
          <a:prstGeom prst="ellipse">
            <a:avLst/>
          </a:prstGeom>
          <a:solidFill>
            <a:srgbClr val="E8264B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81000" y="381000"/>
            <a:ext cx="833437" cy="19050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1000" y="381000"/>
            <a:ext cx="833437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F8F7F4"/>
                </a:solidFill>
                <a:latin typeface="DM Sans"/>
              </a:rPr>
              <a:t>CASE STUDY</a:t>
            </a:r>
          </a:p>
        </p:txBody>
      </p:sp>
      <p:pic>
        <p:nvPicPr>
          <p:cNvPr id="36" name="Picture 35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00" y="419100"/>
            <a:ext cx="819150" cy="19050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381000" y="914400"/>
            <a:ext cx="897731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1000" y="914400"/>
            <a:ext cx="897731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8A94A6"/>
                </a:solidFill>
                <a:latin typeface="DM Sans"/>
              </a:rPr>
              <a:t>D2C · EMAIL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000" y="1745456"/>
            <a:ext cx="8458200" cy="142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5000"/>
              </a:lnSpc>
            </a:pPr>
            <a:r>
              <a:rPr sz="15000" b="0" i="0" spc="-200">
                <a:solidFill>
                  <a:srgbClr val="E8264B"/>
                </a:solidFill>
                <a:latin typeface="Bebas Neue"/>
              </a:rPr>
              <a:t>$17.9M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1000" y="3269456"/>
            <a:ext cx="6477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F8F7F4"/>
                </a:solidFill>
                <a:latin typeface="DM Sans"/>
              </a:rPr>
              <a:t>ATTRIBUTED EMAIL REVENUE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1000" y="3440906"/>
            <a:ext cx="6477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4A6"/>
                </a:solidFill>
                <a:latin typeface="DM Sans"/>
              </a:rPr>
              <a:t>URC Beverages · 12-month Klaviyo engagement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0" y="1238250"/>
            <a:ext cx="1905000" cy="3381375"/>
          </a:xfrm>
          <a:prstGeom prst="roundRect">
            <a:avLst>
              <a:gd name="adj" fmla="val 3380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0" y="2643187"/>
            <a:ext cx="381000" cy="3810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144000" y="3062287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client creative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1000" y="4143375"/>
            <a:ext cx="34544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81000" y="4143375"/>
            <a:ext cx="3454400" cy="857250"/>
          </a:xfrm>
          <a:prstGeom prst="roundRect">
            <a:avLst>
              <a:gd name="adj" fmla="val 2757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1000" y="4143375"/>
            <a:ext cx="34544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2450" y="4276725"/>
            <a:ext cx="3111500" cy="4714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3100" b="0" i="0">
                <a:solidFill>
                  <a:srgbClr val="E8264B"/>
                </a:solidFill>
                <a:latin typeface="Bebas Neue"/>
              </a:rPr>
              <a:t>28.2%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2450" y="4714875"/>
            <a:ext cx="3111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GROWTH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87800" y="4143375"/>
            <a:ext cx="34544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987800" y="4143375"/>
            <a:ext cx="3454400" cy="857250"/>
          </a:xfrm>
          <a:prstGeom prst="roundRect">
            <a:avLst>
              <a:gd name="adj" fmla="val 2757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987800" y="4143375"/>
            <a:ext cx="34544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59250" y="4276725"/>
            <a:ext cx="3111500" cy="4714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3100" b="0" i="0">
                <a:solidFill>
                  <a:srgbClr val="E8264B"/>
                </a:solidFill>
                <a:latin typeface="Bebas Neue"/>
              </a:rPr>
              <a:t>44%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59250" y="4714875"/>
            <a:ext cx="3111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REVENUE SHARE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94600" y="4143375"/>
            <a:ext cx="34544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594600" y="4143375"/>
            <a:ext cx="3454400" cy="857250"/>
          </a:xfrm>
          <a:prstGeom prst="roundRect">
            <a:avLst>
              <a:gd name="adj" fmla="val 2757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594600" y="4143375"/>
            <a:ext cx="34544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66050" y="4276725"/>
            <a:ext cx="3111500" cy="4714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3100" b="0" i="0">
                <a:solidFill>
                  <a:srgbClr val="E8264B"/>
                </a:solidFill>
                <a:latin typeface="Bebas Neue"/>
              </a:rPr>
              <a:t>12 MO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66050" y="4714875"/>
            <a:ext cx="3111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ENGAGEMENT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81000" y="5648325"/>
            <a:ext cx="2019300" cy="323850"/>
          </a:xfrm>
          <a:prstGeom prst="roundRect">
            <a:avLst>
              <a:gd name="adj" fmla="val 283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3400" y="5648325"/>
            <a:ext cx="1714500" cy="3238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000" b="1" i="0" spc="140">
                <a:solidFill>
                  <a:srgbClr val="F8F7F4"/>
                </a:solidFill>
                <a:latin typeface="DM Sans"/>
              </a:rPr>
              <a:t>BOOK YOUR FREE AUDIT  →</a:t>
            </a:r>
          </a:p>
        </p:txBody>
      </p:sp>
      <p:pic>
        <p:nvPicPr>
          <p:cNvPr id="62" name="Picture 61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6100" y="5705475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14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57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9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00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43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86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9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2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15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87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58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733425" cy="1714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71500" y="1607343"/>
            <a:ext cx="4572000" cy="2095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5000"/>
              </a:lnSpc>
            </a:pPr>
            <a:r>
              <a:rPr sz="20000" b="0" i="0" spc="-300">
                <a:solidFill>
                  <a:srgbClr val="E8264B"/>
                </a:solidFill>
                <a:latin typeface="Bebas Neue"/>
              </a:rPr>
              <a:t>4.5×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3417093"/>
            <a:ext cx="4572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F8F7F4"/>
                </a:solidFill>
                <a:latin typeface="DM Sans"/>
              </a:rPr>
              <a:t>AVERAGE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05500" y="1800225"/>
            <a:ext cx="4953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B8C4D8"/>
                </a:solidFill>
                <a:latin typeface="DM Sans"/>
              </a:rPr>
              <a:t>Across 100+ D2C brands we've scaled since 2022.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05500" y="4397692"/>
            <a:ext cx="555625" cy="424338"/>
          </a:xfrm>
          <a:prstGeom prst="roundRect">
            <a:avLst>
              <a:gd name="adj" fmla="val 5142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05500" y="4917281"/>
            <a:ext cx="55562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000" b="0" i="0" spc="120">
                <a:solidFill>
                  <a:srgbClr val="8A94A6"/>
                </a:solidFill>
                <a:latin typeface="DM Sans"/>
              </a:rPr>
              <a:t>Q1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99250" y="4011930"/>
            <a:ext cx="555625" cy="810101"/>
          </a:xfrm>
          <a:prstGeom prst="roundRect">
            <a:avLst>
              <a:gd name="adj" fmla="val 3527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99250" y="4917281"/>
            <a:ext cx="55562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000" b="0" i="0" spc="120">
                <a:solidFill>
                  <a:srgbClr val="8A94A6"/>
                </a:solidFill>
                <a:latin typeface="DM Sans"/>
              </a:rPr>
              <a:t>Q2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3000" y="3549015"/>
            <a:ext cx="555625" cy="1273016"/>
          </a:xfrm>
          <a:prstGeom prst="roundRect">
            <a:avLst>
              <a:gd name="adj" fmla="val 2244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3000" y="4917281"/>
            <a:ext cx="55562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000" b="0" i="0" spc="120">
                <a:solidFill>
                  <a:srgbClr val="8A94A6"/>
                </a:solidFill>
                <a:latin typeface="DM Sans"/>
              </a:rPr>
              <a:t>Q3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86750" y="3240405"/>
            <a:ext cx="555625" cy="1581626"/>
          </a:xfrm>
          <a:prstGeom prst="roundRect">
            <a:avLst>
              <a:gd name="adj" fmla="val 1806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86750" y="4917281"/>
            <a:ext cx="55562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000" b="0" i="0" spc="120">
                <a:solidFill>
                  <a:srgbClr val="8A94A6"/>
                </a:solidFill>
                <a:latin typeface="DM Sans"/>
              </a:rPr>
              <a:t>Q4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80500" y="2893218"/>
            <a:ext cx="555625" cy="1928812"/>
          </a:xfrm>
          <a:prstGeom prst="roundRect">
            <a:avLst>
              <a:gd name="adj" fmla="val 1481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80500" y="4917281"/>
            <a:ext cx="55562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000" b="0" i="0" spc="120">
                <a:solidFill>
                  <a:srgbClr val="8A94A6"/>
                </a:solidFill>
                <a:latin typeface="DM Sans"/>
              </a:rPr>
              <a:t>NOW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1500" y="5648325"/>
            <a:ext cx="1819275" cy="2476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1500" y="5648325"/>
            <a:ext cx="1819275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000" b="1" i="0" spc="180">
                <a:solidFill>
                  <a:srgbClr val="E8264B"/>
                </a:solidFill>
                <a:latin typeface="DM Sans"/>
              </a:rPr>
              <a:t>$30M+ AD SPEND MANAGED</a:t>
            </a:r>
          </a:p>
        </p:txBody>
      </p:sp>
      <p:pic>
        <p:nvPicPr>
          <p:cNvPr id="49" name="Picture 48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950" y="5648325"/>
            <a:ext cx="323850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14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57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9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00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43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86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9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2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15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87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58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733425" cy="17145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9525000" y="381000"/>
            <a:ext cx="897731" cy="19050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25000" y="381000"/>
            <a:ext cx="897731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F8F7F4"/>
                </a:solidFill>
                <a:latin typeface="DM Sans"/>
              </a:rPr>
              <a:t>SHOPIFY WIN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1000" y="1047750"/>
            <a:ext cx="10668000" cy="1905000"/>
          </a:xfrm>
          <a:prstGeom prst="roundRect">
            <a:avLst>
              <a:gd name="adj" fmla="val 1071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0" y="1714500"/>
            <a:ext cx="381000" cy="381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81000" y="2133600"/>
            <a:ext cx="10668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Shopify dashboard screenshot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000" y="3238500"/>
            <a:ext cx="5715000" cy="1257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2000" b="0" i="0" spc="-200">
                <a:solidFill>
                  <a:srgbClr val="E8264B"/>
                </a:solidFill>
                <a:latin typeface="Bebas Neue"/>
              </a:rPr>
              <a:t>$1.45M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1000" y="4324350"/>
            <a:ext cx="5715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F8F7F4"/>
                </a:solidFill>
                <a:latin typeface="DM Sans"/>
              </a:rPr>
              <a:t>SHOPIFY SALES · 90 DAYS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1000" y="5381625"/>
            <a:ext cx="34671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81000" y="5381625"/>
            <a:ext cx="3467100" cy="666750"/>
          </a:xfrm>
          <a:prstGeom prst="roundRect">
            <a:avLst>
              <a:gd name="adj" fmla="val 2747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1000" y="5381625"/>
            <a:ext cx="34671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2450" y="5514975"/>
            <a:ext cx="3124200" cy="3667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2800" b="0" i="0">
                <a:solidFill>
                  <a:srgbClr val="E8264B"/>
                </a:solidFill>
                <a:latin typeface="Bebas Neue"/>
              </a:rPr>
              <a:t>27K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2450" y="5762625"/>
            <a:ext cx="3124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ORDERS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81450" y="5381625"/>
            <a:ext cx="34671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981450" y="5381625"/>
            <a:ext cx="3467100" cy="666750"/>
          </a:xfrm>
          <a:prstGeom prst="roundRect">
            <a:avLst>
              <a:gd name="adj" fmla="val 2747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981450" y="5381625"/>
            <a:ext cx="34671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52900" y="5514975"/>
            <a:ext cx="3124200" cy="3667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2800" b="0" i="0">
                <a:solidFill>
                  <a:srgbClr val="E8264B"/>
                </a:solidFill>
                <a:latin typeface="Bebas Neue"/>
              </a:rPr>
              <a:t>22.96%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52900" y="5762625"/>
            <a:ext cx="3124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RETURN RATE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81900" y="5381625"/>
            <a:ext cx="34671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581900" y="5381625"/>
            <a:ext cx="3467100" cy="666750"/>
          </a:xfrm>
          <a:prstGeom prst="roundRect">
            <a:avLst>
              <a:gd name="adj" fmla="val 2747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81900" y="5381625"/>
            <a:ext cx="34671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53350" y="5514975"/>
            <a:ext cx="3124200" cy="3667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2800" b="0" i="0">
                <a:solidFill>
                  <a:srgbClr val="E8264B"/>
                </a:solidFill>
                <a:latin typeface="Bebas Neue"/>
              </a:rPr>
              <a:t>+25%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53350" y="5762625"/>
            <a:ext cx="3124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YOY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14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57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9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00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43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86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9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2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15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87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58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81000" y="381000"/>
            <a:ext cx="10668000" cy="3533775"/>
          </a:xfrm>
          <a:prstGeom prst="roundRect">
            <a:avLst>
              <a:gd name="adj" fmla="val 1071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1862137"/>
            <a:ext cx="381000" cy="381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81000" y="2281237"/>
            <a:ext cx="10668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Klaviyo / Shopify / GSC screenshot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4200525"/>
            <a:ext cx="6858000" cy="7334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7000" b="0" i="0" spc="-100">
                <a:solidFill>
                  <a:srgbClr val="E8264B"/>
                </a:solidFill>
                <a:latin typeface="Bebas Neue"/>
              </a:rPr>
              <a:t>+$892K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000" y="4833937"/>
            <a:ext cx="6858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8C4D8"/>
                </a:solidFill>
                <a:latin typeface="DM Sans"/>
              </a:rPr>
              <a:t>Email revenue, 30 days. Real client dashboard.</a:t>
            </a:r>
          </a:p>
        </p:txBody>
      </p:sp>
      <p:pic>
        <p:nvPicPr>
          <p:cNvPr id="38" name="Picture 37" descr="sorte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5667375"/>
            <a:ext cx="733425" cy="171450"/>
          </a:xfrm>
          <a:prstGeom prst="rect">
            <a:avLst/>
          </a:prstGeom>
        </p:spPr>
      </p:pic>
      <p:pic>
        <p:nvPicPr>
          <p:cNvPr id="39" name="Picture 38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5667375"/>
            <a:ext cx="247650" cy="2476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