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1430000" cy="5972175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430000" cy="5972175"/>
          </a:xfrm>
          <a:prstGeom prst="rect">
            <a:avLst/>
          </a:prstGeom>
          <a:solidFill>
            <a:srgbClr val="0918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0" y="571500"/>
            <a:ext cx="11430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0" y="1143000"/>
            <a:ext cx="11430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0" y="1714500"/>
            <a:ext cx="11430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0" y="2286000"/>
            <a:ext cx="11430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0" y="2857500"/>
            <a:ext cx="11430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0" y="3429000"/>
            <a:ext cx="11430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0" y="4000500"/>
            <a:ext cx="11430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0" y="4572000"/>
            <a:ext cx="11430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0" y="5143500"/>
            <a:ext cx="11430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0" y="5715000"/>
            <a:ext cx="11430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5715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11430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17145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22860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28575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34290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40005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45720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51435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57150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62865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68580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74295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80010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85725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91440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97155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102870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108585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Oval 31"/>
          <p:cNvSpPr/>
          <p:nvPr/>
        </p:nvSpPr>
        <p:spPr>
          <a:xfrm>
            <a:off x="-2286000" y="4777740"/>
            <a:ext cx="6667500" cy="6667500"/>
          </a:xfrm>
          <a:prstGeom prst="ellipse">
            <a:avLst/>
          </a:prstGeom>
          <a:solidFill>
            <a:srgbClr val="E8264B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sorted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381000"/>
            <a:ext cx="733425" cy="171450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571500" y="762000"/>
            <a:ext cx="3810000" cy="41147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</a:pPr>
            <a:r>
              <a:rPr sz="3600" b="0" i="0">
                <a:solidFill>
                  <a:srgbClr val="E8264B"/>
                </a:solidFill>
                <a:latin typeface="Bebas Neue"/>
              </a:rPr>
              <a:t>Hot Take: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71500" y="1333500"/>
            <a:ext cx="10287000" cy="253365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92000"/>
              </a:lnSpc>
            </a:pPr>
            <a:r>
              <a:rPr sz="7600" b="0" i="0">
                <a:solidFill>
                  <a:srgbClr val="F8F7F4"/>
                </a:solidFill>
                <a:latin typeface="Bebas Neue"/>
              </a:rPr>
              <a:t>If your agency sends PDF reports, you're their customer. Not their client.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71500" y="4095750"/>
            <a:ext cx="10287000" cy="28575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0000"/>
              </a:lnSpc>
            </a:pPr>
            <a:r>
              <a:rPr sz="1300" b="0" i="1">
                <a:solidFill>
                  <a:srgbClr val="8A94A6"/>
                </a:solidFill>
                <a:latin typeface="DM Sans"/>
              </a:rPr>
              <a:t>— Sorted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430000" cy="5972175"/>
          </a:xfrm>
          <a:prstGeom prst="rect">
            <a:avLst/>
          </a:prstGeom>
          <a:solidFill>
            <a:srgbClr val="0918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0" y="571500"/>
            <a:ext cx="11430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0" y="1143000"/>
            <a:ext cx="11430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0" y="1714500"/>
            <a:ext cx="11430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0" y="2286000"/>
            <a:ext cx="11430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0" y="2857500"/>
            <a:ext cx="11430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0" y="3429000"/>
            <a:ext cx="11430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0" y="4000500"/>
            <a:ext cx="11430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0" y="4572000"/>
            <a:ext cx="11430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0" y="5143500"/>
            <a:ext cx="11430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0" y="5715000"/>
            <a:ext cx="11430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5715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11430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17145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22860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28575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34290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40005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45720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51435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57150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62865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68580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74295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80010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85725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91440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97155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102870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108585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5715000" y="571500"/>
            <a:ext cx="0" cy="4829175"/>
          </a:xfrm>
          <a:prstGeom prst="line">
            <a:avLst/>
          </a:prstGeom>
          <a:ln w="12700">
            <a:solidFill>
              <a:srgbClr val="E826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3" name="Picture 32" descr="sorted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381000"/>
            <a:ext cx="819150" cy="190500"/>
          </a:xfrm>
          <a:prstGeom prst="rect">
            <a:avLst/>
          </a:prstGeom>
        </p:spPr>
      </p:pic>
      <p:pic>
        <p:nvPicPr>
          <p:cNvPr id="34" name="Picture 33" descr="sorted-m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44200" y="5286375"/>
            <a:ext cx="304800" cy="304800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723900" y="952500"/>
            <a:ext cx="4648200" cy="16192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0000"/>
              </a:lnSpc>
            </a:pPr>
            <a:r>
              <a:rPr sz="1300" b="1" i="0" spc="220">
                <a:solidFill>
                  <a:srgbClr val="8A94A6"/>
                </a:solidFill>
                <a:latin typeface="DM Sans"/>
              </a:rPr>
              <a:t>MYTH: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3900" y="1219200"/>
            <a:ext cx="4648200" cy="9601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95000"/>
              </a:lnSpc>
            </a:pPr>
            <a:r>
              <a:rPr sz="4200" b="0" i="0">
                <a:solidFill>
                  <a:srgbClr val="8A94A6"/>
                </a:solidFill>
                <a:latin typeface="Bebas Neue"/>
              </a:rPr>
              <a:t>More ad spend = more revenue.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723900" y="1439227"/>
            <a:ext cx="4648200" cy="0"/>
          </a:xfrm>
          <a:prstGeom prst="line">
            <a:avLst/>
          </a:prstGeom>
          <a:ln w="19050">
            <a:solidFill>
              <a:srgbClr val="E826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6057900" y="952500"/>
            <a:ext cx="4648200" cy="16192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0000"/>
              </a:lnSpc>
            </a:pPr>
            <a:r>
              <a:rPr sz="1300" b="1" i="0" spc="220">
                <a:solidFill>
                  <a:srgbClr val="E8264B"/>
                </a:solidFill>
                <a:latin typeface="DM Sans"/>
              </a:rPr>
              <a:t>REALITY: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057900" y="1219200"/>
            <a:ext cx="4648200" cy="9601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95000"/>
              </a:lnSpc>
            </a:pPr>
            <a:r>
              <a:rPr sz="4200" b="0" i="0">
                <a:solidFill>
                  <a:srgbClr val="F8F7F4"/>
                </a:solidFill>
                <a:latin typeface="Bebas Neue"/>
              </a:rPr>
              <a:t>Fix Klaviyo first. 40% cheaper revenue.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0" y="5591175"/>
            <a:ext cx="11430000" cy="1905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20000"/>
              </a:lnSpc>
            </a:pPr>
            <a:r>
              <a:rPr sz="1200" b="1" i="0" spc="280">
                <a:solidFill>
                  <a:srgbClr val="E8264B"/>
                </a:solidFill>
                <a:latin typeface="DM Sans"/>
              </a:rPr>
              <a:t>WHAT'S YOUR TAKE? COMMENT ↓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430000" cy="5972175"/>
          </a:xfrm>
          <a:prstGeom prst="rect">
            <a:avLst/>
          </a:prstGeom>
          <a:solidFill>
            <a:srgbClr val="0918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0" y="571500"/>
            <a:ext cx="11430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0" y="1143000"/>
            <a:ext cx="11430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0" y="1714500"/>
            <a:ext cx="11430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0" y="2286000"/>
            <a:ext cx="11430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0" y="2857500"/>
            <a:ext cx="11430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0" y="3429000"/>
            <a:ext cx="11430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0" y="4000500"/>
            <a:ext cx="11430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0" y="4572000"/>
            <a:ext cx="11430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0" y="5143500"/>
            <a:ext cx="11430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0" y="5715000"/>
            <a:ext cx="11430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5715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11430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17145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22860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28575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34290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40005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45720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51435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57150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62865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68580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74295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80010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85725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91440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97155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102870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108585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2" name="Picture 31" descr="sorted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381000"/>
            <a:ext cx="733425" cy="171450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476250" y="666750"/>
            <a:ext cx="10477500" cy="5943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90000"/>
              </a:lnSpc>
            </a:pPr>
            <a:r>
              <a:rPr sz="5200" b="0" i="0">
                <a:solidFill>
                  <a:srgbClr val="F8F7F4"/>
                </a:solidFill>
                <a:latin typeface="Bebas Neue"/>
              </a:rPr>
              <a:t>3-step framework.</a:t>
            </a:r>
          </a:p>
        </p:txBody>
      </p:sp>
      <p:sp>
        <p:nvSpPr>
          <p:cNvPr id="34" name="Oval 33"/>
          <p:cNvSpPr/>
          <p:nvPr/>
        </p:nvSpPr>
        <p:spPr>
          <a:xfrm>
            <a:off x="476250" y="1970087"/>
            <a:ext cx="495300" cy="495300"/>
          </a:xfrm>
          <a:prstGeom prst="ellipse">
            <a:avLst/>
          </a:prstGeom>
          <a:solidFill>
            <a:srgbClr val="E826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76250" y="1970087"/>
            <a:ext cx="495300" cy="4953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lnSpc>
                <a:spcPct val="120000"/>
              </a:lnSpc>
            </a:pPr>
            <a:r>
              <a:rPr sz="2400" b="0" i="0" spc="100">
                <a:solidFill>
                  <a:srgbClr val="F8F7F4"/>
                </a:solidFill>
                <a:latin typeface="Bebas Neue"/>
              </a:rPr>
              <a:t>01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200150" y="2008187"/>
            <a:ext cx="9753600" cy="3352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</a:pPr>
            <a:r>
              <a:rPr sz="3200" b="0" i="0" spc="50">
                <a:solidFill>
                  <a:srgbClr val="F8F7F4"/>
                </a:solidFill>
                <a:latin typeface="Bebas Neue"/>
              </a:rPr>
              <a:t>Audit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200150" y="2370137"/>
            <a:ext cx="9753600" cy="381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5000"/>
              </a:lnSpc>
            </a:pPr>
            <a:r>
              <a:rPr sz="1300" b="0" i="0">
                <a:solidFill>
                  <a:srgbClr val="B8C4D8"/>
                </a:solidFill>
                <a:latin typeface="DM Sans"/>
              </a:rPr>
              <a:t>Klaviyo · Meta · Shopify in 45 min.</a:t>
            </a:r>
          </a:p>
        </p:txBody>
      </p:sp>
      <p:sp>
        <p:nvSpPr>
          <p:cNvPr id="38" name="Oval 37"/>
          <p:cNvSpPr/>
          <p:nvPr/>
        </p:nvSpPr>
        <p:spPr>
          <a:xfrm>
            <a:off x="476250" y="3167062"/>
            <a:ext cx="495300" cy="495300"/>
          </a:xfrm>
          <a:prstGeom prst="ellipse">
            <a:avLst/>
          </a:prstGeom>
          <a:solidFill>
            <a:srgbClr val="E826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76250" y="3167062"/>
            <a:ext cx="495300" cy="4953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lnSpc>
                <a:spcPct val="120000"/>
              </a:lnSpc>
            </a:pPr>
            <a:r>
              <a:rPr sz="2400" b="0" i="0" spc="100">
                <a:solidFill>
                  <a:srgbClr val="F8F7F4"/>
                </a:solidFill>
                <a:latin typeface="Bebas Neue"/>
              </a:rPr>
              <a:t>02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200150" y="3205162"/>
            <a:ext cx="9753600" cy="3352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</a:pPr>
            <a:r>
              <a:rPr sz="3200" b="0" i="0" spc="50">
                <a:solidFill>
                  <a:srgbClr val="F8F7F4"/>
                </a:solidFill>
                <a:latin typeface="Bebas Neue"/>
              </a:rPr>
              <a:t>Strategy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200150" y="3567112"/>
            <a:ext cx="9753600" cy="381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5000"/>
              </a:lnSpc>
            </a:pPr>
            <a:r>
              <a:rPr sz="1300" b="0" i="0">
                <a:solidFill>
                  <a:srgbClr val="B8C4D8"/>
                </a:solidFill>
                <a:latin typeface="DM Sans"/>
              </a:rPr>
              <a:t>90-day roadmap with weekly milestones.</a:t>
            </a:r>
          </a:p>
        </p:txBody>
      </p:sp>
      <p:sp>
        <p:nvSpPr>
          <p:cNvPr id="42" name="Oval 41"/>
          <p:cNvSpPr/>
          <p:nvPr/>
        </p:nvSpPr>
        <p:spPr>
          <a:xfrm>
            <a:off x="476250" y="4364037"/>
            <a:ext cx="495300" cy="495300"/>
          </a:xfrm>
          <a:prstGeom prst="ellipse">
            <a:avLst/>
          </a:prstGeom>
          <a:solidFill>
            <a:srgbClr val="E826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76250" y="4364037"/>
            <a:ext cx="495300" cy="4953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lnSpc>
                <a:spcPct val="120000"/>
              </a:lnSpc>
            </a:pPr>
            <a:r>
              <a:rPr sz="2400" b="0" i="0" spc="100">
                <a:solidFill>
                  <a:srgbClr val="F8F7F4"/>
                </a:solidFill>
                <a:latin typeface="Bebas Neue"/>
              </a:rPr>
              <a:t>03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200150" y="4402137"/>
            <a:ext cx="9753600" cy="3352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</a:pPr>
            <a:r>
              <a:rPr sz="3200" b="0" i="0" spc="50">
                <a:solidFill>
                  <a:srgbClr val="F8F7F4"/>
                </a:solidFill>
                <a:latin typeface="Bebas Neue"/>
              </a:rPr>
              <a:t>Deploy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200150" y="4764087"/>
            <a:ext cx="9753600" cy="381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5000"/>
              </a:lnSpc>
            </a:pPr>
            <a:r>
              <a:rPr sz="1300" b="0" i="0">
                <a:solidFill>
                  <a:srgbClr val="B8C4D8"/>
                </a:solidFill>
                <a:latin typeface="DM Sans"/>
              </a:rPr>
              <a:t>Flows live in 72 hours. Creative weekly.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953500" y="5591175"/>
            <a:ext cx="2000250" cy="1905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lnSpc>
                <a:spcPct val="120000"/>
              </a:lnSpc>
            </a:pPr>
            <a:r>
              <a:rPr sz="1200" b="1" i="0" spc="280">
                <a:solidFill>
                  <a:srgbClr val="E8264B"/>
                </a:solidFill>
                <a:latin typeface="DM Sans"/>
              </a:rPr>
              <a:t>SAVE THIS 🔖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430000" cy="5972175"/>
          </a:xfrm>
          <a:prstGeom prst="rect">
            <a:avLst/>
          </a:prstGeom>
          <a:solidFill>
            <a:srgbClr val="0918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0" y="571500"/>
            <a:ext cx="11430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0" y="1143000"/>
            <a:ext cx="11430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0" y="1714500"/>
            <a:ext cx="11430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0" y="2286000"/>
            <a:ext cx="11430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0" y="2857500"/>
            <a:ext cx="11430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0" y="3429000"/>
            <a:ext cx="11430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0" y="4000500"/>
            <a:ext cx="11430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0" y="4572000"/>
            <a:ext cx="11430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0" y="5143500"/>
            <a:ext cx="11430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0" y="5715000"/>
            <a:ext cx="11430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5715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11430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17145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22860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28575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34290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40005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45720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51435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57150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62865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68580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74295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80010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85725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91440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97155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102870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108585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ectangle 31"/>
          <p:cNvSpPr/>
          <p:nvPr/>
        </p:nvSpPr>
        <p:spPr>
          <a:xfrm>
            <a:off x="571500" y="571500"/>
            <a:ext cx="28575" cy="4829175"/>
          </a:xfrm>
          <a:prstGeom prst="rect">
            <a:avLst/>
          </a:prstGeom>
          <a:solidFill>
            <a:srgbClr val="E826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sorted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15575" y="381000"/>
            <a:ext cx="733425" cy="171450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952500" y="762000"/>
            <a:ext cx="9906000" cy="1524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0000"/>
              </a:lnSpc>
            </a:pPr>
            <a:r>
              <a:rPr sz="1200" b="1" i="0" spc="220">
                <a:solidFill>
                  <a:srgbClr val="E8264B"/>
                </a:solidFill>
                <a:latin typeface="DM Sans"/>
              </a:rPr>
              <a:t>DHIRAJ PALEKAR · FOUNDER, SORTED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52500" y="1104900"/>
            <a:ext cx="9906000" cy="188595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5000"/>
              </a:lnSpc>
            </a:pPr>
            <a:r>
              <a:rPr sz="4400" b="0" i="1">
                <a:solidFill>
                  <a:srgbClr val="F8F7F4"/>
                </a:solidFill>
                <a:latin typeface="Bebas Neue"/>
              </a:rPr>
              <a:t>“Most agencies sell hours. We sell outcomes. If you can't measure it, we can't charge for it.”</a:t>
            </a:r>
          </a:p>
        </p:txBody>
      </p:sp>
      <p:sp>
        <p:nvSpPr>
          <p:cNvPr id="36" name="Oval 35"/>
          <p:cNvSpPr/>
          <p:nvPr/>
        </p:nvSpPr>
        <p:spPr>
          <a:xfrm>
            <a:off x="952500" y="4943475"/>
            <a:ext cx="457200" cy="457200"/>
          </a:xfrm>
          <a:prstGeom prst="ellipse">
            <a:avLst/>
          </a:prstGeom>
          <a:solidFill>
            <a:srgbClr val="0F2240"/>
          </a:solidFill>
          <a:ln w="19050">
            <a:solidFill>
              <a:srgbClr val="E8264B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52500" y="4943475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lnSpc>
                <a:spcPct val="120000"/>
              </a:lnSpc>
            </a:pPr>
            <a:r>
              <a:rPr sz="700" b="0" i="1">
                <a:solidFill>
                  <a:srgbClr val="8A94A6"/>
                </a:solidFill>
                <a:latin typeface="DM Sans"/>
              </a:rPr>
              <a:t>Dhiraj headshot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562100" y="5019675"/>
            <a:ext cx="2857500" cy="17145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0000"/>
              </a:lnSpc>
            </a:pPr>
            <a:r>
              <a:rPr sz="1400" b="1" i="0">
                <a:solidFill>
                  <a:srgbClr val="F8F7F4"/>
                </a:solidFill>
                <a:latin typeface="DM Sans"/>
              </a:rPr>
              <a:t>Dhiraj Palekar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562100" y="5210175"/>
            <a:ext cx="2857500" cy="17145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8A94A6"/>
                </a:solidFill>
                <a:latin typeface="DM Sans"/>
              </a:rPr>
              <a:t>Founder · Sorted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430000" cy="5972175"/>
          </a:xfrm>
          <a:prstGeom prst="rect">
            <a:avLst/>
          </a:prstGeom>
          <a:solidFill>
            <a:srgbClr val="0918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0" y="571500"/>
            <a:ext cx="11430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0" y="1143000"/>
            <a:ext cx="11430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0" y="1714500"/>
            <a:ext cx="11430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0" y="2286000"/>
            <a:ext cx="11430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0" y="2857500"/>
            <a:ext cx="11430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0" y="3429000"/>
            <a:ext cx="11430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0" y="4000500"/>
            <a:ext cx="11430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0" y="4572000"/>
            <a:ext cx="11430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0" y="5143500"/>
            <a:ext cx="11430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0" y="5715000"/>
            <a:ext cx="11430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5715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11430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17145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22860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28575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34290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40005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45720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51435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57150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62865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68580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74295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80010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85725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91440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97155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102870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108585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ectangle 31"/>
          <p:cNvSpPr/>
          <p:nvPr/>
        </p:nvSpPr>
        <p:spPr>
          <a:xfrm>
            <a:off x="0" y="571500"/>
            <a:ext cx="28575" cy="4829175"/>
          </a:xfrm>
          <a:prstGeom prst="rect">
            <a:avLst/>
          </a:prstGeom>
          <a:solidFill>
            <a:srgbClr val="E826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sorted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381000"/>
            <a:ext cx="819150" cy="190500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571500" y="857250"/>
            <a:ext cx="10287000" cy="214312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88000"/>
              </a:lnSpc>
            </a:pPr>
            <a:r>
              <a:rPr sz="9000" b="0" i="0" spc="-100">
                <a:solidFill>
                  <a:srgbClr val="E8264B"/>
                </a:solidFill>
                <a:latin typeface="Bebas Neue"/>
              </a:rPr>
              <a:t>71% of D2C brands never recover abandoned carts.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71500" y="3190875"/>
            <a:ext cx="8572500" cy="1143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45000"/>
              </a:lnSpc>
            </a:pPr>
            <a:r>
              <a:rPr sz="1500" b="0" i="0">
                <a:solidFill>
                  <a:srgbClr val="B8C4D8"/>
                </a:solidFill>
                <a:latin typeface="DM Sans"/>
              </a:rPr>
              <a:t>That's an average $4,200 per month left on the table — for a brand doing $100K/month. A single Klaviyo flow, set up once, recovers 18–24% of them.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71500" y="5591175"/>
            <a:ext cx="4762500" cy="1905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0000"/>
              </a:lnSpc>
            </a:pPr>
            <a:r>
              <a:rPr sz="1200" b="1" i="0" spc="280">
                <a:solidFill>
                  <a:srgbClr val="E8264B"/>
                </a:solidFill>
                <a:latin typeface="DM Sans"/>
              </a:rPr>
              <a:t>WHAT THIS MEANS FOR YOUR BRAND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430000" cy="5972175"/>
          </a:xfrm>
          <a:prstGeom prst="rect">
            <a:avLst/>
          </a:prstGeom>
          <a:solidFill>
            <a:srgbClr val="0918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0" y="571500"/>
            <a:ext cx="11430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0" y="1143000"/>
            <a:ext cx="11430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0" y="1714500"/>
            <a:ext cx="11430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0" y="2286000"/>
            <a:ext cx="11430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0" y="2857500"/>
            <a:ext cx="11430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0" y="3429000"/>
            <a:ext cx="11430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0" y="4000500"/>
            <a:ext cx="11430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0" y="4572000"/>
            <a:ext cx="11430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0" y="5143500"/>
            <a:ext cx="11430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0" y="5715000"/>
            <a:ext cx="11430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5715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11430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17145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22860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28575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34290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40005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45720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51435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57150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62865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68580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74295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80010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85725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91440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97155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102870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108585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2" name="Picture 31" descr="sorted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381000"/>
            <a:ext cx="895350" cy="209550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571500" y="952500"/>
            <a:ext cx="5715000" cy="9525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90000"/>
              </a:lnSpc>
            </a:pPr>
            <a:r>
              <a:rPr sz="8000" b="0" i="0">
                <a:solidFill>
                  <a:srgbClr val="E8264B"/>
                </a:solidFill>
                <a:latin typeface="Bebas Neue"/>
              </a:rPr>
              <a:t>This you?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71500" y="2095500"/>
            <a:ext cx="10287000" cy="495300"/>
          </a:xfrm>
          <a:prstGeom prst="roundRect">
            <a:avLst>
              <a:gd name="adj" fmla="val 740"/>
            </a:avLst>
          </a:prstGeom>
          <a:solidFill>
            <a:srgbClr val="0F2240"/>
          </a:solidFill>
          <a:ln w="6350">
            <a:solidFill>
              <a:srgbClr val="B8C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762000" y="2238375"/>
            <a:ext cx="209550" cy="209550"/>
          </a:xfrm>
          <a:prstGeom prst="roundRect">
            <a:avLst>
              <a:gd name="adj" fmla="val 18181"/>
            </a:avLst>
          </a:prstGeom>
          <a:noFill/>
          <a:ln w="25400">
            <a:solidFill>
              <a:srgbClr val="E826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104900" y="2095500"/>
            <a:ext cx="9563100" cy="4953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F8F7F4"/>
                </a:solidFill>
                <a:latin typeface="DM Sans"/>
              </a:rPr>
              <a:t>Klaviyo is under 15% of revenue.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71500" y="2724150"/>
            <a:ext cx="10287000" cy="495300"/>
          </a:xfrm>
          <a:prstGeom prst="roundRect">
            <a:avLst>
              <a:gd name="adj" fmla="val 740"/>
            </a:avLst>
          </a:prstGeom>
          <a:solidFill>
            <a:srgbClr val="0F2240"/>
          </a:solidFill>
          <a:ln w="6350">
            <a:solidFill>
              <a:srgbClr val="B8C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762000" y="2867025"/>
            <a:ext cx="209550" cy="209550"/>
          </a:xfrm>
          <a:prstGeom prst="roundRect">
            <a:avLst>
              <a:gd name="adj" fmla="val 18181"/>
            </a:avLst>
          </a:prstGeom>
          <a:noFill/>
          <a:ln w="25400">
            <a:solidFill>
              <a:srgbClr val="E826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104900" y="2724150"/>
            <a:ext cx="9563100" cy="4953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F8F7F4"/>
                </a:solidFill>
                <a:latin typeface="DM Sans"/>
              </a:rPr>
              <a:t>Meta CAC has climbed 3 months straight.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71500" y="3352800"/>
            <a:ext cx="10287000" cy="495300"/>
          </a:xfrm>
          <a:prstGeom prst="roundRect">
            <a:avLst>
              <a:gd name="adj" fmla="val 740"/>
            </a:avLst>
          </a:prstGeom>
          <a:solidFill>
            <a:srgbClr val="0F2240"/>
          </a:solidFill>
          <a:ln w="6350">
            <a:solidFill>
              <a:srgbClr val="B8C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762000" y="3495675"/>
            <a:ext cx="209550" cy="209550"/>
          </a:xfrm>
          <a:prstGeom prst="roundRect">
            <a:avLst>
              <a:gd name="adj" fmla="val 18181"/>
            </a:avLst>
          </a:prstGeom>
          <a:noFill/>
          <a:ln w="25400">
            <a:solidFill>
              <a:srgbClr val="E826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104900" y="3352800"/>
            <a:ext cx="9563100" cy="4953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F8F7F4"/>
                </a:solidFill>
                <a:latin typeface="DM Sans"/>
              </a:rPr>
              <a:t>You check ROAS at 11pm. Again.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571500" y="3981450"/>
            <a:ext cx="10287000" cy="495300"/>
          </a:xfrm>
          <a:prstGeom prst="roundRect">
            <a:avLst>
              <a:gd name="adj" fmla="val 740"/>
            </a:avLst>
          </a:prstGeom>
          <a:solidFill>
            <a:srgbClr val="0F2240"/>
          </a:solidFill>
          <a:ln w="6350">
            <a:solidFill>
              <a:srgbClr val="B8C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762000" y="4124325"/>
            <a:ext cx="209550" cy="209550"/>
          </a:xfrm>
          <a:prstGeom prst="roundRect">
            <a:avLst>
              <a:gd name="adj" fmla="val 18181"/>
            </a:avLst>
          </a:prstGeom>
          <a:noFill/>
          <a:ln w="25400">
            <a:solidFill>
              <a:srgbClr val="E826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104900" y="3981450"/>
            <a:ext cx="9563100" cy="4953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F8F7F4"/>
                </a:solidFill>
                <a:latin typeface="DM Sans"/>
              </a:rPr>
              <a:t>Reporting is a PDF. Not a dashboard.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571500" y="4610100"/>
            <a:ext cx="10287000" cy="495300"/>
          </a:xfrm>
          <a:prstGeom prst="roundRect">
            <a:avLst>
              <a:gd name="adj" fmla="val 740"/>
            </a:avLst>
          </a:prstGeom>
          <a:solidFill>
            <a:srgbClr val="0F2240"/>
          </a:solidFill>
          <a:ln w="6350">
            <a:solidFill>
              <a:srgbClr val="B8C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762000" y="4752975"/>
            <a:ext cx="209550" cy="209550"/>
          </a:xfrm>
          <a:prstGeom prst="roundRect">
            <a:avLst>
              <a:gd name="adj" fmla="val 18181"/>
            </a:avLst>
          </a:prstGeom>
          <a:noFill/>
          <a:ln w="25400">
            <a:solidFill>
              <a:srgbClr val="E826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104900" y="4610100"/>
            <a:ext cx="9563100" cy="4953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F8F7F4"/>
                </a:solidFill>
                <a:latin typeface="DM Sans"/>
              </a:rPr>
              <a:t>You can't name your top 3 SKUs by LTV.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0" y="4733925"/>
            <a:ext cx="11430000" cy="1905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20000"/>
              </a:lnSpc>
            </a:pPr>
            <a:r>
              <a:rPr sz="1300" b="1" i="0">
                <a:solidFill>
                  <a:srgbClr val="B8C4D8"/>
                </a:solidFill>
                <a:latin typeface="DM Sans"/>
              </a:rPr>
              <a:t>If you checked 3+, we need to talk.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4652391" y="5057775"/>
            <a:ext cx="2125218" cy="400050"/>
          </a:xfrm>
          <a:prstGeom prst="roundRect">
            <a:avLst>
              <a:gd name="adj" fmla="val 2689"/>
            </a:avLst>
          </a:prstGeom>
          <a:solidFill>
            <a:srgbClr val="E826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842891" y="5057775"/>
            <a:ext cx="1744218" cy="40005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20000"/>
              </a:lnSpc>
            </a:pPr>
            <a:r>
              <a:rPr sz="1200" b="1" i="0" spc="140">
                <a:solidFill>
                  <a:srgbClr val="F8F7F4"/>
                </a:solidFill>
                <a:latin typeface="DM Sans"/>
              </a:rPr>
              <a:t>BOOK A FREE AUDIT  →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