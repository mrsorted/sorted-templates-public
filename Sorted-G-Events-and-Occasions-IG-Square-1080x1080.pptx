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429500" y="-1905000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763000" y="381000"/>
            <a:ext cx="962025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3000" y="381000"/>
            <a:ext cx="962025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LIVE EVENT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1143000"/>
            <a:ext cx="4935681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JOIN US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1428750"/>
            <a:ext cx="4935681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Scaling D2C in 2026: the Klaviyo playbook.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381381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8A94A6"/>
                </a:solidFill>
                <a:latin typeface="DM Sans"/>
              </a:rPr>
              <a:t>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2550" y="3813810"/>
            <a:ext cx="4059381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Thu 12 Feb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406146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8A94A6"/>
                </a:solidFill>
                <a:latin typeface="DM Sans"/>
              </a:rPr>
              <a:t>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2550" y="4061460"/>
            <a:ext cx="4059381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6:00 PM IST · 12:30 PM GMT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430911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8A94A6"/>
                </a:solidFill>
                <a:latin typeface="DM Sans"/>
              </a:rPr>
              <a:t>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2550" y="4309110"/>
            <a:ext cx="4059381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Zoom · 60 min · free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6250" y="4785360"/>
            <a:ext cx="2076069" cy="495300"/>
          </a:xfrm>
          <a:prstGeom prst="roundRect">
            <a:avLst>
              <a:gd name="adj" fmla="val 2752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900" y="4785360"/>
            <a:ext cx="1580769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 spc="140">
                <a:solidFill>
                  <a:srgbClr val="F8F7F4"/>
                </a:solidFill>
                <a:latin typeface="DM Sans"/>
              </a:rPr>
              <a:t>REGISTER FREE  →</a:t>
            </a:r>
          </a:p>
        </p:txBody>
      </p:sp>
      <p:sp>
        <p:nvSpPr>
          <p:cNvPr id="51" name="Oval 50"/>
          <p:cNvSpPr/>
          <p:nvPr/>
        </p:nvSpPr>
        <p:spPr>
          <a:xfrm>
            <a:off x="6801715" y="4143375"/>
            <a:ext cx="1905000" cy="1905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01715" y="4143375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666" b="0" i="1">
                <a:solidFill>
                  <a:srgbClr val="8A94A6"/>
                </a:solidFill>
                <a:latin typeface="DM Sans"/>
              </a:rPr>
              <a:t>Speaker headshot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97681" y="6200775"/>
            <a:ext cx="411306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Dhiraj Palekar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97681" y="6410325"/>
            <a:ext cx="4113068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Founder · Sorted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4857750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527685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event / conference photo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57850"/>
            <a:ext cx="10287000" cy="46291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"/>
            <a:ext cx="8953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9677400"/>
            <a:ext cx="93345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80">
                <a:solidFill>
                  <a:srgbClr val="E8264B"/>
                </a:solidFill>
                <a:latin typeface="DM Sans"/>
              </a:rPr>
              <a:t>KEY TAKEAWAYS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8686800"/>
            <a:ext cx="9334500" cy="838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The future is compounding.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8477250"/>
            <a:ext cx="93345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WE WERE THERE · D2C SUMMIT MUMBAI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81000" y="762000"/>
            <a:ext cx="4208318" cy="9144000"/>
          </a:xfrm>
          <a:prstGeom prst="roundRect">
            <a:avLst>
              <a:gd name="adj" fmla="val 125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659" y="5048250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1000" y="5467350"/>
            <a:ext cx="4208318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speaker / stage photo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6018" y="3905250"/>
            <a:ext cx="5049981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SORTED · ON STAGE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6018" y="4133850"/>
            <a:ext cx="5049981" cy="125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Sorted at SaaSBoomi 2025.</a:t>
            </a:r>
          </a:p>
        </p:txBody>
      </p:sp>
      <p:sp>
        <p:nvSpPr>
          <p:cNvPr id="43" name="Oval 42"/>
          <p:cNvSpPr/>
          <p:nvPr/>
        </p:nvSpPr>
        <p:spPr>
          <a:xfrm>
            <a:off x="4856018" y="56769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08418" y="5600700"/>
            <a:ext cx="4897581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7F4"/>
                </a:solidFill>
                <a:latin typeface="DM Sans"/>
              </a:rPr>
              <a:t>CPMs are up. Creative velocity wins.</a:t>
            </a:r>
          </a:p>
        </p:txBody>
      </p:sp>
      <p:sp>
        <p:nvSpPr>
          <p:cNvPr id="45" name="Oval 44"/>
          <p:cNvSpPr/>
          <p:nvPr/>
        </p:nvSpPr>
        <p:spPr>
          <a:xfrm>
            <a:off x="4856018" y="603885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08418" y="5962650"/>
            <a:ext cx="4897581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7F4"/>
                </a:solidFill>
                <a:latin typeface="DM Sans"/>
              </a:rPr>
              <a:t>Email is 40%+ of revenue, or you're behind.</a:t>
            </a:r>
          </a:p>
        </p:txBody>
      </p:sp>
      <p:sp>
        <p:nvSpPr>
          <p:cNvPr id="47" name="Oval 46"/>
          <p:cNvSpPr/>
          <p:nvPr/>
        </p:nvSpPr>
        <p:spPr>
          <a:xfrm>
            <a:off x="4856018" y="6400800"/>
            <a:ext cx="57150" cy="571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8418" y="6324600"/>
            <a:ext cx="4897581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7F4"/>
                </a:solidFill>
                <a:latin typeface="DM Sans"/>
              </a:rPr>
              <a:t>AI eats reporting. Humans keep strategy.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6018" y="6800850"/>
            <a:ext cx="5049981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CATCH US AT THE NEXT ONE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382000" y="8382000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76250" y="762000"/>
            <a:ext cx="9334500" cy="4629150"/>
          </a:xfrm>
          <a:prstGeom prst="roundRect">
            <a:avLst>
              <a:gd name="adj" fmla="val 122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790825"/>
            <a:ext cx="381000" cy="381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76250" y="3209925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kickoff meeting / team photo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8134350"/>
            <a:ext cx="9334500" cy="125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And so it begins.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9525000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[Client] campaign goes live in 72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286000" y="2286000"/>
            <a:ext cx="5715000" cy="57150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4762500" y="3429000"/>
            <a:ext cx="762000" cy="762000"/>
          </a:xfrm>
          <a:prstGeom prst="ellipse">
            <a:avLst/>
          </a:prstGeom>
          <a:noFill/>
          <a:ln w="317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3000" y="4133850"/>
            <a:ext cx="381000" cy="1333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57750" y="4267200"/>
            <a:ext cx="571500" cy="381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4457700"/>
            <a:ext cx="10287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RECOGNITION ·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4667250"/>
            <a:ext cx="9144000" cy="1885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We won Agency of the Year.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6610350"/>
            <a:ext cx="9144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Performance Marketing · D2C Circle Awards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10000" y="6953250"/>
            <a:ext cx="2667000" cy="1714500"/>
          </a:xfrm>
          <a:prstGeom prst="roundRect">
            <a:avLst>
              <a:gd name="adj" fmla="val 4285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7524750"/>
            <a:ext cx="381000" cy="381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810000" y="794385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award photo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572500" y="381000"/>
            <a:ext cx="1176337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2500" y="381000"/>
            <a:ext cx="1176337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CAROUSEL · 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6250" y="1047750"/>
            <a:ext cx="4600575" cy="2832100"/>
          </a:xfrm>
          <a:prstGeom prst="roundRect">
            <a:avLst>
              <a:gd name="adj" fmla="val 248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2178049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6250" y="2597149"/>
            <a:ext cx="46005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exterior / entrance photo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5425" y="2082799"/>
            <a:ext cx="44100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8264B"/>
                </a:solidFill>
                <a:latin typeface="Bebas Neue"/>
              </a:rPr>
              <a:t>01 / 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5425" y="2368549"/>
            <a:ext cx="441007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8F7F4"/>
                </a:solidFill>
                <a:latin typeface="Bebas Neue"/>
              </a:rPr>
              <a:t>Sorted HQ · Mumbai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6250" y="4013200"/>
            <a:ext cx="4600575" cy="2832100"/>
          </a:xfrm>
          <a:prstGeom prst="roundRect">
            <a:avLst>
              <a:gd name="adj" fmla="val 248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5143500"/>
            <a:ext cx="381000" cy="381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76250" y="5562600"/>
            <a:ext cx="46005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desk / workspace photo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5425" y="5048250"/>
            <a:ext cx="44100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8264B"/>
                </a:solidFill>
                <a:latin typeface="Bebas Neue"/>
              </a:rPr>
              <a:t>02 /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5425" y="5334000"/>
            <a:ext cx="441007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8F7F4"/>
                </a:solidFill>
                <a:latin typeface="Bebas Neue"/>
              </a:rPr>
              <a:t>Where the work happens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6250" y="6978650"/>
            <a:ext cx="4600575" cy="2832100"/>
          </a:xfrm>
          <a:prstGeom prst="roundRect">
            <a:avLst>
              <a:gd name="adj" fmla="val 248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8108949"/>
            <a:ext cx="381000" cy="381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76250" y="8528050"/>
            <a:ext cx="46005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gathered photo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5425" y="8013699"/>
            <a:ext cx="441007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E8264B"/>
                </a:solidFill>
                <a:latin typeface="Bebas Neue"/>
              </a:rPr>
              <a:t>03 / 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5425" y="8299449"/>
            <a:ext cx="441007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8F7F4"/>
                </a:solidFill>
                <a:latin typeface="Bebas Neue"/>
              </a:rPr>
              <a:t>Come work with us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4572000" y="4572000"/>
            <a:ext cx="1143000" cy="1143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810000" y="3810000"/>
            <a:ext cx="2667000" cy="2667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048000" y="3048000"/>
            <a:ext cx="4191000" cy="4191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86000" y="2286000"/>
            <a:ext cx="5715000" cy="5715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24000" y="1524000"/>
            <a:ext cx="7239000" cy="7239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62000" y="762000"/>
            <a:ext cx="8763000" cy="87630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" y="4514850"/>
            <a:ext cx="9144000" cy="125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2000" b="0" i="0">
                <a:solidFill>
                  <a:srgbClr val="E8264B"/>
                </a:solidFill>
                <a:latin typeface="Bebas Neue"/>
              </a:rPr>
              <a:t>Happy Diwali.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" y="57150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From the Sorted team.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19500" y="6172200"/>
            <a:ext cx="3048000" cy="1714500"/>
          </a:xfrm>
          <a:prstGeom prst="roundRect">
            <a:avLst>
              <a:gd name="adj" fmla="val 375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6743700"/>
            <a:ext cx="381000" cy="381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619500" y="71628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celebration photo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0" y="819150"/>
            <a:ext cx="10287000" cy="8743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00" b="0" i="0" spc="-2000">
                <a:solidFill>
                  <a:srgbClr val="0F2240"/>
                </a:solidFill>
                <a:latin typeface="Bebas Neue"/>
              </a:rPr>
              <a:t>2025</a:t>
            </a:r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6250" y="571500"/>
            <a:ext cx="9334500" cy="857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2025 Wrapped.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6250" y="19050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6250" y="1905000"/>
            <a:ext cx="4591050" cy="171450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6250" y="19050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700" y="2038350"/>
            <a:ext cx="424815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200" b="0" i="0">
                <a:solidFill>
                  <a:srgbClr val="E8264B"/>
                </a:solidFill>
                <a:latin typeface="Bebas Neue"/>
              </a:rPr>
              <a:t>$40M+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" y="3333750"/>
            <a:ext cx="42481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 TRACKED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9700" y="19050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19700" y="1905000"/>
            <a:ext cx="4591050" cy="171450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9700" y="19050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1150" y="2038350"/>
            <a:ext cx="424815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200" b="0" i="0">
                <a:solidFill>
                  <a:srgbClr val="E8264B"/>
                </a:solidFill>
                <a:latin typeface="Bebas Neue"/>
              </a:rPr>
              <a:t>34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1150" y="3333750"/>
            <a:ext cx="42481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TEAM 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6250" y="37719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250" y="3771900"/>
            <a:ext cx="4591050" cy="171450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6250" y="37719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700" y="3905250"/>
            <a:ext cx="424815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200" b="0" i="0">
                <a:solidFill>
                  <a:srgbClr val="E8264B"/>
                </a:solidFill>
                <a:latin typeface="Bebas Neue"/>
              </a:rPr>
              <a:t>100+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5200650"/>
            <a:ext cx="42481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BRANDS SCALED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9700" y="37719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19700" y="3771900"/>
            <a:ext cx="4591050" cy="1714500"/>
          </a:xfrm>
          <a:prstGeom prst="roundRect">
            <a:avLst>
              <a:gd name="adj" fmla="val 207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19700" y="3771900"/>
            <a:ext cx="459105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1150" y="3905250"/>
            <a:ext cx="424815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200" b="0" i="0">
                <a:solidFill>
                  <a:srgbClr val="E8264B"/>
                </a:solidFill>
                <a:latin typeface="Bebas Neue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1150" y="5200650"/>
            <a:ext cx="424815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NEW PARTNERS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6250" y="5829300"/>
            <a:ext cx="9334500" cy="3981450"/>
          </a:xfrm>
          <a:prstGeom prst="roundRect">
            <a:avLst>
              <a:gd name="adj" fmla="val 122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7534275"/>
            <a:ext cx="381000" cy="381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76250" y="7953375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team year-end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