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pic>
        <p:nvPicPr>
          <p:cNvPr id="38" name="Picture 37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0" y="9448800"/>
            <a:ext cx="457200" cy="4572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71500" y="0"/>
            <a:ext cx="9144000" cy="10287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88000"/>
              </a:lnSpc>
            </a:pPr>
            <a:r>
              <a:rPr sz="16000" b="0" i="0">
                <a:solidFill>
                  <a:srgbClr val="F8F7F4"/>
                </a:solidFill>
                <a:latin typeface="Bebas Neue"/>
              </a:rPr>
              <a:t>We build growth machines.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71500" y="4105275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8000" b="0" i="0">
                <a:solidFill>
                  <a:srgbClr val="8A94A6"/>
                </a:solidFill>
                <a:latin typeface="Bebas Neue"/>
              </a:rPr>
              <a:t>Most agencies give you reports.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" y="5133975"/>
            <a:ext cx="9144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000" b="0" i="0">
                <a:solidFill>
                  <a:srgbClr val="E8264B"/>
                </a:solidFill>
                <a:latin typeface="Bebas Neue"/>
              </a:rPr>
              <a:t>We give you results.</a:t>
            </a:r>
          </a:p>
        </p:txBody>
      </p:sp>
      <p:pic>
        <p:nvPicPr>
          <p:cNvPr id="40" name="Picture 39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962" y="9677400"/>
            <a:ext cx="981075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29500" y="571500"/>
            <a:ext cx="22860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E8264B"/>
                </a:solidFill>
                <a:latin typeface="DM Sans"/>
              </a:rPr>
              <a:t>OUR VALUES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6250" y="1238250"/>
            <a:ext cx="4591050" cy="4210050"/>
          </a:xfrm>
          <a:prstGeom prst="roundRect">
            <a:avLst>
              <a:gd name="adj" fmla="val 207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6250" y="1238250"/>
            <a:ext cx="45910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000" y="1524000"/>
            <a:ext cx="4019550" cy="838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8000" b="0" i="0">
                <a:solidFill>
                  <a:srgbClr val="F8F7F4"/>
                </a:solidFill>
                <a:latin typeface="Bebas Neue"/>
              </a:rPr>
              <a:t>Direct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5029200"/>
            <a:ext cx="401955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A94A6"/>
                </a:solidFill>
                <a:latin typeface="DM Sans"/>
              </a:rPr>
              <a:t>No soft-pedalling.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19700" y="1238250"/>
            <a:ext cx="4591050" cy="4210050"/>
          </a:xfrm>
          <a:prstGeom prst="roundRect">
            <a:avLst>
              <a:gd name="adj" fmla="val 207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19700" y="1238250"/>
            <a:ext cx="45910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05450" y="1524000"/>
            <a:ext cx="4019550" cy="838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8000" b="0" i="0">
                <a:solidFill>
                  <a:srgbClr val="F8F7F4"/>
                </a:solidFill>
                <a:latin typeface="Bebas Neue"/>
              </a:rPr>
              <a:t>Specific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05450" y="5029200"/>
            <a:ext cx="401955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A94A6"/>
                </a:solidFill>
                <a:latin typeface="DM Sans"/>
              </a:rPr>
              <a:t>Numbers over narrative.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6250" y="5600700"/>
            <a:ext cx="4591050" cy="4210050"/>
          </a:xfrm>
          <a:prstGeom prst="roundRect">
            <a:avLst>
              <a:gd name="adj" fmla="val 207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6250" y="5600700"/>
            <a:ext cx="45910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2000" y="5886450"/>
            <a:ext cx="4019550" cy="838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8000" b="0" i="0">
                <a:solidFill>
                  <a:srgbClr val="F8F7F4"/>
                </a:solidFill>
                <a:latin typeface="Bebas Neue"/>
              </a:rPr>
              <a:t>Honest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2000" y="9391650"/>
            <a:ext cx="401955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A94A6"/>
                </a:solidFill>
                <a:latin typeface="DM Sans"/>
              </a:rPr>
              <a:t>If it's broken, we say so.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19700" y="5600700"/>
            <a:ext cx="4591050" cy="4210050"/>
          </a:xfrm>
          <a:prstGeom prst="roundRect">
            <a:avLst>
              <a:gd name="adj" fmla="val 207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19700" y="5600700"/>
            <a:ext cx="45910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05450" y="5886450"/>
            <a:ext cx="4019550" cy="838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8000" b="0" i="0">
                <a:solidFill>
                  <a:srgbClr val="F8F7F4"/>
                </a:solidFill>
                <a:latin typeface="Bebas Neue"/>
              </a:rPr>
              <a:t>Bold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05450" y="9391650"/>
            <a:ext cx="401955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A94A6"/>
                </a:solidFill>
                <a:latin typeface="DM Sans"/>
              </a:rPr>
              <a:t>Play offence, not defence.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pic>
        <p:nvPicPr>
          <p:cNvPr id="38" name="Picture 37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9486900"/>
            <a:ext cx="419100" cy="4191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71500" y="3886200"/>
            <a:ext cx="9144000" cy="1028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9000" b="0" i="0">
                <a:solidFill>
                  <a:srgbClr val="8A94A6"/>
                </a:solidFill>
                <a:latin typeface="Bebas Neue"/>
              </a:rPr>
              <a:t>We're not an agency.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71500" y="4314825"/>
            <a:ext cx="7200900" cy="0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71500" y="4981575"/>
            <a:ext cx="9144000" cy="1028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9000" b="0" i="0">
                <a:solidFill>
                  <a:srgbClr val="E8264B"/>
                </a:solidFill>
                <a:latin typeface="Bebas Neue"/>
              </a:rPr>
              <a:t>We're your growth system.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6153150"/>
            <a:ext cx="9144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B8C4D8"/>
                </a:solidFill>
                <a:latin typeface="DM Sans"/>
              </a:rPr>
              <a:t>Big difference.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7200900" y="-2057400"/>
            <a:ext cx="5715000" cy="5715000"/>
          </a:xfrm>
          <a:prstGeom prst="ellipse">
            <a:avLst/>
          </a:prstGeom>
          <a:solidFill>
            <a:srgbClr val="E826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571500" y="3638550"/>
            <a:ext cx="685800" cy="685800"/>
          </a:xfrm>
          <a:prstGeom prst="ellipse">
            <a:avLst/>
          </a:prstGeom>
          <a:noFill/>
          <a:ln w="381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500" y="4457700"/>
            <a:ext cx="9144000" cy="11525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1000" b="0" i="0">
                <a:solidFill>
                  <a:srgbClr val="E8264B"/>
                </a:solidFill>
                <a:latin typeface="Bebas Neue"/>
              </a:rPr>
              <a:t>Your revenue is leaking.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5638800"/>
            <a:ext cx="6667500" cy="476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8F7F4"/>
                </a:solidFill>
                <a:latin typeface="DM Sans"/>
              </a:rPr>
              <a:t>We'll show you exactly where. Free.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1500" y="6210300"/>
            <a:ext cx="2492121" cy="495300"/>
          </a:xfrm>
          <a:prstGeom prst="roundRect">
            <a:avLst>
              <a:gd name="adj" fmla="val 2293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9150" y="6210300"/>
            <a:ext cx="199682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 spc="140">
                <a:solidFill>
                  <a:srgbClr val="F8F7F4"/>
                </a:solidFill>
                <a:latin typeface="DM Sans"/>
              </a:rPr>
              <a:t>BOOK A FREE AUDIT 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pic>
        <p:nvPicPr>
          <p:cNvPr id="38" name="Picture 37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9486900"/>
            <a:ext cx="419100" cy="4191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71500" y="3833812"/>
            <a:ext cx="9144000" cy="1028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9000" b="0" i="0">
                <a:solidFill>
                  <a:srgbClr val="8A94A6"/>
                </a:solidFill>
                <a:latin typeface="Bebas Neue"/>
              </a:rPr>
              <a:t>Campaigns expire.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910137"/>
            <a:ext cx="9144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000" b="0" i="0">
                <a:solidFill>
                  <a:srgbClr val="F8F7F4"/>
                </a:solidFill>
                <a:latin typeface="Bebas Neue"/>
              </a:rPr>
              <a:t>Growth systems compound.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72250" y="5862637"/>
            <a:ext cx="3600450" cy="0"/>
          </a:xfrm>
          <a:prstGeom prst="line">
            <a:avLst/>
          </a:prstGeom>
          <a:ln w="508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71500" y="6186487"/>
            <a:ext cx="9144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B8C4D8"/>
                </a:solidFill>
                <a:latin typeface="DM Sans"/>
              </a:rPr>
              <a:t>We build the latter.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