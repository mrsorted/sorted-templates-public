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2200275"/>
            <a:ext cx="10477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HOOK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250" y="2486025"/>
            <a:ext cx="10477500" cy="8324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600" b="0" i="0">
                <a:solidFill>
                  <a:srgbClr val="F8F7F4"/>
                </a:solidFill>
                <a:latin typeface="Bebas Neue"/>
              </a:rPr>
              <a:t>Klaviyo went from 8% to 44% of revenue in 90 days.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3451860"/>
            <a:ext cx="10477500" cy="243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Here's the exact 4-step framework we used.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" y="3867150"/>
            <a:ext cx="1047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810750" y="381000"/>
            <a:ext cx="962025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0750" y="3810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ANNOUNCEMENT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2227326"/>
            <a:ext cx="10477500" cy="8412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4800" b="0" i="0">
                <a:solidFill>
                  <a:srgbClr val="F8F7F4"/>
                </a:solidFill>
                <a:latin typeface="Bebas Neue"/>
              </a:rPr>
              <a:t>Sorted is now a certified Klaviyo Gold Partner.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" y="3240024"/>
            <a:ext cx="8572500" cy="428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Official partner status. Full API access. Dedicated Klaviyo strategist on every engagement.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250" y="3840099"/>
            <a:ext cx="1047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80">
                <a:solidFill>
                  <a:srgbClr val="E8264B"/>
                </a:solidFill>
                <a:latin typeface="DM Sans"/>
              </a:rPr>
              <a:t>READ THE FULL ANNOUNCEMENT → SORTED.AGENCY/NEWS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762000"/>
            <a:ext cx="10477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SORTED POLL · 100 D2C FOUNDERS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250" y="952500"/>
            <a:ext cx="10477500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8F7F4"/>
                </a:solidFill>
                <a:latin typeface="Bebas Neue"/>
              </a:rPr>
              <a:t>Where is your next $10K of revenue coming from?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4486275"/>
            <a:ext cx="9715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Meta 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1750" y="4486275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E8264B"/>
                </a:solidFill>
                <a:latin typeface="DM Sans"/>
              </a:rPr>
              <a:t>22%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6250" y="4657725"/>
            <a:ext cx="10477500" cy="133350"/>
          </a:xfrm>
          <a:prstGeom prst="roundRect">
            <a:avLst>
              <a:gd name="adj" fmla="val 363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6250" y="4657725"/>
            <a:ext cx="2305050" cy="133350"/>
          </a:xfrm>
          <a:prstGeom prst="roundRect">
            <a:avLst>
              <a:gd name="adj" fmla="val 1652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250" y="4867275"/>
            <a:ext cx="9715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Klaviyo 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1750" y="4867275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E8264B"/>
                </a:solidFill>
                <a:latin typeface="DM Sans"/>
              </a:rPr>
              <a:t>58%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6250" y="5038725"/>
            <a:ext cx="10477500" cy="133350"/>
          </a:xfrm>
          <a:prstGeom prst="roundRect">
            <a:avLst>
              <a:gd name="adj" fmla="val 363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6250" y="5038725"/>
            <a:ext cx="6076950" cy="133350"/>
          </a:xfrm>
          <a:prstGeom prst="roundRect">
            <a:avLst>
              <a:gd name="adj" fmla="val 62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250" y="5248275"/>
            <a:ext cx="9715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SEO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1750" y="5248275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E8264B"/>
                </a:solidFill>
                <a:latin typeface="DM Sans"/>
              </a:rPr>
              <a:t>12%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6250" y="5419725"/>
            <a:ext cx="10477500" cy="133350"/>
          </a:xfrm>
          <a:prstGeom prst="roundRect">
            <a:avLst>
              <a:gd name="adj" fmla="val 363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76250" y="5419725"/>
            <a:ext cx="1257300" cy="133350"/>
          </a:xfrm>
          <a:prstGeom prst="roundRect">
            <a:avLst>
              <a:gd name="adj" fmla="val 3030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250" y="5629275"/>
            <a:ext cx="9715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SMS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1750" y="5629275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E8264B"/>
                </a:solidFill>
                <a:latin typeface="DM Sans"/>
              </a:rPr>
              <a:t>8%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6250" y="5800725"/>
            <a:ext cx="10477500" cy="133350"/>
          </a:xfrm>
          <a:prstGeom prst="roundRect">
            <a:avLst>
              <a:gd name="adj" fmla="val 363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6250" y="5800725"/>
            <a:ext cx="838200" cy="133350"/>
          </a:xfrm>
          <a:prstGeom prst="roundRect">
            <a:avLst>
              <a:gd name="adj" fmla="val 4545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6250" y="5553075"/>
            <a:ext cx="1047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Klaviyo wins. Again. Your answer? Comment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0"/>
            <a:ext cx="38100" cy="59721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6750" y="1884045"/>
            <a:ext cx="10287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EDITORIAL · SORTED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50" y="2226945"/>
            <a:ext cx="809625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Agencies get addicted to retainers. They sell hours because that's what they can measure. But hours aren't outcomes — and D2C founders don't buy hours, they buy revenue.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50" y="3107055"/>
            <a:ext cx="10287000" cy="6000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0" i="1">
                <a:solidFill>
                  <a:srgbClr val="F8F7F4"/>
                </a:solidFill>
                <a:latin typeface="Bebas Neue"/>
              </a:rPr>
              <a:t>"If you can't measure it, we can't charge for it."</a:t>
            </a:r>
          </a:p>
        </p:txBody>
      </p:sp>
      <p:sp>
        <p:nvSpPr>
          <p:cNvPr id="37" name="Oval 36"/>
          <p:cNvSpPr/>
          <p:nvPr/>
        </p:nvSpPr>
        <p:spPr>
          <a:xfrm>
            <a:off x="666750" y="3954780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750" y="395478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95478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Dhiraj Palekar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14528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Founder · Sorted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810750" y="381000"/>
            <a:ext cx="1026318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0750" y="381000"/>
            <a:ext cx="1026318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WE'RE GROWING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250" y="952500"/>
            <a:ext cx="4431195" cy="4543425"/>
          </a:xfrm>
          <a:prstGeom prst="roundRect">
            <a:avLst>
              <a:gd name="adj" fmla="val 2515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347" y="2938462"/>
            <a:ext cx="381000" cy="381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3357562"/>
            <a:ext cx="443119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new hire headshot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195" y="2253615"/>
            <a:ext cx="5760554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NEW SQUAD MEMBER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195" y="2520315"/>
            <a:ext cx="5760554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8F7F4"/>
                </a:solidFill>
                <a:latin typeface="Bebas Neue"/>
              </a:rPr>
              <a:t>Meet [Name].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195" y="2958465"/>
            <a:ext cx="5760554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E8264B"/>
                </a:solidFill>
                <a:latin typeface="DM Sans"/>
              </a:rPr>
              <a:t>HEAD OF PERFORMANCE · MUMBAI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195" y="3301365"/>
            <a:ext cx="5760554" cy="5314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B8C4D8"/>
                </a:solidFill>
                <a:latin typeface="DM Sans"/>
              </a:rPr>
              <a:t>Joins from [Previous Co]. Will lead our Meta + Google pod across 40+ D2C brands. Loud opinions on creative testing and budget splits — just how we like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3195" y="4023360"/>
            <a:ext cx="5760554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FOLLOW [NAME] ON LINKEDIN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