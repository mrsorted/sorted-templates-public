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4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43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86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9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72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15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6250" y="5259705"/>
            <a:ext cx="9334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HOOK 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250" y="5545455"/>
            <a:ext cx="9334500" cy="19545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7200" b="0" i="0">
                <a:solidFill>
                  <a:srgbClr val="F8F7F4"/>
                </a:solidFill>
                <a:latin typeface="Bebas Neue"/>
              </a:rPr>
              <a:t>Klaviyo went from 8% to 44% of revenue in 90 days.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7633335"/>
            <a:ext cx="9334500" cy="27051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Here's the exact 4-step framework we used.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250" y="8075295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4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43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86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9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72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15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0" y="0"/>
            <a:ext cx="95250" cy="128587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571500" y="952500"/>
            <a:ext cx="923925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1" i="0" spc="220">
                <a:solidFill>
                  <a:srgbClr val="E8264B"/>
                </a:solidFill>
                <a:latin typeface="DM Sans"/>
              </a:rPr>
              <a:t>SORTED PLAYBOOK · VOL. 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1500" y="1428750"/>
            <a:ext cx="9239250" cy="21069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The D2C Klaviyo</a:t>
            </a:r>
          </a:p>
          <a:p>
            <a:pPr algn="l">
              <a:lnSpc>
                <a:spcPct val="88000"/>
              </a:lnSpc>
            </a:pPr>
            <a:r>
              <a:rPr sz="12000" b="0" i="0">
                <a:solidFill>
                  <a:srgbClr val="F8F7F4"/>
                </a:solidFill>
                <a:latin typeface="Bebas Neue"/>
              </a:rPr>
              <a:t>Playbook.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" y="3745230"/>
            <a:ext cx="923925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7 flows. 30 days. 42% of revenue. A field manual for founders.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1500" y="4697730"/>
            <a:ext cx="9239250" cy="2667000"/>
          </a:xfrm>
          <a:prstGeom prst="roundRect">
            <a:avLst>
              <a:gd name="adj" fmla="val 1237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0625" y="5745480"/>
            <a:ext cx="381000" cy="381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71500" y="6164580"/>
            <a:ext cx="923925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relevant visual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1500" y="12096750"/>
            <a:ext cx="2857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8A94A6"/>
                </a:solidFill>
                <a:latin typeface="DM Sans"/>
              </a:rPr>
              <a:t>SWIPE TO READ →</a:t>
            </a:r>
          </a:p>
        </p:txBody>
      </p:sp>
      <p:pic>
        <p:nvPicPr>
          <p:cNvPr id="51" name="Picture 50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650" y="11963400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4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43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86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9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72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15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667750" y="381000"/>
            <a:ext cx="962025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7750" y="381000"/>
            <a:ext cx="96202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ANNOUNCEMENT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4935093"/>
            <a:ext cx="9334500" cy="19979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2000"/>
              </a:lnSpc>
            </a:pPr>
            <a:r>
              <a:rPr sz="7600" b="0" i="0">
                <a:solidFill>
                  <a:srgbClr val="F8F7F4"/>
                </a:solidFill>
                <a:latin typeface="Bebas Neue"/>
              </a:rPr>
              <a:t>Sorted is now a certified Klaviyo Gold Partner.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6250" y="7104507"/>
            <a:ext cx="85725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Official partner status. Full API access. Dedicated Klaviyo strategist on every engagement.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6250" y="8018907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80">
                <a:solidFill>
                  <a:srgbClr val="E8264B"/>
                </a:solidFill>
                <a:latin typeface="DM Sans"/>
              </a:rPr>
              <a:t>READ THE FULL ANNOUNCEMENT → SORTED.AGENCY/NEWS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4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43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86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9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72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15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476250" y="762000"/>
            <a:ext cx="9334500" cy="16192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20">
                <a:solidFill>
                  <a:srgbClr val="E8264B"/>
                </a:solidFill>
                <a:latin typeface="DM Sans"/>
              </a:rPr>
              <a:t>SORTED POLL · 100 D2C FOUNDERS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6250" y="952500"/>
            <a:ext cx="9334500" cy="86867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4800" b="0" i="0">
                <a:solidFill>
                  <a:srgbClr val="F8F7F4"/>
                </a:solidFill>
                <a:latin typeface="Bebas Neue"/>
              </a:rPr>
              <a:t>Where is your next $10K of revenue coming from?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220218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Meta ads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48750" y="220218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8264B"/>
                </a:solidFill>
                <a:latin typeface="DM Sans"/>
              </a:rPr>
              <a:t>22%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6250" y="2411730"/>
            <a:ext cx="9334500" cy="171450"/>
          </a:xfrm>
          <a:prstGeom prst="roundRect">
            <a:avLst>
              <a:gd name="adj" fmla="val 408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76250" y="2411730"/>
            <a:ext cx="2053590" cy="171450"/>
          </a:xfrm>
          <a:prstGeom prst="roundRect">
            <a:avLst>
              <a:gd name="adj" fmla="val 1855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6250" y="269748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Klaviyo flows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48750" y="269748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8264B"/>
                </a:solidFill>
                <a:latin typeface="DM Sans"/>
              </a:rPr>
              <a:t>58%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6250" y="2907030"/>
            <a:ext cx="9334500" cy="171450"/>
          </a:xfrm>
          <a:prstGeom prst="roundRect">
            <a:avLst>
              <a:gd name="adj" fmla="val 408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76250" y="2907030"/>
            <a:ext cx="5414010" cy="171450"/>
          </a:xfrm>
          <a:prstGeom prst="roundRect">
            <a:avLst>
              <a:gd name="adj" fmla="val 703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6250" y="319278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SEO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48750" y="319278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8264B"/>
                </a:solidFill>
                <a:latin typeface="DM Sans"/>
              </a:rPr>
              <a:t>12%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6250" y="3402330"/>
            <a:ext cx="9334500" cy="171450"/>
          </a:xfrm>
          <a:prstGeom prst="roundRect">
            <a:avLst>
              <a:gd name="adj" fmla="val 408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6250" y="3402330"/>
            <a:ext cx="1120140" cy="171450"/>
          </a:xfrm>
          <a:prstGeom prst="roundRect">
            <a:avLst>
              <a:gd name="adj" fmla="val 3401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76250" y="3688080"/>
            <a:ext cx="8572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SMS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48750" y="3688080"/>
            <a:ext cx="7620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8264B"/>
                </a:solidFill>
                <a:latin typeface="DM Sans"/>
              </a:rPr>
              <a:t>8%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6250" y="3897630"/>
            <a:ext cx="9334500" cy="171450"/>
          </a:xfrm>
          <a:prstGeom prst="roundRect">
            <a:avLst>
              <a:gd name="adj" fmla="val 408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76250" y="3897630"/>
            <a:ext cx="746760" cy="171450"/>
          </a:xfrm>
          <a:prstGeom prst="roundRect">
            <a:avLst>
              <a:gd name="adj" fmla="val 5102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6250" y="12439650"/>
            <a:ext cx="9334500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DM Sans"/>
              </a:rPr>
              <a:t>Klaviyo wins. Again. Your answer? Comment 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4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43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86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9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72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15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0" y="0"/>
            <a:ext cx="38100" cy="128587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66750" y="4779645"/>
            <a:ext cx="91440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20">
                <a:solidFill>
                  <a:srgbClr val="E8264B"/>
                </a:solidFill>
                <a:latin typeface="DM Sans"/>
              </a:rPr>
              <a:t>EDITORIAL · SORTED NOTES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6750" y="5122545"/>
            <a:ext cx="809625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60000"/>
              </a:lnSpc>
            </a:pPr>
            <a:r>
              <a:rPr sz="1800" b="0" i="0">
                <a:solidFill>
                  <a:srgbClr val="B8C4D8"/>
                </a:solidFill>
                <a:latin typeface="DM Sans"/>
              </a:rPr>
              <a:t>Agencies get addicted to retainers. They sell hours because that's what they can measure. But hours aren't outcomes — and D2C founders don't buy hours, they buy revenue.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6750" y="6505575"/>
            <a:ext cx="9144000" cy="104013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5000"/>
              </a:lnSpc>
            </a:pPr>
            <a:r>
              <a:rPr sz="5200" b="0" i="1">
                <a:solidFill>
                  <a:srgbClr val="F8F7F4"/>
                </a:solidFill>
                <a:latin typeface="Bebas Neue"/>
              </a:rPr>
              <a:t>"If you can't measure it, we can't charge for it."</a:t>
            </a:r>
          </a:p>
        </p:txBody>
      </p:sp>
      <p:sp>
        <p:nvSpPr>
          <p:cNvPr id="47" name="Oval 46"/>
          <p:cNvSpPr/>
          <p:nvPr/>
        </p:nvSpPr>
        <p:spPr>
          <a:xfrm>
            <a:off x="666750" y="7793355"/>
            <a:ext cx="457200" cy="4572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6750" y="7793355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00" b="0" i="1">
                <a:solidFill>
                  <a:srgbClr val="8A94A6"/>
                </a:solidFill>
                <a:latin typeface="DM Sans"/>
              </a:rPr>
              <a:t>DP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57300" y="7793355"/>
            <a:ext cx="285750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Dhiraj Palekar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57300" y="7983855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DM Sans"/>
              </a:rPr>
              <a:t>Founder · Sorted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10287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10858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11430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0" y="1200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0" y="1257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1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43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714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286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7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429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4000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572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143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715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286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858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429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001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572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1440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9715500" y="0"/>
            <a:ext cx="0" cy="1285875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8667750" y="381000"/>
            <a:ext cx="1026318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67750" y="381000"/>
            <a:ext cx="1026318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WE'RE GROWING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6250" y="952500"/>
            <a:ext cx="3934239" cy="11430000"/>
          </a:xfrm>
          <a:prstGeom prst="roundRect">
            <a:avLst>
              <a:gd name="adj" fmla="val 100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869" y="6381750"/>
            <a:ext cx="381000" cy="381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476250" y="6800850"/>
            <a:ext cx="3934239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new hire headshot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6239" y="5240655"/>
            <a:ext cx="511451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E8264B"/>
                </a:solidFill>
                <a:latin typeface="DM Sans"/>
              </a:rPr>
              <a:t>NEW SQUAD MEMBER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96239" y="5507355"/>
            <a:ext cx="511451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5600" b="0" i="0">
                <a:solidFill>
                  <a:srgbClr val="F8F7F4"/>
                </a:solidFill>
                <a:latin typeface="Bebas Neue"/>
              </a:rPr>
              <a:t>Meet [Name].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96239" y="6562725"/>
            <a:ext cx="511451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1" i="0" spc="240">
                <a:solidFill>
                  <a:srgbClr val="E8264B"/>
                </a:solidFill>
                <a:latin typeface="DM Sans"/>
              </a:rPr>
              <a:t>HEAD OF PERFORMANCE · MUMBAI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96239" y="6905625"/>
            <a:ext cx="5114510" cy="8267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5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Joins from [Previous Co]. Will lead our Meta + Google pod across 40+ D2C brands. Loud opinions on creative testing and budget splits — just how we like it.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96239" y="7922895"/>
            <a:ext cx="511451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1" i="0" spc="280">
                <a:solidFill>
                  <a:srgbClr val="E8264B"/>
                </a:solidFill>
                <a:latin typeface="DM Sans"/>
              </a:rPr>
              <a:t>FOLLOW [NAME] ON LINKEDIN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