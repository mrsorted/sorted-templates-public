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733425" cy="17145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9258300" y="457200"/>
            <a:ext cx="1347787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8300" y="457200"/>
            <a:ext cx="1347787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CLIENT TESTIMONIAL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933450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70000"/>
              </a:lnSpc>
            </a:pPr>
            <a:r>
              <a:rPr sz="14000" b="0" i="0">
                <a:solidFill>
                  <a:srgbClr val="E8264B"/>
                </a:solidFill>
                <a:latin typeface="Bebas Neue"/>
              </a:rPr>
              <a:t>"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" y="1885950"/>
            <a:ext cx="171450" cy="1714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66750" y="1885950"/>
            <a:ext cx="171450" cy="1714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76300" y="1885950"/>
            <a:ext cx="171450" cy="1714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85850" y="1885950"/>
            <a:ext cx="171450" cy="1714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295400" y="1885950"/>
            <a:ext cx="171450" cy="1714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2247900"/>
            <a:ext cx="10515600" cy="20288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800" b="0" i="1">
                <a:solidFill>
                  <a:srgbClr val="F8F7F4"/>
                </a:solidFill>
                <a:latin typeface="DM Sans"/>
              </a:rPr>
              <a:t>"They're incredibly ethical and go above and beyond to help you scale. One of the rare agencies that actually cares about your outcome."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57200" y="4752975"/>
            <a:ext cx="105156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457200" y="4962525"/>
            <a:ext cx="495300" cy="4953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4962525"/>
            <a:ext cx="4953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Drop headshot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3950" y="5019675"/>
            <a:ext cx="927735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000" b="0" i="0" spc="50">
                <a:solidFill>
                  <a:srgbClr val="F8F7F4"/>
                </a:solidFill>
                <a:latin typeface="Bebas Neue"/>
              </a:rPr>
              <a:t>Brandon Gil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3950" y="5229225"/>
            <a:ext cx="927735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President, Gil Ventures LLC</a:t>
            </a:r>
          </a:p>
        </p:txBody>
      </p:sp>
      <p:pic>
        <p:nvPicPr>
          <p:cNvPr id="47" name="Picture 46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5057775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81000" y="381000"/>
            <a:ext cx="10668000" cy="5210175"/>
          </a:xfrm>
          <a:prstGeom prst="roundRect">
            <a:avLst>
              <a:gd name="adj" fmla="val 1428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762000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70000"/>
              </a:lnSpc>
            </a:pPr>
            <a:r>
              <a:rPr sz="14000" b="0" i="0">
                <a:solidFill>
                  <a:srgbClr val="E8264B"/>
                </a:solidFill>
                <a:latin typeface="Bebas Neue"/>
              </a:rPr>
              <a:t>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2000" y="1590675"/>
            <a:ext cx="9906000" cy="2667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2200" b="0" i="1">
                <a:solidFill>
                  <a:srgbClr val="F8F7F4"/>
                </a:solidFill>
                <a:latin typeface="DM Sans"/>
              </a:rPr>
              <a:t>Revenue tripled in 6 months. They rebuilt our entire growth engine from the ground up.</a:t>
            </a:r>
          </a:p>
        </p:txBody>
      </p:sp>
      <p:sp>
        <p:nvSpPr>
          <p:cNvPr id="35" name="Oval 34"/>
          <p:cNvSpPr/>
          <p:nvPr/>
        </p:nvSpPr>
        <p:spPr>
          <a:xfrm>
            <a:off x="762000" y="4524375"/>
            <a:ext cx="533400" cy="5334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000" y="4524375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Drop headshot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6850" y="4619625"/>
            <a:ext cx="805815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200" b="0" i="0" spc="50">
                <a:solidFill>
                  <a:srgbClr val="F8F7F4"/>
                </a:solidFill>
                <a:latin typeface="Bebas Neue"/>
              </a:rPr>
              <a:t>Avni Mehra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66850" y="4848225"/>
            <a:ext cx="8058150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Founder, Leafmark Beauty</a:t>
            </a:r>
          </a:p>
        </p:txBody>
      </p:sp>
      <p:pic>
        <p:nvPicPr>
          <p:cNvPr id="39" name="Picture 38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575" y="4705350"/>
            <a:ext cx="73342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42900" y="342900"/>
            <a:ext cx="3429000" cy="1333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1" i="0" spc="220">
                <a:solidFill>
                  <a:srgbClr val="E8264B"/>
                </a:solidFill>
                <a:latin typeface="DM Sans"/>
              </a:rPr>
              <a:t>REAL MESSAGE · UNEDITED</a:t>
            </a:r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9400" y="342900"/>
            <a:ext cx="647700" cy="152400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342900" y="819150"/>
            <a:ext cx="10744200" cy="4238625"/>
          </a:xfrm>
          <a:prstGeom prst="roundRect">
            <a:avLst>
              <a:gd name="adj" fmla="val 1241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14350" y="990600"/>
            <a:ext cx="381000" cy="3810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4350" y="990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Avatar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" y="1009650"/>
            <a:ext cx="96202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F8F7F4"/>
                </a:solidFill>
                <a:latin typeface="DM Sans"/>
              </a:rPr>
              <a:t>Rahul Sen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9650" y="1200150"/>
            <a:ext cx="962025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active now · LinkedIn</a:t>
            </a:r>
          </a:p>
        </p:txBody>
      </p:sp>
      <p:sp>
        <p:nvSpPr>
          <p:cNvPr id="39" name="Oval 38"/>
          <p:cNvSpPr/>
          <p:nvPr/>
        </p:nvSpPr>
        <p:spPr>
          <a:xfrm>
            <a:off x="10725150" y="1143000"/>
            <a:ext cx="28575" cy="28575"/>
          </a:xfrm>
          <a:prstGeom prst="ellipse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782300" y="1143000"/>
            <a:ext cx="28575" cy="28575"/>
          </a:xfrm>
          <a:prstGeom prst="ellipse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839450" y="1143000"/>
            <a:ext cx="28575" cy="28575"/>
          </a:xfrm>
          <a:prstGeom prst="ellipse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514350" y="1504950"/>
            <a:ext cx="104013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14350" y="1676400"/>
            <a:ext cx="8839200" cy="647700"/>
          </a:xfrm>
          <a:prstGeom prst="roundRect">
            <a:avLst>
              <a:gd name="adj" fmla="val 1508"/>
            </a:avLst>
          </a:prstGeom>
          <a:solidFill>
            <a:srgbClr val="09182B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1809750"/>
            <a:ext cx="84963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300" b="0" i="1">
                <a:solidFill>
                  <a:srgbClr val="F8F7F4"/>
                </a:solidFill>
                <a:latin typeface="DM Sans"/>
              </a:rPr>
              <a:t>"Klaviyo went from 8% to 44% of revenue in a single quarter. I've never seen a team move this fast."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4350" y="2419350"/>
            <a:ext cx="2476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12:42 PM · via LinkedIn  ✓✓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" y="5400675"/>
            <a:ext cx="101727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60">
                <a:solidFill>
                  <a:srgbClr val="8A94A6"/>
                </a:solidFill>
                <a:latin typeface="DM Sans"/>
              </a:rPr>
              <a:t>CMO, URC BEVERAGES</a:t>
            </a:r>
          </a:p>
        </p:txBody>
      </p:sp>
      <p:pic>
        <p:nvPicPr>
          <p:cNvPr id="47" name="Picture 46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300" y="5305425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381000" y="381000"/>
            <a:ext cx="9525000" cy="438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3600" b="0" i="0" spc="50">
                <a:solidFill>
                  <a:srgbClr val="F8F7F4"/>
                </a:solidFill>
                <a:latin typeface="Bebas Neue"/>
              </a:rPr>
              <a:t>What Clients Say.</a:t>
            </a:r>
          </a:p>
        </p:txBody>
      </p:sp>
      <p:pic>
        <p:nvPicPr>
          <p:cNvPr id="33" name="Picture 3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3650" y="457200"/>
            <a:ext cx="895350" cy="20955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81000" y="952500"/>
            <a:ext cx="3441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81000" y="952500"/>
            <a:ext cx="3441700" cy="4638675"/>
          </a:xfrm>
          <a:prstGeom prst="roundRect">
            <a:avLst>
              <a:gd name="adj" fmla="val 246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" y="952500"/>
            <a:ext cx="3441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334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0485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63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775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192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3400" y="1295400"/>
            <a:ext cx="3136900" cy="3381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F8F7F4"/>
                </a:solidFill>
                <a:latin typeface="DM Sans"/>
              </a:rPr>
              <a:t>"Incredibly ethical. They actually care about your outcome."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33400" y="4943475"/>
            <a:ext cx="31369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533400" y="5019675"/>
            <a:ext cx="342900" cy="3429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3400" y="5019675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avatar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550" y="5038725"/>
            <a:ext cx="269875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8F7F4"/>
                </a:solidFill>
                <a:latin typeface="DM Sans"/>
              </a:rPr>
              <a:t>Brandon Gil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1550" y="5210175"/>
            <a:ext cx="269875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A94A6"/>
                </a:solidFill>
                <a:latin typeface="DM Sans"/>
              </a:rPr>
              <a:t>President, Gil Ventures LLC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994150" y="952500"/>
            <a:ext cx="3441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3994150" y="952500"/>
            <a:ext cx="3441700" cy="4638675"/>
          </a:xfrm>
          <a:prstGeom prst="roundRect">
            <a:avLst>
              <a:gd name="adj" fmla="val 246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994150" y="952500"/>
            <a:ext cx="3441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14655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3180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48945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6609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83235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46550" y="1295400"/>
            <a:ext cx="3136900" cy="3381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F8F7F4"/>
                </a:solidFill>
                <a:latin typeface="DM Sans"/>
              </a:rPr>
              <a:t>"Revenue tripled in 6 months. Whole engine rebuilt."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146550" y="4943475"/>
            <a:ext cx="31369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4146550" y="5019675"/>
            <a:ext cx="342900" cy="3429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46550" y="5019675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avatar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84700" y="5038725"/>
            <a:ext cx="269875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8F7F4"/>
                </a:solidFill>
                <a:latin typeface="DM Sans"/>
              </a:rPr>
              <a:t>Avni Mehra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84700" y="5210175"/>
            <a:ext cx="269875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A94A6"/>
                </a:solidFill>
                <a:latin typeface="DM Sans"/>
              </a:rPr>
              <a:t>Founder, Leafmark Beauty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607300" y="952500"/>
            <a:ext cx="3441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607300" y="952500"/>
            <a:ext cx="3441700" cy="4638675"/>
          </a:xfrm>
          <a:prstGeom prst="roundRect">
            <a:avLst>
              <a:gd name="adj" fmla="val 2464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07300" y="952500"/>
            <a:ext cx="3441700" cy="28575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7597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93115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1026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27405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445500" y="1104900"/>
            <a:ext cx="133350" cy="1333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59700" y="1295400"/>
            <a:ext cx="3136900" cy="33813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200" b="0" i="1">
                <a:solidFill>
                  <a:srgbClr val="F8F7F4"/>
                </a:solidFill>
                <a:latin typeface="DM Sans"/>
              </a:rPr>
              <a:t>"They sell outcomes, not hours. 4.8× ROAS for 9 months."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759700" y="4943475"/>
            <a:ext cx="31369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7759700" y="5019675"/>
            <a:ext cx="342900" cy="3429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59700" y="5019675"/>
            <a:ext cx="342900" cy="3429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avatar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197850" y="5038725"/>
            <a:ext cx="269875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8F7F4"/>
                </a:solidFill>
                <a:latin typeface="DM Sans"/>
              </a:rPr>
              <a:t>Dev Iyer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97850" y="5210175"/>
            <a:ext cx="269875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8A94A6"/>
                </a:solidFill>
                <a:latin typeface="DM Sans"/>
              </a:rPr>
              <a:t>Founder, Rev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19150" cy="1905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0" y="857250"/>
            <a:ext cx="114300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TRUSTED BY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1085850"/>
            <a:ext cx="11430000" cy="628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6000" b="0" i="0">
                <a:solidFill>
                  <a:srgbClr val="F8F7F4"/>
                </a:solidFill>
                <a:latin typeface="Bebas Neue"/>
              </a:rPr>
              <a:t>100+ D2C brands.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2500" y="194310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2500" y="194310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URC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559049" y="194310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59049" y="194310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MIT Sloan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5600" y="194310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65600" y="194310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WHO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72150" y="194310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72150" y="194310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Rev Scale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78700" y="194310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78700" y="194310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Surge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985250" y="194310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85250" y="194310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EZ Melts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2500" y="253365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2500" y="253365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Homestead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559049" y="253365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59049" y="253365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TFC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65600" y="253365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65600" y="253365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Teplo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72150" y="253365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72150" y="253365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Free Range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78700" y="253365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78700" y="253365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Sent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85250" y="2533650"/>
            <a:ext cx="1492250" cy="476250"/>
          </a:xfrm>
          <a:prstGeom prst="roundRect">
            <a:avLst>
              <a:gd name="adj" fmla="val 3829"/>
            </a:avLst>
          </a:prstGeom>
          <a:solidFill>
            <a:srgbClr val="0F2240"/>
          </a:solidFill>
          <a:ln w="6350">
            <a:solidFill>
              <a:srgbClr val="B8C4D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85250" y="2533650"/>
            <a:ext cx="1492250" cy="476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400" b="0" i="0" spc="120">
                <a:solidFill>
                  <a:srgbClr val="B8C4D8"/>
                </a:solidFill>
                <a:latin typeface="Bebas Neue"/>
              </a:rPr>
              <a:t>Explosive Whey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orted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0" y="2700337"/>
            <a:ext cx="381000" cy="381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0" y="311943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client video thumbnail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3286125"/>
            <a:ext cx="11430000" cy="268605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orte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304800"/>
            <a:ext cx="895350" cy="20955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9791700" y="304800"/>
            <a:ext cx="962025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91700" y="304800"/>
            <a:ext cx="96202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CLIENT STORY</a:t>
            </a:r>
          </a:p>
        </p:txBody>
      </p:sp>
      <p:sp>
        <p:nvSpPr>
          <p:cNvPr id="39" name="Oval 38"/>
          <p:cNvSpPr/>
          <p:nvPr/>
        </p:nvSpPr>
        <p:spPr>
          <a:xfrm>
            <a:off x="5334000" y="2246757"/>
            <a:ext cx="762000" cy="7620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34000" y="2246757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3600" b="0" i="0">
                <a:solidFill>
                  <a:srgbClr val="F8F7F4"/>
                </a:solidFill>
                <a:latin typeface="DM Sans"/>
              </a:rPr>
              <a:t>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04800" y="5000625"/>
            <a:ext cx="8153400" cy="2724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600" b="0" i="0" spc="50">
                <a:solidFill>
                  <a:srgbClr val="F8F7F4"/>
                </a:solidFill>
                <a:latin typeface="Bebas Neue"/>
              </a:rPr>
              <a:t>Mira Kapoor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800" y="5286375"/>
            <a:ext cx="81534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B8C4D8"/>
                </a:solidFill>
                <a:latin typeface="DM Sans"/>
              </a:rPr>
              <a:t>Co-founder, Homestead Collective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48700" y="5476875"/>
            <a:ext cx="2476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</a:pPr>
            <a:r>
              <a:rPr sz="1000" b="1" i="0" spc="280">
                <a:solidFill>
                  <a:srgbClr val="E8264B"/>
                </a:solidFill>
                <a:latin typeface="DM Sans"/>
              </a:rPr>
              <a:t>WATCH THEIR STORY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1430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71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43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14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57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000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43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15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286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29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01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72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144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715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2870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858500" y="0"/>
            <a:ext cx="0" cy="5972175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3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0" y="857250"/>
            <a:ext cx="11430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CERTIFIED PARTNERS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0" y="1143000"/>
            <a:ext cx="11430000" cy="586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5600" b="0" i="0">
                <a:solidFill>
                  <a:srgbClr val="F8F7F4"/>
                </a:solidFill>
                <a:latin typeface="Bebas Neue"/>
              </a:rPr>
              <a:t>The full D2C stack.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7500" y="1790700"/>
            <a:ext cx="5715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Official agency partners across the full D2C stack.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2500" y="224790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2500" y="224790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Meta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67087" y="224790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67087" y="224790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Google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81675" y="224790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81675" y="224790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Shopify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96262" y="224790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96262" y="224790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Klaviyo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2500" y="295275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2500" y="295275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AWS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67087" y="295275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67087" y="295275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Salesforce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781675" y="295275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81675" y="295275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Razorpay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96262" y="2952750"/>
            <a:ext cx="2281237" cy="571500"/>
          </a:xfrm>
          <a:prstGeom prst="roundRect">
            <a:avLst>
              <a:gd name="adj" fmla="val 2505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96262" y="2952750"/>
            <a:ext cx="2281237" cy="571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800" b="0" i="0" spc="120">
                <a:solidFill>
                  <a:srgbClr val="B8C4D8"/>
                </a:solidFill>
                <a:latin typeface="Bebas Neue"/>
              </a:rPr>
              <a:t>Odoo</a:t>
            </a:r>
          </a:p>
        </p:txBody>
      </p:sp>
      <p:pic>
        <p:nvPicPr>
          <p:cNvPr id="52" name="Picture 51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6100" y="5248275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