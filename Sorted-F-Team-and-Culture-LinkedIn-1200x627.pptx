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1430000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381250" y="-347662"/>
            <a:ext cx="6667500" cy="6667500"/>
          </a:xfrm>
          <a:prstGeom prst="ellipse">
            <a:avLst/>
          </a:prstGeom>
          <a:solidFill>
            <a:srgbClr val="E8264B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733425" cy="171450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762000" y="952500"/>
            <a:ext cx="76200" cy="7620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668000" y="1333500"/>
            <a:ext cx="57150" cy="571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428750" y="4257675"/>
            <a:ext cx="95250" cy="952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91750" y="4733925"/>
            <a:ext cx="66675" cy="66675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81000" y="2986087"/>
            <a:ext cx="47625" cy="47625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049000" y="3938587"/>
            <a:ext cx="57150" cy="571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0" y="1081087"/>
            <a:ext cx="114300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WELCOME TO THE TEAM</a:t>
            </a:r>
          </a:p>
        </p:txBody>
      </p:sp>
      <p:sp>
        <p:nvSpPr>
          <p:cNvPr id="41" name="Oval 40"/>
          <p:cNvSpPr/>
          <p:nvPr/>
        </p:nvSpPr>
        <p:spPr>
          <a:xfrm>
            <a:off x="4762500" y="1462087"/>
            <a:ext cx="1905000" cy="19050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62500" y="1462087"/>
            <a:ext cx="1905000" cy="1905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666" b="0" i="1">
                <a:solidFill>
                  <a:srgbClr val="8A94A6"/>
                </a:solidFill>
                <a:latin typeface="DM Sans"/>
              </a:rPr>
              <a:t>Drop new hire photo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0" y="3595687"/>
            <a:ext cx="11430000" cy="586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5600" b="0" i="0">
                <a:solidFill>
                  <a:srgbClr val="F8F7F4"/>
                </a:solidFill>
                <a:latin typeface="Bebas Neue"/>
              </a:rPr>
              <a:t>[Name]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0" y="4167187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B8C4D8"/>
                </a:solidFill>
                <a:latin typeface="DM Sans"/>
              </a:rPr>
              <a:t>[Role] · Sorted Squad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0" y="4433887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Fun fact: [something about them]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81000" y="381000"/>
            <a:ext cx="4267200" cy="5210175"/>
          </a:xfrm>
          <a:prstGeom prst="roundRect">
            <a:avLst>
              <a:gd name="adj" fmla="val 2193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0" y="2700337"/>
            <a:ext cx="381000" cy="381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81000" y="3119437"/>
            <a:ext cx="42672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team photo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14900" y="571500"/>
            <a:ext cx="6134100" cy="133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220">
                <a:solidFill>
                  <a:srgbClr val="E8264B"/>
                </a:solidFill>
                <a:latin typeface="DM Sans"/>
              </a:rPr>
              <a:t>TEAM SPOTLIGHT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4900" y="819150"/>
            <a:ext cx="6134100" cy="523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5000" b="0" i="0">
                <a:solidFill>
                  <a:srgbClr val="F8F7F4"/>
                </a:solidFill>
                <a:latin typeface="Bebas Neue"/>
              </a:rPr>
              <a:t>Meet [Name]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14900" y="1390650"/>
            <a:ext cx="6134100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B8C4D8"/>
                </a:solidFill>
                <a:latin typeface="DM Sans"/>
              </a:rPr>
              <a:t>[Role]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14900" y="1714500"/>
            <a:ext cx="61341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200" b="0" i="1">
                <a:solidFill>
                  <a:srgbClr val="F8F7F4"/>
                </a:solidFill>
                <a:latin typeface="DM Sans"/>
              </a:rPr>
              <a:t>"I didn't join an agency. I joined a growth system."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14900" y="2571750"/>
            <a:ext cx="61341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A94A6"/>
                </a:solidFill>
                <a:latin typeface="DM Sans"/>
              </a:rPr>
              <a:t>Part of the Sorted squad since 2024.</a:t>
            </a:r>
          </a:p>
        </p:txBody>
      </p:sp>
      <p:pic>
        <p:nvPicPr>
          <p:cNvPr id="40" name="Picture 39" descr="sorte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5362575"/>
            <a:ext cx="733425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857500" y="128587"/>
            <a:ext cx="5715000" cy="5715000"/>
          </a:xfrm>
          <a:prstGeom prst="ellipse">
            <a:avLst/>
          </a:prstGeom>
          <a:solidFill>
            <a:srgbClr val="E8264B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733425" cy="171450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5095875" y="1509712"/>
            <a:ext cx="1238250" cy="123825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95875" y="1509712"/>
            <a:ext cx="1238250" cy="1238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083" b="0" i="1">
                <a:solidFill>
                  <a:srgbClr val="8A94A6"/>
                </a:solidFill>
                <a:latin typeface="DM Sans"/>
              </a:rPr>
              <a:t>Drop headshot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000" y="2976562"/>
            <a:ext cx="10668000" cy="6915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6600" b="0" i="0">
                <a:solidFill>
                  <a:srgbClr val="E8264B"/>
                </a:solidFill>
                <a:latin typeface="Bebas Neue"/>
              </a:rPr>
              <a:t>3 Years at Sorted.</a:t>
            </a:r>
          </a:p>
        </p:txBody>
      </p:sp>
      <p:sp>
        <p:nvSpPr>
          <p:cNvPr id="37" name="Oval 36"/>
          <p:cNvSpPr/>
          <p:nvPr/>
        </p:nvSpPr>
        <p:spPr>
          <a:xfrm>
            <a:off x="5029200" y="3871912"/>
            <a:ext cx="152400" cy="15240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34000" y="3871912"/>
            <a:ext cx="152400" cy="15240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38800" y="3871912"/>
            <a:ext cx="152400" cy="15240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43600" y="3871912"/>
            <a:ext cx="152400" cy="152400"/>
          </a:xfrm>
          <a:prstGeom prst="ellipse">
            <a:avLst/>
          </a:prstGeom>
          <a:noFill/>
          <a:ln w="19050">
            <a:solidFill>
              <a:srgbClr val="8A9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48400" y="3871912"/>
            <a:ext cx="152400" cy="152400"/>
          </a:xfrm>
          <a:prstGeom prst="ellipse">
            <a:avLst/>
          </a:prstGeom>
          <a:noFill/>
          <a:ln w="19050">
            <a:solidFill>
              <a:srgbClr val="8A9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0" y="4291012"/>
            <a:ext cx="11430000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B8C4D8"/>
                </a:solidFill>
                <a:latin typeface="DM Sans"/>
              </a:rPr>
              <a:t>Thank you for building this with 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733425" cy="17145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715500" y="381000"/>
            <a:ext cx="962025" cy="19050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15500" y="381000"/>
            <a:ext cx="962025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F8F7F4"/>
                </a:solidFill>
                <a:latin typeface="DM Sans"/>
              </a:rPr>
              <a:t>WE'RE HIRING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250" y="857250"/>
            <a:ext cx="5572125" cy="1173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5600" b="0" i="0">
                <a:solidFill>
                  <a:srgbClr val="F8F7F4"/>
                </a:solidFill>
                <a:latin typeface="Bebas Neue"/>
              </a:rPr>
              <a:t>Senior Performance Marketer.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6250" y="2068830"/>
            <a:ext cx="5572125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E8264B"/>
                </a:solidFill>
                <a:latin typeface="DM Sans"/>
              </a:rPr>
              <a:t>REMOTE · FULL-TIME · MUMBAI / DUBAI</a:t>
            </a:r>
          </a:p>
        </p:txBody>
      </p:sp>
      <p:sp>
        <p:nvSpPr>
          <p:cNvPr id="37" name="Oval 36"/>
          <p:cNvSpPr/>
          <p:nvPr/>
        </p:nvSpPr>
        <p:spPr>
          <a:xfrm>
            <a:off x="495300" y="2430780"/>
            <a:ext cx="57150" cy="571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700" y="2354580"/>
            <a:ext cx="5400675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B8C4D8"/>
                </a:solidFill>
                <a:latin typeface="DM Sans"/>
              </a:rPr>
              <a:t>5+ years Meta + Google</a:t>
            </a:r>
          </a:p>
        </p:txBody>
      </p:sp>
      <p:sp>
        <p:nvSpPr>
          <p:cNvPr id="39" name="Oval 38"/>
          <p:cNvSpPr/>
          <p:nvPr/>
        </p:nvSpPr>
        <p:spPr>
          <a:xfrm>
            <a:off x="495300" y="2678430"/>
            <a:ext cx="57150" cy="571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7700" y="2602230"/>
            <a:ext cx="5400675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B8C4D8"/>
                </a:solidFill>
                <a:latin typeface="DM Sans"/>
              </a:rPr>
              <a:t>Klaviyo certified preferred</a:t>
            </a:r>
          </a:p>
        </p:txBody>
      </p:sp>
      <p:sp>
        <p:nvSpPr>
          <p:cNvPr id="41" name="Oval 40"/>
          <p:cNvSpPr/>
          <p:nvPr/>
        </p:nvSpPr>
        <p:spPr>
          <a:xfrm>
            <a:off x="495300" y="2926080"/>
            <a:ext cx="57150" cy="571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700" y="2849880"/>
            <a:ext cx="5400675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B8C4D8"/>
                </a:solidFill>
                <a:latin typeface="DM Sans"/>
              </a:rPr>
              <a:t>Loud opinions on creative testing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6250" y="3288030"/>
            <a:ext cx="2167890" cy="323850"/>
          </a:xfrm>
          <a:prstGeom prst="roundRect">
            <a:avLst>
              <a:gd name="adj" fmla="val 2636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8650" y="3288030"/>
            <a:ext cx="1863090" cy="3238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000" b="1" i="0" spc="140">
                <a:solidFill>
                  <a:srgbClr val="F8F7F4"/>
                </a:solidFill>
                <a:latin typeface="DM Sans"/>
              </a:rPr>
              <a:t>APPLY AT SORTED.AGENCY  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34125" y="857250"/>
            <a:ext cx="4619625" cy="4638675"/>
          </a:xfrm>
          <a:prstGeom prst="roundRect">
            <a:avLst>
              <a:gd name="adj" fmla="val 2464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437" y="2890837"/>
            <a:ext cx="381000" cy="381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334125" y="3309937"/>
            <a:ext cx="461962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team photo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00" cy="4171950"/>
          </a:xfrm>
          <a:prstGeom prst="rect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0" y="1800225"/>
            <a:ext cx="38100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2219325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team outing / event photo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71950"/>
            <a:ext cx="11430000" cy="180022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6250" y="4457700"/>
            <a:ext cx="10477500" cy="133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220">
                <a:solidFill>
                  <a:srgbClr val="E8264B"/>
                </a:solidFill>
                <a:latin typeface="DM Sans"/>
              </a:rPr>
              <a:t>THE SORTED SQUAD · GOA ·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4686300"/>
            <a:ext cx="10477500" cy="4610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4400" b="0" i="0">
                <a:solidFill>
                  <a:srgbClr val="F8F7F4"/>
                </a:solidFill>
                <a:latin typeface="Bebas Neue"/>
              </a:rPr>
              <a:t>The squad.</a:t>
            </a:r>
          </a:p>
        </p:txBody>
      </p:sp>
      <p:pic>
        <p:nvPicPr>
          <p:cNvPr id="9" name="Picture 8" descr="sorte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8875" y="4457700"/>
            <a:ext cx="733425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733425" cy="1714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71500" y="666750"/>
            <a:ext cx="10287000" cy="6915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6600" b="0" i="0">
                <a:solidFill>
                  <a:srgbClr val="E8264B"/>
                </a:solidFill>
                <a:latin typeface="Bebas Neue"/>
              </a:rPr>
              <a:t>We're now 34 strong.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" y="1409700"/>
            <a:ext cx="10287000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8A94A6"/>
                </a:solidFill>
                <a:latin typeface="DM Sans"/>
              </a:rPr>
              <a:t>And we're growing.</a:t>
            </a:r>
          </a:p>
        </p:txBody>
      </p:sp>
      <p:sp>
        <p:nvSpPr>
          <p:cNvPr id="35" name="Oval 34"/>
          <p:cNvSpPr/>
          <p:nvPr/>
        </p:nvSpPr>
        <p:spPr>
          <a:xfrm>
            <a:off x="1303020" y="2497931"/>
            <a:ext cx="762000" cy="7620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03020" y="2497931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Headshot</a:t>
            </a:r>
          </a:p>
        </p:txBody>
      </p:sp>
      <p:sp>
        <p:nvSpPr>
          <p:cNvPr id="37" name="Oval 36"/>
          <p:cNvSpPr/>
          <p:nvPr/>
        </p:nvSpPr>
        <p:spPr>
          <a:xfrm>
            <a:off x="3318510" y="2497931"/>
            <a:ext cx="762000" cy="7620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18510" y="2497931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Headshot</a:t>
            </a:r>
          </a:p>
        </p:txBody>
      </p:sp>
      <p:sp>
        <p:nvSpPr>
          <p:cNvPr id="39" name="Oval 38"/>
          <p:cNvSpPr/>
          <p:nvPr/>
        </p:nvSpPr>
        <p:spPr>
          <a:xfrm>
            <a:off x="5334000" y="2497931"/>
            <a:ext cx="762000" cy="7620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34000" y="2497931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Headshot</a:t>
            </a:r>
          </a:p>
        </p:txBody>
      </p:sp>
      <p:sp>
        <p:nvSpPr>
          <p:cNvPr id="41" name="Oval 40"/>
          <p:cNvSpPr/>
          <p:nvPr/>
        </p:nvSpPr>
        <p:spPr>
          <a:xfrm>
            <a:off x="7349489" y="2497931"/>
            <a:ext cx="762000" cy="7620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49489" y="2497931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Headshot</a:t>
            </a:r>
          </a:p>
        </p:txBody>
      </p:sp>
      <p:sp>
        <p:nvSpPr>
          <p:cNvPr id="43" name="Oval 42"/>
          <p:cNvSpPr/>
          <p:nvPr/>
        </p:nvSpPr>
        <p:spPr>
          <a:xfrm>
            <a:off x="9364980" y="2497931"/>
            <a:ext cx="762000" cy="7620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64980" y="2497931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Headshot</a:t>
            </a:r>
          </a:p>
        </p:txBody>
      </p:sp>
      <p:sp>
        <p:nvSpPr>
          <p:cNvPr id="45" name="Oval 44"/>
          <p:cNvSpPr/>
          <p:nvPr/>
        </p:nvSpPr>
        <p:spPr>
          <a:xfrm>
            <a:off x="1303020" y="4045743"/>
            <a:ext cx="762000" cy="7620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03020" y="4045743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Headshot</a:t>
            </a:r>
          </a:p>
        </p:txBody>
      </p:sp>
      <p:sp>
        <p:nvSpPr>
          <p:cNvPr id="47" name="Oval 46"/>
          <p:cNvSpPr/>
          <p:nvPr/>
        </p:nvSpPr>
        <p:spPr>
          <a:xfrm>
            <a:off x="3318510" y="4045743"/>
            <a:ext cx="762000" cy="7620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18510" y="4045743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Headshot</a:t>
            </a:r>
          </a:p>
        </p:txBody>
      </p:sp>
      <p:sp>
        <p:nvSpPr>
          <p:cNvPr id="49" name="Oval 48"/>
          <p:cNvSpPr/>
          <p:nvPr/>
        </p:nvSpPr>
        <p:spPr>
          <a:xfrm>
            <a:off x="5334000" y="4045743"/>
            <a:ext cx="762000" cy="7620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34000" y="4045743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Headshot</a:t>
            </a:r>
          </a:p>
        </p:txBody>
      </p:sp>
      <p:sp>
        <p:nvSpPr>
          <p:cNvPr id="51" name="Oval 50"/>
          <p:cNvSpPr/>
          <p:nvPr/>
        </p:nvSpPr>
        <p:spPr>
          <a:xfrm>
            <a:off x="7349489" y="4045743"/>
            <a:ext cx="762000" cy="7620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49489" y="4045743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Headshot</a:t>
            </a:r>
          </a:p>
        </p:txBody>
      </p:sp>
      <p:sp>
        <p:nvSpPr>
          <p:cNvPr id="53" name="Oval 52"/>
          <p:cNvSpPr/>
          <p:nvPr/>
        </p:nvSpPr>
        <p:spPr>
          <a:xfrm>
            <a:off x="9364980" y="4045743"/>
            <a:ext cx="762000" cy="7620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64980" y="4045743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E8264B"/>
                </a:solidFill>
                <a:latin typeface="Bebas Neue"/>
              </a:rPr>
              <a:t>+25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667250" y="5191125"/>
            <a:ext cx="1573530" cy="323850"/>
          </a:xfrm>
          <a:prstGeom prst="roundRect">
            <a:avLst>
              <a:gd name="adj" fmla="val 3631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19650" y="5191125"/>
            <a:ext cx="1268730" cy="3238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000" b="1" i="0" spc="140">
                <a:solidFill>
                  <a:srgbClr val="F8F7F4"/>
                </a:solidFill>
                <a:latin typeface="DM Sans"/>
              </a:rPr>
              <a:t>SEE OPEN ROLES  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733425" cy="1714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71500" y="571500"/>
            <a:ext cx="3810000" cy="133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220">
                <a:solidFill>
                  <a:srgbClr val="8A94A6"/>
                </a:solidFill>
                <a:latin typeface="DM Sans"/>
              </a:rPr>
              <a:t>ALL WORK AND NO PLAY…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" y="952500"/>
            <a:ext cx="10287000" cy="3686175"/>
          </a:xfrm>
          <a:prstGeom prst="roundRect">
            <a:avLst>
              <a:gd name="adj" fmla="val 1111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0" y="2509837"/>
            <a:ext cx="381000" cy="381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71500" y="2928937"/>
            <a:ext cx="10287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team games / outing photo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" y="4638675"/>
            <a:ext cx="10287000" cy="628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6000" b="0" i="0">
                <a:solidFill>
                  <a:srgbClr val="E8264B"/>
                </a:solidFill>
                <a:latin typeface="Bebas Neue"/>
              </a:rPr>
              <a:t>We do both.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3333750" y="604837"/>
            <a:ext cx="4762500" cy="4762500"/>
          </a:xfrm>
          <a:prstGeom prst="ellipse">
            <a:avLst/>
          </a:prstGeom>
          <a:solidFill>
            <a:srgbClr val="E8264B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733425" cy="171450"/>
          </a:xfrm>
          <a:prstGeom prst="rect">
            <a:avLst/>
          </a:prstGeom>
        </p:spPr>
      </p:pic>
      <p:pic>
        <p:nvPicPr>
          <p:cNvPr id="34" name="Picture 33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350" y="1557337"/>
            <a:ext cx="495300" cy="4953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0" y="2205037"/>
            <a:ext cx="114300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TEAM WIN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2471737"/>
            <a:ext cx="1028700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2000"/>
              </a:lnSpc>
            </a:pPr>
            <a:r>
              <a:rPr sz="4400" b="0" i="0">
                <a:solidFill>
                  <a:srgbClr val="F8F7F4"/>
                </a:solidFill>
                <a:latin typeface="Bebas Neue"/>
              </a:rPr>
              <a:t>Shipped 7 Klaviyo rebuilds in one week.</a:t>
            </a:r>
          </a:p>
        </p:txBody>
      </p:sp>
      <p:sp>
        <p:nvSpPr>
          <p:cNvPr id="37" name="Oval 36"/>
          <p:cNvSpPr/>
          <p:nvPr/>
        </p:nvSpPr>
        <p:spPr>
          <a:xfrm>
            <a:off x="4914900" y="3668077"/>
            <a:ext cx="457200" cy="4572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14900" y="3668077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Headshot</a:t>
            </a:r>
          </a:p>
        </p:txBody>
      </p:sp>
      <p:sp>
        <p:nvSpPr>
          <p:cNvPr id="39" name="Oval 38"/>
          <p:cNvSpPr/>
          <p:nvPr/>
        </p:nvSpPr>
        <p:spPr>
          <a:xfrm>
            <a:off x="5486400" y="3668077"/>
            <a:ext cx="457200" cy="4572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0" y="3668077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Headshot</a:t>
            </a:r>
          </a:p>
        </p:txBody>
      </p:sp>
      <p:sp>
        <p:nvSpPr>
          <p:cNvPr id="41" name="Oval 40"/>
          <p:cNvSpPr/>
          <p:nvPr/>
        </p:nvSpPr>
        <p:spPr>
          <a:xfrm>
            <a:off x="6057900" y="3668077"/>
            <a:ext cx="457200" cy="4572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57900" y="3668077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Headshot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0" y="4296727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8A94A6"/>
                </a:solidFill>
                <a:latin typeface="DM Sans"/>
              </a:rPr>
              <a:t>Nov 2025 · The retention pod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733425" cy="1714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76250" y="666750"/>
            <a:ext cx="5572125" cy="4610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4400" b="0" i="0">
                <a:solidFill>
                  <a:srgbClr val="F8F7F4"/>
                </a:solidFill>
                <a:latin typeface="Bebas Neue"/>
              </a:rPr>
              <a:t>Why Sorted?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6250" y="1314450"/>
            <a:ext cx="2667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E8264B"/>
                </a:solidFill>
                <a:latin typeface="DM Sans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250" y="1314450"/>
            <a:ext cx="5191125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8F7F4"/>
                </a:solidFill>
                <a:latin typeface="Bebas Neue"/>
              </a:rPr>
              <a:t>Direct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7250" y="1581150"/>
            <a:ext cx="5191125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4A6"/>
                </a:solidFill>
                <a:latin typeface="DM Sans"/>
              </a:rPr>
              <a:t>No soft-pedalling.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6250" y="1847850"/>
            <a:ext cx="2667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E8264B"/>
                </a:solidFill>
                <a:latin typeface="DM Sans"/>
              </a:rPr>
              <a:t>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7250" y="1847850"/>
            <a:ext cx="5191125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8F7F4"/>
                </a:solidFill>
                <a:latin typeface="Bebas Neue"/>
              </a:rPr>
              <a:t>Specific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7250" y="2114550"/>
            <a:ext cx="5191125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4A6"/>
                </a:solidFill>
                <a:latin typeface="DM Sans"/>
              </a:rPr>
              <a:t>Numbers over narrative.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6250" y="2381250"/>
            <a:ext cx="2667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E8264B"/>
                </a:solidFill>
                <a:latin typeface="DM Sans"/>
              </a:rPr>
              <a:t>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7250" y="2381250"/>
            <a:ext cx="5191125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8F7F4"/>
                </a:solidFill>
                <a:latin typeface="Bebas Neue"/>
              </a:rPr>
              <a:t>Honest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7250" y="2647950"/>
            <a:ext cx="5191125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4A6"/>
                </a:solidFill>
                <a:latin typeface="DM Sans"/>
              </a:rPr>
              <a:t>If it's broken, we say so.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6250" y="2914650"/>
            <a:ext cx="2667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E8264B"/>
                </a:solidFill>
                <a:latin typeface="DM Sans"/>
              </a:rPr>
              <a:t>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250" y="2914650"/>
            <a:ext cx="5191125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8F7F4"/>
                </a:solidFill>
                <a:latin typeface="Bebas Neue"/>
              </a:rPr>
              <a:t>Bold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7250" y="3181350"/>
            <a:ext cx="5191125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4A6"/>
                </a:solidFill>
                <a:latin typeface="DM Sans"/>
              </a:rPr>
              <a:t>Play offence, not defence.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6250" y="3543300"/>
            <a:ext cx="1053465" cy="323850"/>
          </a:xfrm>
          <a:prstGeom prst="roundRect">
            <a:avLst>
              <a:gd name="adj" fmla="val 5424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8650" y="3543300"/>
            <a:ext cx="748665" cy="3238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000" b="1" i="0" spc="140">
                <a:solidFill>
                  <a:srgbClr val="F8F7F4"/>
                </a:solidFill>
                <a:latin typeface="DM Sans"/>
              </a:rPr>
              <a:t>JOIN US  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34125" y="666750"/>
            <a:ext cx="4619625" cy="4829175"/>
          </a:xfrm>
          <a:prstGeom prst="roundRect">
            <a:avLst>
              <a:gd name="adj" fmla="val 2366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437" y="2795587"/>
            <a:ext cx="381000" cy="3810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334125" y="3214687"/>
            <a:ext cx="461962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office / team photo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