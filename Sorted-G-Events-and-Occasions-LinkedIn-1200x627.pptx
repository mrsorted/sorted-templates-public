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572500" y="-1905000"/>
            <a:ext cx="5715000" cy="57150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906000" y="381000"/>
            <a:ext cx="833437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6000" y="381000"/>
            <a:ext cx="83343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LIVE EVENT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857250"/>
            <a:ext cx="5663045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JOIN US 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1143000"/>
            <a:ext cx="5663045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4200" b="0" i="0">
                <a:solidFill>
                  <a:srgbClr val="F8F7F4"/>
                </a:solidFill>
                <a:latin typeface="Bebas Neue"/>
              </a:rPr>
              <a:t>Scaling D2C in 2026: the Klaviyo playbook.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" y="261366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8A94A6"/>
                </a:solidFill>
                <a:latin typeface="DM Sans"/>
              </a:rPr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7300" y="2613660"/>
            <a:ext cx="478674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8F7F4"/>
                </a:solidFill>
                <a:latin typeface="DM Sans"/>
              </a:rPr>
              <a:t>Thu 12 Feb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" y="282321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8A94A6"/>
                </a:solidFill>
                <a:latin typeface="DM Sans"/>
              </a:rPr>
              <a:t>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7300" y="2823210"/>
            <a:ext cx="478674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8F7F4"/>
                </a:solidFill>
                <a:latin typeface="DM Sans"/>
              </a:rPr>
              <a:t>6:00 PM IST · 12:30 PM GMT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" y="303276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8A94A6"/>
                </a:solidFill>
                <a:latin typeface="DM Sans"/>
              </a:rPr>
              <a:t>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7300" y="3032760"/>
            <a:ext cx="478674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8F7F4"/>
                </a:solidFill>
                <a:latin typeface="DM Sans"/>
              </a:rPr>
              <a:t>Zoom · 60 min · free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1000" y="3470910"/>
            <a:ext cx="1768602" cy="400050"/>
          </a:xfrm>
          <a:prstGeom prst="roundRect">
            <a:avLst>
              <a:gd name="adj" fmla="val 3231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500" y="3470910"/>
            <a:ext cx="1387602" cy="4000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8F7F4"/>
                </a:solidFill>
                <a:latin typeface="DM Sans"/>
              </a:rPr>
              <a:t>REGISTER FREE  →</a:t>
            </a:r>
          </a:p>
        </p:txBody>
      </p:sp>
      <p:sp>
        <p:nvSpPr>
          <p:cNvPr id="46" name="Oval 45"/>
          <p:cNvSpPr/>
          <p:nvPr/>
        </p:nvSpPr>
        <p:spPr>
          <a:xfrm>
            <a:off x="8070272" y="2224087"/>
            <a:ext cx="1238250" cy="123825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0272" y="2224087"/>
            <a:ext cx="1238250" cy="1238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83" b="0" i="1">
                <a:solidFill>
                  <a:srgbClr val="8A94A6"/>
                </a:solidFill>
                <a:latin typeface="DM Sans"/>
              </a:rPr>
              <a:t>Speaker headshot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9795" y="3614737"/>
            <a:ext cx="471920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Dhiraj Palekar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9795" y="3824287"/>
            <a:ext cx="4719204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A94A6"/>
                </a:solidFill>
                <a:latin typeface="DM Sans"/>
              </a:rPr>
              <a:t>Founder · Sorted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2700337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11943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event / conference photo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276600"/>
            <a:ext cx="11430000" cy="26955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04800"/>
            <a:ext cx="73342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5457825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80">
                <a:solidFill>
                  <a:srgbClr val="E8264B"/>
                </a:solidFill>
                <a:latin typeface="DM Sans"/>
              </a:rPr>
              <a:t>KEY TAKEAWAYS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4823460"/>
            <a:ext cx="10668000" cy="481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4600" b="0" i="0">
                <a:solidFill>
                  <a:srgbClr val="F8F7F4"/>
                </a:solidFill>
                <a:latin typeface="Bebas Neue"/>
              </a:rPr>
              <a:t>The future is compounding.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613910"/>
            <a:ext cx="106680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WE WERE THERE · D2C SUMMIT MUMBAI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304800" y="571500"/>
            <a:ext cx="4797136" cy="5095875"/>
          </a:xfrm>
          <a:prstGeom prst="roundRect">
            <a:avLst>
              <a:gd name="adj" fmla="val 2242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868" y="2833687"/>
            <a:ext cx="381000" cy="381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04800" y="3252787"/>
            <a:ext cx="4797136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speaker / stage photo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68636" y="2071687"/>
            <a:ext cx="5756563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SORTED · ON STAGE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68636" y="2300287"/>
            <a:ext cx="5756563" cy="754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3600" b="0" i="0">
                <a:solidFill>
                  <a:srgbClr val="F8F7F4"/>
                </a:solidFill>
                <a:latin typeface="Bebas Neue"/>
              </a:rPr>
              <a:t>Sorted at SaaSBoomi 2025.</a:t>
            </a:r>
          </a:p>
        </p:txBody>
      </p:sp>
      <p:sp>
        <p:nvSpPr>
          <p:cNvPr id="38" name="Oval 37"/>
          <p:cNvSpPr/>
          <p:nvPr/>
        </p:nvSpPr>
        <p:spPr>
          <a:xfrm>
            <a:off x="5368636" y="3340417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21036" y="3264217"/>
            <a:ext cx="5604163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8F7F4"/>
                </a:solidFill>
                <a:latin typeface="DM Sans"/>
              </a:rPr>
              <a:t>CPMs are up. Creative velocity wins.</a:t>
            </a:r>
          </a:p>
        </p:txBody>
      </p:sp>
      <p:sp>
        <p:nvSpPr>
          <p:cNvPr id="40" name="Oval 39"/>
          <p:cNvSpPr/>
          <p:nvPr/>
        </p:nvSpPr>
        <p:spPr>
          <a:xfrm>
            <a:off x="5368636" y="3664267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21036" y="3588067"/>
            <a:ext cx="5604163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8F7F4"/>
                </a:solidFill>
                <a:latin typeface="DM Sans"/>
              </a:rPr>
              <a:t>Email is 40%+ of revenue, or you're behind.</a:t>
            </a:r>
          </a:p>
        </p:txBody>
      </p:sp>
      <p:sp>
        <p:nvSpPr>
          <p:cNvPr id="42" name="Oval 41"/>
          <p:cNvSpPr/>
          <p:nvPr/>
        </p:nvSpPr>
        <p:spPr>
          <a:xfrm>
            <a:off x="5368636" y="3988117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21036" y="3911917"/>
            <a:ext cx="5604163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8F7F4"/>
                </a:solidFill>
                <a:latin typeface="DM Sans"/>
              </a:rPr>
              <a:t>AI eats reporting. Humans keep strategy.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68636" y="4350067"/>
            <a:ext cx="5756563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80">
                <a:solidFill>
                  <a:srgbClr val="E8264B"/>
                </a:solidFill>
                <a:latin typeface="DM Sans"/>
              </a:rPr>
              <a:t>CATCH US AT THE NEXT ONE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857500" y="128587"/>
            <a:ext cx="5715000" cy="57150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5448300" y="1843087"/>
            <a:ext cx="533400" cy="533400"/>
          </a:xfrm>
          <a:prstGeom prst="ellipse">
            <a:avLst/>
          </a:prstGeom>
          <a:noFill/>
          <a:ln w="317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24500" y="2319337"/>
            <a:ext cx="381000" cy="1333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29250" y="2452687"/>
            <a:ext cx="571500" cy="381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2643187"/>
            <a:ext cx="11430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RECOGNITION ·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2852737"/>
            <a:ext cx="10287000" cy="11315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5400" b="0" i="0">
                <a:solidFill>
                  <a:srgbClr val="F8F7F4"/>
                </a:solidFill>
                <a:latin typeface="Bebas Neue"/>
              </a:rPr>
              <a:t>We won Agency of the Year.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4041457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B8C4D8"/>
                </a:solidFill>
                <a:latin typeface="DM Sans"/>
              </a:rPr>
              <a:t>Performance Marketing · D2C Circle Awards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62500" y="4384357"/>
            <a:ext cx="1905000" cy="1143000"/>
          </a:xfrm>
          <a:prstGeom prst="roundRect">
            <a:avLst>
              <a:gd name="adj" fmla="val 60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4670107"/>
            <a:ext cx="381000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762500" y="5089207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award photo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0" y="476250"/>
            <a:ext cx="11430000" cy="5067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42000" b="0" i="0" spc="-2000">
                <a:solidFill>
                  <a:srgbClr val="0F2240"/>
                </a:solidFill>
                <a:latin typeface="Bebas Neue"/>
              </a:rPr>
              <a:t>2025</a:t>
            </a:r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76250" y="3810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4800" b="0" i="0">
                <a:solidFill>
                  <a:srgbClr val="F8F7F4"/>
                </a:solidFill>
                <a:latin typeface="Bebas Neue"/>
              </a:rPr>
              <a:t>2025 Wrapped.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000" y="1143000"/>
            <a:ext cx="52768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1000" y="1143000"/>
            <a:ext cx="5276850" cy="1047750"/>
          </a:xfrm>
          <a:prstGeom prst="roundRect">
            <a:avLst>
              <a:gd name="adj" fmla="val 18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1000" y="1143000"/>
            <a:ext cx="52768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450" y="1276350"/>
            <a:ext cx="4933950" cy="5762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E8264B"/>
                </a:solidFill>
                <a:latin typeface="Bebas Neue"/>
              </a:rPr>
              <a:t>$40M+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450" y="1905000"/>
            <a:ext cx="49339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REVENUE TRACKED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72150" y="1143000"/>
            <a:ext cx="52768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72150" y="1143000"/>
            <a:ext cx="5276850" cy="1047750"/>
          </a:xfrm>
          <a:prstGeom prst="roundRect">
            <a:avLst>
              <a:gd name="adj" fmla="val 18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72150" y="1143000"/>
            <a:ext cx="52768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1276350"/>
            <a:ext cx="4933950" cy="5762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E8264B"/>
                </a:solidFill>
                <a:latin typeface="Bebas Neue"/>
              </a:rPr>
              <a:t>34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1905000"/>
            <a:ext cx="49339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TEAM MEMBERS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000" y="2305050"/>
            <a:ext cx="52768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1000" y="2305050"/>
            <a:ext cx="5276850" cy="1047750"/>
          </a:xfrm>
          <a:prstGeom prst="roundRect">
            <a:avLst>
              <a:gd name="adj" fmla="val 18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1000" y="2305050"/>
            <a:ext cx="52768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2450" y="2438400"/>
            <a:ext cx="4933950" cy="5762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E8264B"/>
                </a:solidFill>
                <a:latin typeface="Bebas Neue"/>
              </a:rPr>
              <a:t>100+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450" y="3067050"/>
            <a:ext cx="49339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BRANDS SCALED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72150" y="2305050"/>
            <a:ext cx="52768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772150" y="2305050"/>
            <a:ext cx="5276850" cy="1047750"/>
          </a:xfrm>
          <a:prstGeom prst="roundRect">
            <a:avLst>
              <a:gd name="adj" fmla="val 18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72150" y="2305050"/>
            <a:ext cx="52768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2438400"/>
            <a:ext cx="4933950" cy="5762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E8264B"/>
                </a:solidFill>
                <a:latin typeface="Bebas Neue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3067050"/>
            <a:ext cx="49339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NEW PARTNERS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1000" y="3657600"/>
            <a:ext cx="10668000" cy="1933575"/>
          </a:xfrm>
          <a:prstGeom prst="roundRect">
            <a:avLst>
              <a:gd name="adj" fmla="val 1071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4338637"/>
            <a:ext cx="381000" cy="381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81000" y="4757737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year-end 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