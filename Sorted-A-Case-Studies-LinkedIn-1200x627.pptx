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solidFill>
            <a:srgbClr val="091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571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1143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0" y="1714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0" y="2286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0" y="2857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0" y="3429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0" y="4000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0" y="4572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5143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5715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71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143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714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286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857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429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000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572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143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715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286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858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429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001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572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144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715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287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0858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8572500" y="-1905000"/>
            <a:ext cx="6667500" cy="6667500"/>
          </a:xfrm>
          <a:prstGeom prst="ellipse">
            <a:avLst/>
          </a:prstGeom>
          <a:solidFill>
            <a:srgbClr val="E8264B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81000" y="381000"/>
            <a:ext cx="833437" cy="190500"/>
          </a:xfrm>
          <a:prstGeom prst="roundRect">
            <a:avLst>
              <a:gd name="adj" fmla="val 50000"/>
            </a:avLst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1000" y="381000"/>
            <a:ext cx="833437" cy="1905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20000"/>
              </a:lnSpc>
            </a:pPr>
            <a:r>
              <a:rPr sz="900" b="1" i="0" spc="180">
                <a:solidFill>
                  <a:srgbClr val="F8F7F4"/>
                </a:solidFill>
                <a:latin typeface="DM Sans"/>
              </a:rPr>
              <a:t>CASE STUDY</a:t>
            </a:r>
          </a:p>
        </p:txBody>
      </p:sp>
      <p:pic>
        <p:nvPicPr>
          <p:cNvPr id="35" name="Picture 34" descr="sorte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2200" y="419100"/>
            <a:ext cx="819150" cy="1905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381000" y="914400"/>
            <a:ext cx="897731" cy="190500"/>
          </a:xfrm>
          <a:prstGeom prst="roundRect">
            <a:avLst>
              <a:gd name="adj" fmla="val 50000"/>
            </a:avLst>
          </a:prstGeom>
          <a:noFill/>
          <a:ln w="6350">
            <a:solidFill>
              <a:srgbClr val="B8C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1000" y="914400"/>
            <a:ext cx="897731" cy="1905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20000"/>
              </a:lnSpc>
            </a:pPr>
            <a:r>
              <a:rPr sz="900" b="1" i="0" spc="180">
                <a:solidFill>
                  <a:srgbClr val="8A94A6"/>
                </a:solidFill>
                <a:latin typeface="DM Sans"/>
              </a:rPr>
              <a:t>D2C · EMAIL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1000" y="1676876"/>
            <a:ext cx="8458200" cy="142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5000"/>
              </a:lnSpc>
            </a:pPr>
            <a:r>
              <a:rPr sz="15000" b="0" i="0" spc="-200">
                <a:solidFill>
                  <a:srgbClr val="E8264B"/>
                </a:solidFill>
                <a:latin typeface="Bebas Neue"/>
              </a:rPr>
              <a:t>$17.9M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1000" y="3200876"/>
            <a:ext cx="6477000" cy="152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00" b="1" i="0" spc="220">
                <a:solidFill>
                  <a:srgbClr val="F8F7F4"/>
                </a:solidFill>
                <a:latin typeface="DM Sans"/>
              </a:rPr>
              <a:t>ATTRIBUTED EMAIL REVENUE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1000" y="3372326"/>
            <a:ext cx="6477000" cy="190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8A94A6"/>
                </a:solidFill>
                <a:latin typeface="DM Sans"/>
              </a:rPr>
              <a:t>URC Beverages · 12-month Klaviyo engagement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44000" y="1238250"/>
            <a:ext cx="1905000" cy="2924175"/>
          </a:xfrm>
          <a:prstGeom prst="roundRect">
            <a:avLst>
              <a:gd name="adj" fmla="val 3908"/>
            </a:avLst>
          </a:prstGeom>
          <a:solidFill>
            <a:srgbClr val="0F2240"/>
          </a:solidFill>
          <a:ln w="19050">
            <a:solidFill>
              <a:srgbClr val="E8264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orted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0" y="2414587"/>
            <a:ext cx="381000" cy="3810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9144000" y="2833687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1100" b="0" i="1">
                <a:solidFill>
                  <a:srgbClr val="8A94A6"/>
                </a:solidFill>
                <a:latin typeface="DM Sans"/>
              </a:rPr>
              <a:t>Drop client creative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81000" y="3686175"/>
            <a:ext cx="34544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81000" y="3686175"/>
            <a:ext cx="3454400" cy="857250"/>
          </a:xfrm>
          <a:prstGeom prst="roundRect">
            <a:avLst>
              <a:gd name="adj" fmla="val 2757"/>
            </a:avLst>
          </a:prstGeom>
          <a:solidFill>
            <a:srgbClr val="0F2240"/>
          </a:solidFill>
          <a:ln w="6350">
            <a:solidFill>
              <a:srgbClr val="B8C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81000" y="3686175"/>
            <a:ext cx="34544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2450" y="3819525"/>
            <a:ext cx="3111500" cy="47148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3100" b="0" i="0">
                <a:solidFill>
                  <a:srgbClr val="E8264B"/>
                </a:solidFill>
                <a:latin typeface="Bebas Neue"/>
              </a:rPr>
              <a:t>28.2%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2450" y="4257675"/>
            <a:ext cx="31115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000" b="1" i="0" spc="120">
                <a:solidFill>
                  <a:srgbClr val="B8C4D8"/>
                </a:solidFill>
                <a:latin typeface="DM Sans"/>
              </a:rPr>
              <a:t>GROWTH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987800" y="3686175"/>
            <a:ext cx="34544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987800" y="3686175"/>
            <a:ext cx="3454400" cy="857250"/>
          </a:xfrm>
          <a:prstGeom prst="roundRect">
            <a:avLst>
              <a:gd name="adj" fmla="val 2757"/>
            </a:avLst>
          </a:prstGeom>
          <a:solidFill>
            <a:srgbClr val="0F2240"/>
          </a:solidFill>
          <a:ln w="6350">
            <a:solidFill>
              <a:srgbClr val="B8C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987800" y="3686175"/>
            <a:ext cx="34544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59250" y="3819525"/>
            <a:ext cx="3111500" cy="47148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3100" b="0" i="0">
                <a:solidFill>
                  <a:srgbClr val="E8264B"/>
                </a:solidFill>
                <a:latin typeface="Bebas Neue"/>
              </a:rPr>
              <a:t>44%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59250" y="4257675"/>
            <a:ext cx="31115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000" b="1" i="0" spc="120">
                <a:solidFill>
                  <a:srgbClr val="B8C4D8"/>
                </a:solidFill>
                <a:latin typeface="DM Sans"/>
              </a:rPr>
              <a:t>REVENUE SHARE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94600" y="3686175"/>
            <a:ext cx="34544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594600" y="3686175"/>
            <a:ext cx="3454400" cy="857250"/>
          </a:xfrm>
          <a:prstGeom prst="roundRect">
            <a:avLst>
              <a:gd name="adj" fmla="val 2757"/>
            </a:avLst>
          </a:prstGeom>
          <a:solidFill>
            <a:srgbClr val="0F2240"/>
          </a:solidFill>
          <a:ln w="6350">
            <a:solidFill>
              <a:srgbClr val="B8C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594600" y="3686175"/>
            <a:ext cx="34544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66050" y="3819525"/>
            <a:ext cx="3111500" cy="47148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3100" b="0" i="0">
                <a:solidFill>
                  <a:srgbClr val="E8264B"/>
                </a:solidFill>
                <a:latin typeface="Bebas Neue"/>
              </a:rPr>
              <a:t>12 MO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66050" y="4257675"/>
            <a:ext cx="31115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000" b="1" i="0" spc="120">
                <a:solidFill>
                  <a:srgbClr val="B8C4D8"/>
                </a:solidFill>
                <a:latin typeface="DM Sans"/>
              </a:rPr>
              <a:t>ENGAGEMENT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81000" y="5191125"/>
            <a:ext cx="2019300" cy="323850"/>
          </a:xfrm>
          <a:prstGeom prst="roundRect">
            <a:avLst>
              <a:gd name="adj" fmla="val 2830"/>
            </a:avLst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3400" y="5191125"/>
            <a:ext cx="1714500" cy="32385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000" b="1" i="0" spc="140">
                <a:solidFill>
                  <a:srgbClr val="F8F7F4"/>
                </a:solidFill>
                <a:latin typeface="DM Sans"/>
              </a:rPr>
              <a:t>BOOK YOUR FREE AUDIT  →</a:t>
            </a:r>
          </a:p>
        </p:txBody>
      </p:sp>
      <p:pic>
        <p:nvPicPr>
          <p:cNvPr id="61" name="Picture 60" descr="sorted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6100" y="5248275"/>
            <a:ext cx="342900" cy="3429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solidFill>
            <a:srgbClr val="091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571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1143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0" y="1714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0" y="2286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0" y="2857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0" y="3429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0" y="4000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0" y="4572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5143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5715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71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143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714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286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857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429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000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572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143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715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286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858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429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001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572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144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715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287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0858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2381250" y="-347662"/>
            <a:ext cx="6667500" cy="6667500"/>
          </a:xfrm>
          <a:prstGeom prst="ellipse">
            <a:avLst/>
          </a:prstGeom>
          <a:solidFill>
            <a:srgbClr val="E8264B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orte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3650" y="457200"/>
            <a:ext cx="819150" cy="1905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57200" y="457200"/>
            <a:ext cx="3810000" cy="1333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E8264B"/>
                </a:solidFill>
                <a:latin typeface="DM Sans"/>
              </a:rPr>
              <a:t>CASE STUDY · 2025</a:t>
            </a:r>
          </a:p>
        </p:txBody>
      </p:sp>
      <p:sp>
        <p:nvSpPr>
          <p:cNvPr id="35" name="Oval 34"/>
          <p:cNvSpPr/>
          <p:nvPr/>
        </p:nvSpPr>
        <p:spPr>
          <a:xfrm>
            <a:off x="8839200" y="457200"/>
            <a:ext cx="419100" cy="419100"/>
          </a:xfrm>
          <a:prstGeom prst="ellipse">
            <a:avLst/>
          </a:prstGeom>
          <a:solidFill>
            <a:srgbClr val="0F2240"/>
          </a:solidFill>
          <a:ln w="19050">
            <a:solidFill>
              <a:srgbClr val="E8264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39200" y="457200"/>
            <a:ext cx="419100" cy="4191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20000"/>
              </a:lnSpc>
            </a:pPr>
            <a:r>
              <a:rPr sz="700" b="0" i="1">
                <a:solidFill>
                  <a:srgbClr val="8A94A6"/>
                </a:solidFill>
                <a:latin typeface="DM Sans"/>
              </a:rPr>
              <a:t>Client logo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0" y="1833562"/>
            <a:ext cx="11430000" cy="23050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85000"/>
              </a:lnSpc>
            </a:pPr>
            <a:r>
              <a:rPr sz="22000" b="0" i="0" spc="-400">
                <a:solidFill>
                  <a:srgbClr val="E8264B"/>
                </a:solidFill>
                <a:latin typeface="Bebas Neue"/>
              </a:rPr>
              <a:t>$17.9M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0" y="3929062"/>
            <a:ext cx="11430000" cy="1714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F8F7F4"/>
                </a:solidFill>
                <a:latin typeface="DM Sans"/>
              </a:rPr>
              <a:t>ATTRIBUTED EMAIL REVENUE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0" y="4214812"/>
            <a:ext cx="11430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8A94A6"/>
                </a:solidFill>
                <a:latin typeface="DM Sans"/>
              </a:rPr>
              <a:t>12 months · 1 client · Klaviyo</a:t>
            </a:r>
          </a:p>
        </p:txBody>
      </p:sp>
      <p:pic>
        <p:nvPicPr>
          <p:cNvPr id="40" name="Picture 39" descr="sorted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6100" y="5248275"/>
            <a:ext cx="342900" cy="3429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381000" y="5438775"/>
            <a:ext cx="2286000" cy="190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B8C4D8"/>
                </a:solidFill>
                <a:latin typeface="DM Sans"/>
              </a:rPr>
              <a:t>SORTED.AGENCY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solidFill>
            <a:srgbClr val="091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571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1143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0" y="1714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0" y="2286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0" y="2857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0" y="3429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0" y="4000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0" y="4572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5143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5715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71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143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714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286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857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429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000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572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143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715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286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858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429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001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572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144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715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287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0858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 descr="sorte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733425" cy="17145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71500" y="1493043"/>
            <a:ext cx="4572000" cy="2095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5000"/>
              </a:lnSpc>
            </a:pPr>
            <a:r>
              <a:rPr sz="20000" b="0" i="0" spc="-300">
                <a:solidFill>
                  <a:srgbClr val="E8264B"/>
                </a:solidFill>
                <a:latin typeface="Bebas Neue"/>
              </a:rPr>
              <a:t>4.5×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00" y="3302793"/>
            <a:ext cx="4572000" cy="1428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F8F7F4"/>
                </a:solidFill>
                <a:latin typeface="DM Sans"/>
              </a:rPr>
              <a:t>AVERAGE ROAS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05500" y="1672209"/>
            <a:ext cx="4953000" cy="762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B8C4D8"/>
                </a:solidFill>
                <a:latin typeface="DM Sans"/>
              </a:rPr>
              <a:t>Across 100+ D2C brands we've scaled since 2022.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05500" y="4084967"/>
            <a:ext cx="555625" cy="394163"/>
          </a:xfrm>
          <a:prstGeom prst="roundRect">
            <a:avLst>
              <a:gd name="adj" fmla="val 5142"/>
            </a:avLst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05500" y="4574381"/>
            <a:ext cx="555625" cy="190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1000" b="0" i="0" spc="120">
                <a:solidFill>
                  <a:srgbClr val="8A94A6"/>
                </a:solidFill>
                <a:latin typeface="DM Sans"/>
              </a:rPr>
              <a:t>Q1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99250" y="3726637"/>
            <a:ext cx="555625" cy="752494"/>
          </a:xfrm>
          <a:prstGeom prst="roundRect">
            <a:avLst>
              <a:gd name="adj" fmla="val 3797"/>
            </a:avLst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9250" y="4574381"/>
            <a:ext cx="555625" cy="190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1000" b="0" i="0" spc="120">
                <a:solidFill>
                  <a:srgbClr val="8A94A6"/>
                </a:solidFill>
                <a:latin typeface="DM Sans"/>
              </a:rPr>
              <a:t>Q2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93000" y="3296640"/>
            <a:ext cx="555625" cy="1182490"/>
          </a:xfrm>
          <a:prstGeom prst="roundRect">
            <a:avLst>
              <a:gd name="adj" fmla="val 2416"/>
            </a:avLst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93000" y="4574381"/>
            <a:ext cx="555625" cy="190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1000" b="0" i="0" spc="120">
                <a:solidFill>
                  <a:srgbClr val="8A94A6"/>
                </a:solidFill>
                <a:latin typeface="DM Sans"/>
              </a:rPr>
              <a:t>Q3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86750" y="3009976"/>
            <a:ext cx="555625" cy="1469155"/>
          </a:xfrm>
          <a:prstGeom prst="roundRect">
            <a:avLst>
              <a:gd name="adj" fmla="val 1944"/>
            </a:avLst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86750" y="4574381"/>
            <a:ext cx="555625" cy="190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1000" b="0" i="0" spc="120">
                <a:solidFill>
                  <a:srgbClr val="8A94A6"/>
                </a:solidFill>
                <a:latin typeface="DM Sans"/>
              </a:rPr>
              <a:t>Q4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80500" y="2687478"/>
            <a:ext cx="555625" cy="1791652"/>
          </a:xfrm>
          <a:prstGeom prst="roundRect">
            <a:avLst>
              <a:gd name="adj" fmla="val 1594"/>
            </a:avLst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80500" y="4574381"/>
            <a:ext cx="555625" cy="190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1000" b="0" i="0" spc="120">
                <a:solidFill>
                  <a:srgbClr val="8A94A6"/>
                </a:solidFill>
                <a:latin typeface="DM Sans"/>
              </a:rPr>
              <a:t>NOW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71500" y="5191125"/>
            <a:ext cx="1819275" cy="24765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E82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1500" y="5191125"/>
            <a:ext cx="1819275" cy="24765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E8264B"/>
                </a:solidFill>
                <a:latin typeface="DM Sans"/>
              </a:rPr>
              <a:t>$30M+ AD SPEND MANAGED</a:t>
            </a:r>
          </a:p>
        </p:txBody>
      </p:sp>
      <p:pic>
        <p:nvPicPr>
          <p:cNvPr id="48" name="Picture 47" descr="sorted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8950" y="5191125"/>
            <a:ext cx="323850" cy="3238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solidFill>
            <a:srgbClr val="091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571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1143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0" y="1714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0" y="2286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0" y="2857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0" y="3429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0" y="4000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0" y="4572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5143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5715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71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143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714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286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857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429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000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572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143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715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286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858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429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001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572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144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715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287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0858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715000" y="762000"/>
            <a:ext cx="0" cy="4448175"/>
          </a:xfrm>
          <a:prstGeom prst="line">
            <a:avLst/>
          </a:prstGeom>
          <a:ln w="12700">
            <a:solidFill>
              <a:srgbClr val="E826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71500" y="1143000"/>
            <a:ext cx="4191000" cy="1333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8A94A6"/>
                </a:solidFill>
                <a:latin typeface="DM Sans"/>
              </a:rPr>
              <a:t>BEFORE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00" y="1333500"/>
            <a:ext cx="4572000" cy="69151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6600" b="0" i="0">
                <a:solidFill>
                  <a:srgbClr val="8A94A6"/>
                </a:solidFill>
                <a:latin typeface="Bebas Neue"/>
              </a:rPr>
              <a:t>Before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71500" y="2667000"/>
            <a:ext cx="4572000" cy="1333500"/>
          </a:xfrm>
          <a:prstGeom prst="roundRect">
            <a:avLst>
              <a:gd name="adj" fmla="val 2500"/>
            </a:avLst>
          </a:prstGeom>
          <a:solidFill>
            <a:srgbClr val="0F2240"/>
          </a:solidFill>
          <a:ln w="19050">
            <a:solidFill>
              <a:srgbClr val="E8264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sorte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3048000"/>
            <a:ext cx="381000" cy="381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71500" y="3467100"/>
            <a:ext cx="4572000" cy="190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1100" b="0" i="1">
                <a:solidFill>
                  <a:srgbClr val="8A94A6"/>
                </a:solidFill>
                <a:latin typeface="DM Sans"/>
              </a:rPr>
              <a:t>Drop screenshot — before</a:t>
            </a:r>
          </a:p>
        </p:txBody>
      </p:sp>
      <p:sp>
        <p:nvSpPr>
          <p:cNvPr id="38" name="Oval 37"/>
          <p:cNvSpPr/>
          <p:nvPr/>
        </p:nvSpPr>
        <p:spPr>
          <a:xfrm>
            <a:off x="571500" y="4381500"/>
            <a:ext cx="209550" cy="209550"/>
          </a:xfrm>
          <a:prstGeom prst="ellipse">
            <a:avLst/>
          </a:prstGeom>
          <a:solidFill>
            <a:srgbClr val="0F2240"/>
          </a:solidFill>
          <a:ln w="6350">
            <a:solidFill>
              <a:srgbClr val="8A9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1500" y="4381500"/>
            <a:ext cx="209550" cy="20955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8A94A6"/>
                </a:solidFill>
                <a:latin typeface="DM Sans"/>
              </a:rPr>
              <a:t>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5350" y="4381500"/>
            <a:ext cx="4248150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8A94A6"/>
                </a:solidFill>
                <a:latin typeface="DM Sans"/>
              </a:rPr>
              <a:t>2.1× ROAS · flatlining revenue</a:t>
            </a:r>
          </a:p>
        </p:txBody>
      </p:sp>
      <p:sp>
        <p:nvSpPr>
          <p:cNvPr id="41" name="Oval 40"/>
          <p:cNvSpPr/>
          <p:nvPr/>
        </p:nvSpPr>
        <p:spPr>
          <a:xfrm>
            <a:off x="571500" y="4857750"/>
            <a:ext cx="209550" cy="209550"/>
          </a:xfrm>
          <a:prstGeom prst="ellipse">
            <a:avLst/>
          </a:prstGeom>
          <a:solidFill>
            <a:srgbClr val="0F2240"/>
          </a:solidFill>
          <a:ln w="6350">
            <a:solidFill>
              <a:srgbClr val="8A9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1500" y="4857750"/>
            <a:ext cx="209550" cy="20955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8A94A6"/>
                </a:solidFill>
                <a:latin typeface="DM Sans"/>
              </a:rPr>
              <a:t>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5350" y="4857750"/>
            <a:ext cx="4248150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8A94A6"/>
                </a:solidFill>
                <a:latin typeface="DM Sans"/>
              </a:rPr>
              <a:t>Klaviyo at 8% of total revenue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6000" y="1143000"/>
            <a:ext cx="4191000" cy="1333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E8264B"/>
                </a:solidFill>
                <a:latin typeface="DM Sans"/>
              </a:rPr>
              <a:t>AFTER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0" y="1333500"/>
            <a:ext cx="4572000" cy="69151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6600" b="0" i="0">
                <a:solidFill>
                  <a:srgbClr val="E8264B"/>
                </a:solidFill>
                <a:latin typeface="Bebas Neue"/>
              </a:rPr>
              <a:t>After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096000" y="2667000"/>
            <a:ext cx="4572000" cy="1333500"/>
          </a:xfrm>
          <a:prstGeom prst="roundRect">
            <a:avLst>
              <a:gd name="adj" fmla="val 2500"/>
            </a:avLst>
          </a:prstGeom>
          <a:solidFill>
            <a:srgbClr val="0F2240"/>
          </a:solidFill>
          <a:ln w="19050">
            <a:solidFill>
              <a:srgbClr val="E8264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sorte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0" y="3048000"/>
            <a:ext cx="381000" cy="3810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096000" y="3467100"/>
            <a:ext cx="4572000" cy="190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1100" b="0" i="1">
                <a:solidFill>
                  <a:srgbClr val="8A94A6"/>
                </a:solidFill>
                <a:latin typeface="DM Sans"/>
              </a:rPr>
              <a:t>Drop screenshot — after</a:t>
            </a:r>
          </a:p>
        </p:txBody>
      </p:sp>
      <p:sp>
        <p:nvSpPr>
          <p:cNvPr id="49" name="Oval 48"/>
          <p:cNvSpPr/>
          <p:nvPr/>
        </p:nvSpPr>
        <p:spPr>
          <a:xfrm>
            <a:off x="6096000" y="4381500"/>
            <a:ext cx="209550" cy="209550"/>
          </a:xfrm>
          <a:prstGeom prst="ellipse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96000" y="4381500"/>
            <a:ext cx="209550" cy="20955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8F7F4"/>
                </a:solidFill>
                <a:latin typeface="DM Sans"/>
              </a:rPr>
              <a:t>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19850" y="4381500"/>
            <a:ext cx="4248150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8F7F4"/>
                </a:solidFill>
                <a:latin typeface="DM Sans"/>
              </a:rPr>
              <a:t>4.8× ROAS · sustained 9 months</a:t>
            </a:r>
          </a:p>
        </p:txBody>
      </p:sp>
      <p:sp>
        <p:nvSpPr>
          <p:cNvPr id="52" name="Oval 51"/>
          <p:cNvSpPr/>
          <p:nvPr/>
        </p:nvSpPr>
        <p:spPr>
          <a:xfrm>
            <a:off x="6096000" y="4857750"/>
            <a:ext cx="209550" cy="209550"/>
          </a:xfrm>
          <a:prstGeom prst="ellipse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096000" y="4857750"/>
            <a:ext cx="209550" cy="20955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8F7F4"/>
                </a:solidFill>
                <a:latin typeface="DM Sans"/>
              </a:rPr>
              <a:t>✓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19850" y="4857750"/>
            <a:ext cx="4248150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8F7F4"/>
                </a:solidFill>
                <a:latin typeface="DM Sans"/>
              </a:rPr>
              <a:t>Klaviyo at 44% of total revenue</a:t>
            </a:r>
          </a:p>
        </p:txBody>
      </p:sp>
      <p:pic>
        <p:nvPicPr>
          <p:cNvPr id="55" name="Picture 54" descr="sorted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81000"/>
            <a:ext cx="819150" cy="190500"/>
          </a:xfrm>
          <a:prstGeom prst="rect">
            <a:avLst/>
          </a:prstGeom>
        </p:spPr>
      </p:pic>
      <p:pic>
        <p:nvPicPr>
          <p:cNvPr id="56" name="Picture 55" descr="sorte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6100" y="5248275"/>
            <a:ext cx="342900" cy="3429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solidFill>
            <a:srgbClr val="091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571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1143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0" y="1714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0" y="2286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0" y="2857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0" y="3429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0" y="4000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0" y="4572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5143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5715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71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143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714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286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857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429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000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572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143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715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286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858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429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001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572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144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715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287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0858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-1905000" y="2162175"/>
            <a:ext cx="7620000" cy="7620000"/>
          </a:xfrm>
          <a:prstGeom prst="ellipse">
            <a:avLst/>
          </a:prstGeom>
          <a:solidFill>
            <a:srgbClr val="E8264B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orte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3650" y="457200"/>
            <a:ext cx="819150" cy="190500"/>
          </a:xfrm>
          <a:prstGeom prst="rect">
            <a:avLst/>
          </a:prstGeom>
        </p:spPr>
      </p:pic>
      <p:pic>
        <p:nvPicPr>
          <p:cNvPr id="34" name="Picture 33" descr="sorted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0" y="495300"/>
            <a:ext cx="304800" cy="3048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0" y="1366837"/>
            <a:ext cx="11430000" cy="35623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85000"/>
              </a:lnSpc>
            </a:pPr>
            <a:r>
              <a:rPr sz="34000" b="0" i="0" spc="-600">
                <a:solidFill>
                  <a:srgbClr val="E8264B"/>
                </a:solidFill>
                <a:latin typeface="Bebas Neue"/>
              </a:rPr>
              <a:t>718%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0" y="4443412"/>
            <a:ext cx="11430000" cy="1809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500" b="1" i="0" spc="220">
                <a:solidFill>
                  <a:srgbClr val="F8F7F4"/>
                </a:solidFill>
                <a:latin typeface="DM Sans"/>
              </a:rPr>
              <a:t>REVENUE GROWTH · 6 MONTHS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0" y="4748212"/>
            <a:ext cx="11430000" cy="2095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8A94A6"/>
                </a:solidFill>
                <a:latin typeface="DM Sans"/>
              </a:rPr>
              <a:t>Homestead Collective · Meta + Google + Klaviyo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63000" y="5438775"/>
            <a:ext cx="2286000" cy="1428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E8264B"/>
                </a:solidFill>
                <a:latin typeface="DM Sans"/>
              </a:rPr>
              <a:t>SWIPE TO SEE HOW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solidFill>
            <a:srgbClr val="091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571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1143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0" y="1714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0" y="2286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0" y="2857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0" y="3429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0" y="4000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0" y="4572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5143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5715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71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143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714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286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857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429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000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572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143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715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286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858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429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001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572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144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715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287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0858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 descr="sorte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381000"/>
            <a:ext cx="733425" cy="17145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9525000" y="381000"/>
            <a:ext cx="897731" cy="190500"/>
          </a:xfrm>
          <a:prstGeom prst="roundRect">
            <a:avLst>
              <a:gd name="adj" fmla="val 50000"/>
            </a:avLst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25000" y="381000"/>
            <a:ext cx="897731" cy="1905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20000"/>
              </a:lnSpc>
            </a:pPr>
            <a:r>
              <a:rPr sz="900" b="1" i="0" spc="180">
                <a:solidFill>
                  <a:srgbClr val="F8F7F4"/>
                </a:solidFill>
                <a:latin typeface="DM Sans"/>
              </a:rPr>
              <a:t>SHOPIFY WIN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81000" y="1047750"/>
            <a:ext cx="10668000" cy="1905000"/>
          </a:xfrm>
          <a:prstGeom prst="roundRect">
            <a:avLst>
              <a:gd name="adj" fmla="val 1071"/>
            </a:avLst>
          </a:prstGeom>
          <a:solidFill>
            <a:srgbClr val="0F2240"/>
          </a:solidFill>
          <a:ln w="19050">
            <a:solidFill>
              <a:srgbClr val="E8264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sorted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0" y="1714500"/>
            <a:ext cx="381000" cy="381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81000" y="2133600"/>
            <a:ext cx="10668000" cy="190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1100" b="0" i="1">
                <a:solidFill>
                  <a:srgbClr val="8A94A6"/>
                </a:solidFill>
                <a:latin typeface="DM Sans"/>
              </a:rPr>
              <a:t>Drop Shopify dashboard screenshot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1000" y="3238500"/>
            <a:ext cx="5715000" cy="12573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2000" b="0" i="0" spc="-200">
                <a:solidFill>
                  <a:srgbClr val="E8264B"/>
                </a:solidFill>
                <a:latin typeface="Bebas Neue"/>
              </a:rPr>
              <a:t>$1.45M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1000" y="4324350"/>
            <a:ext cx="5715000" cy="1428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F8F7F4"/>
                </a:solidFill>
                <a:latin typeface="DM Sans"/>
              </a:rPr>
              <a:t>SHOPIFY SALES · 90 DAYS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1000" y="4924425"/>
            <a:ext cx="34671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81000" y="4924425"/>
            <a:ext cx="3467100" cy="666750"/>
          </a:xfrm>
          <a:prstGeom prst="roundRect">
            <a:avLst>
              <a:gd name="adj" fmla="val 2747"/>
            </a:avLst>
          </a:prstGeom>
          <a:solidFill>
            <a:srgbClr val="0F2240"/>
          </a:solidFill>
          <a:ln w="6350">
            <a:solidFill>
              <a:srgbClr val="B8C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1000" y="4924425"/>
            <a:ext cx="34671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52450" y="5057775"/>
            <a:ext cx="3124200" cy="3667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2800" b="0" i="0">
                <a:solidFill>
                  <a:srgbClr val="E8264B"/>
                </a:solidFill>
                <a:latin typeface="Bebas Neue"/>
              </a:rPr>
              <a:t>27K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2450" y="5305425"/>
            <a:ext cx="3124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000" b="1" i="0" spc="120">
                <a:solidFill>
                  <a:srgbClr val="B8C4D8"/>
                </a:solidFill>
                <a:latin typeface="DM Sans"/>
              </a:rPr>
              <a:t>ORDERS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981450" y="4924425"/>
            <a:ext cx="34671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981450" y="4924425"/>
            <a:ext cx="3467100" cy="666750"/>
          </a:xfrm>
          <a:prstGeom prst="roundRect">
            <a:avLst>
              <a:gd name="adj" fmla="val 2747"/>
            </a:avLst>
          </a:prstGeom>
          <a:solidFill>
            <a:srgbClr val="0F2240"/>
          </a:solidFill>
          <a:ln w="6350">
            <a:solidFill>
              <a:srgbClr val="B8C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981450" y="4924425"/>
            <a:ext cx="34671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52900" y="5057775"/>
            <a:ext cx="3124200" cy="3667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2800" b="0" i="0">
                <a:solidFill>
                  <a:srgbClr val="E8264B"/>
                </a:solidFill>
                <a:latin typeface="Bebas Neue"/>
              </a:rPr>
              <a:t>22.96%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52900" y="5305425"/>
            <a:ext cx="3124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000" b="1" i="0" spc="120">
                <a:solidFill>
                  <a:srgbClr val="B8C4D8"/>
                </a:solidFill>
                <a:latin typeface="DM Sans"/>
              </a:rPr>
              <a:t>RETURN RATE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81900" y="4924425"/>
            <a:ext cx="34671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7581900" y="4924425"/>
            <a:ext cx="3467100" cy="666750"/>
          </a:xfrm>
          <a:prstGeom prst="roundRect">
            <a:avLst>
              <a:gd name="adj" fmla="val 2747"/>
            </a:avLst>
          </a:prstGeom>
          <a:solidFill>
            <a:srgbClr val="0F2240"/>
          </a:solidFill>
          <a:ln w="6350">
            <a:solidFill>
              <a:srgbClr val="B8C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581900" y="4924425"/>
            <a:ext cx="34671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53350" y="5057775"/>
            <a:ext cx="3124200" cy="3667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2800" b="0" i="0">
                <a:solidFill>
                  <a:srgbClr val="E8264B"/>
                </a:solidFill>
                <a:latin typeface="Bebas Neue"/>
              </a:rPr>
              <a:t>+25%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53350" y="5305425"/>
            <a:ext cx="3124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000" b="1" i="0" spc="120">
                <a:solidFill>
                  <a:srgbClr val="B8C4D8"/>
                </a:solidFill>
                <a:latin typeface="DM Sans"/>
              </a:rPr>
              <a:t>YOY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solidFill>
            <a:srgbClr val="091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571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1143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0" y="1714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0" y="2286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0" y="2857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0" y="3429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0" y="4000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0" y="4572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5143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5715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71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143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714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286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857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429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000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572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143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715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286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858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429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001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572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144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715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287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0858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0" y="0"/>
            <a:ext cx="11430000" cy="38100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81000" y="381000"/>
            <a:ext cx="3619500" cy="5210175"/>
          </a:xfrm>
          <a:prstGeom prst="roundRect">
            <a:avLst>
              <a:gd name="adj" fmla="val 2193"/>
            </a:avLst>
          </a:prstGeom>
          <a:solidFill>
            <a:srgbClr val="0F2240"/>
          </a:solidFill>
          <a:ln w="19050">
            <a:solidFill>
              <a:srgbClr val="E8264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sorte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250" y="2700337"/>
            <a:ext cx="381000" cy="3810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81000" y="3119437"/>
            <a:ext cx="3619500" cy="190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1100" b="0" i="1">
                <a:solidFill>
                  <a:srgbClr val="8A94A6"/>
                </a:solidFill>
                <a:latin typeface="DM Sans"/>
              </a:rPr>
              <a:t>Drop client headshot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62500" y="571500"/>
            <a:ext cx="6286500" cy="152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00" b="1" i="0" spc="220">
                <a:solidFill>
                  <a:srgbClr val="E8264B"/>
                </a:solidFill>
                <a:latin typeface="DM Sans"/>
              </a:rPr>
              <a:t>CASE STUDY: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62500" y="952500"/>
            <a:ext cx="6286500" cy="9639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4600" b="0" i="0">
                <a:solidFill>
                  <a:srgbClr val="F8F7F4"/>
                </a:solidFill>
                <a:latin typeface="Bebas Neue"/>
              </a:rPr>
              <a:t>3× revenue</a:t>
            </a:r>
          </a:p>
          <a:p>
            <a:pPr algn="l">
              <a:lnSpc>
                <a:spcPct val="90000"/>
              </a:lnSpc>
            </a:pPr>
            <a:r>
              <a:rPr sz="4600" b="0" i="0">
                <a:solidFill>
                  <a:srgbClr val="F8F7F4"/>
                </a:solidFill>
                <a:latin typeface="Bebas Neue"/>
              </a:rPr>
              <a:t>in 90 days.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62500" y="2106930"/>
            <a:ext cx="6286500" cy="762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B8C4D8"/>
                </a:solidFill>
                <a:latin typeface="DM Sans"/>
              </a:rPr>
              <a:t>"Sorted rebuilt our growth engine from the ground up. Every week felt like a year of progress."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62500" y="2964180"/>
            <a:ext cx="6286500" cy="190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8A94A6"/>
                </a:solidFill>
                <a:latin typeface="DM Sans"/>
              </a:rPr>
              <a:t>— Avni Mehra · Founder, Leafmark Beauty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762500" y="4581525"/>
            <a:ext cx="19939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762500" y="4581525"/>
            <a:ext cx="1993900" cy="723900"/>
          </a:xfrm>
          <a:prstGeom prst="roundRect">
            <a:avLst>
              <a:gd name="adj" fmla="val 4777"/>
            </a:avLst>
          </a:prstGeom>
          <a:solidFill>
            <a:srgbClr val="0F2240"/>
          </a:solidFill>
          <a:ln w="6350">
            <a:solidFill>
              <a:srgbClr val="B8C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762500" y="4581525"/>
            <a:ext cx="19939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33950" y="4714875"/>
            <a:ext cx="1651000" cy="3981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2800" b="0" i="0">
                <a:solidFill>
                  <a:srgbClr val="E8264B"/>
                </a:solidFill>
                <a:latin typeface="Bebas Neue"/>
              </a:rPr>
              <a:t>3.1×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33950" y="5019675"/>
            <a:ext cx="1651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000" b="1" i="0" spc="120">
                <a:solidFill>
                  <a:srgbClr val="B8C4D8"/>
                </a:solidFill>
                <a:latin typeface="DM Sans"/>
              </a:rPr>
              <a:t>REVENUE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08800" y="4581525"/>
            <a:ext cx="19939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908800" y="4581525"/>
            <a:ext cx="1993900" cy="723900"/>
          </a:xfrm>
          <a:prstGeom prst="roundRect">
            <a:avLst>
              <a:gd name="adj" fmla="val 4777"/>
            </a:avLst>
          </a:prstGeom>
          <a:solidFill>
            <a:srgbClr val="0F2240"/>
          </a:solidFill>
          <a:ln w="6350">
            <a:solidFill>
              <a:srgbClr val="B8C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908800" y="4581525"/>
            <a:ext cx="19939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080250" y="4714875"/>
            <a:ext cx="1651000" cy="3981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2800" b="0" i="0">
                <a:solidFill>
                  <a:srgbClr val="E8264B"/>
                </a:solidFill>
                <a:latin typeface="Bebas Neue"/>
              </a:rPr>
              <a:t>41%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0250" y="5019675"/>
            <a:ext cx="1651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000" b="1" i="0" spc="120">
                <a:solidFill>
                  <a:srgbClr val="B8C4D8"/>
                </a:solidFill>
                <a:latin typeface="DM Sans"/>
              </a:rPr>
              <a:t>EMAIL SHARE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055100" y="4581525"/>
            <a:ext cx="19939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055100" y="4581525"/>
            <a:ext cx="1993900" cy="723900"/>
          </a:xfrm>
          <a:prstGeom prst="roundRect">
            <a:avLst>
              <a:gd name="adj" fmla="val 4777"/>
            </a:avLst>
          </a:prstGeom>
          <a:solidFill>
            <a:srgbClr val="0F2240"/>
          </a:solidFill>
          <a:ln w="6350">
            <a:solidFill>
              <a:srgbClr val="B8C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055100" y="4581525"/>
            <a:ext cx="1993900" cy="28575"/>
          </a:xfrm>
          <a:prstGeom prst="rect">
            <a:avLst/>
          </a:prstGeom>
          <a:solidFill>
            <a:srgbClr val="E8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26550" y="4714875"/>
            <a:ext cx="1651000" cy="3981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2800" b="0" i="0">
                <a:solidFill>
                  <a:srgbClr val="E8264B"/>
                </a:solidFill>
                <a:latin typeface="Bebas Neue"/>
              </a:rPr>
              <a:t>5.2×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26550" y="5019675"/>
            <a:ext cx="1651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000" b="1" i="0" spc="120">
                <a:solidFill>
                  <a:srgbClr val="B8C4D8"/>
                </a:solidFill>
                <a:latin typeface="DM Sans"/>
              </a:rPr>
              <a:t>ROAS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62500" y="5591175"/>
            <a:ext cx="1905000" cy="1333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E8264B"/>
                </a:solidFill>
                <a:latin typeface="DM Sans"/>
              </a:rPr>
              <a:t>READ FULL CASE →</a:t>
            </a:r>
          </a:p>
        </p:txBody>
      </p:sp>
      <p:pic>
        <p:nvPicPr>
          <p:cNvPr id="56" name="Picture 55" descr="sorted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6500" y="5591175"/>
            <a:ext cx="64770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solidFill>
            <a:srgbClr val="091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571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1143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0" y="1714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0" y="2286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0" y="2857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0" y="3429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0" y="4000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0" y="4572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51435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5715000"/>
            <a:ext cx="11430000" cy="0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71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143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714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286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857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429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000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572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143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715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286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858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429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001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572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144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715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2870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0858500" y="0"/>
            <a:ext cx="0" cy="5972175"/>
          </a:xfrm>
          <a:prstGeom prst="line">
            <a:avLst/>
          </a:prstGeom>
          <a:ln w="3175">
            <a:solidFill>
              <a:srgbClr val="F8F7F4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381000" y="381000"/>
            <a:ext cx="10668000" cy="3276600"/>
          </a:xfrm>
          <a:prstGeom prst="roundRect">
            <a:avLst>
              <a:gd name="adj" fmla="val 1071"/>
            </a:avLst>
          </a:prstGeom>
          <a:solidFill>
            <a:srgbClr val="0F2240"/>
          </a:solidFill>
          <a:ln w="19050">
            <a:solidFill>
              <a:srgbClr val="E8264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orte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500" y="1733550"/>
            <a:ext cx="381000" cy="3810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381000" y="2152650"/>
            <a:ext cx="10668000" cy="190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1100" b="0" i="1">
                <a:solidFill>
                  <a:srgbClr val="8A94A6"/>
                </a:solidFill>
                <a:latin typeface="DM Sans"/>
              </a:rPr>
              <a:t>Drop Klaviyo / Shopify / GSC screenshot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1000" y="3943350"/>
            <a:ext cx="6858000" cy="7334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7000" b="0" i="0" spc="-100">
                <a:solidFill>
                  <a:srgbClr val="E8264B"/>
                </a:solidFill>
                <a:latin typeface="Bebas Neue"/>
              </a:rPr>
              <a:t>+$892K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1000" y="4576762"/>
            <a:ext cx="6858000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B8C4D8"/>
                </a:solidFill>
                <a:latin typeface="DM Sans"/>
              </a:rPr>
              <a:t>Email revenue, 30 days. Real client dashboard.</a:t>
            </a:r>
          </a:p>
        </p:txBody>
      </p:sp>
      <p:pic>
        <p:nvPicPr>
          <p:cNvPr id="37" name="Picture 36" descr="sorted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5500" y="5210175"/>
            <a:ext cx="733425" cy="171450"/>
          </a:xfrm>
          <a:prstGeom prst="rect">
            <a:avLst/>
          </a:prstGeom>
        </p:spPr>
      </p:pic>
      <p:pic>
        <p:nvPicPr>
          <p:cNvPr id="38" name="Picture 37" descr="sorted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0" y="5210175"/>
            <a:ext cx="247650" cy="2476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