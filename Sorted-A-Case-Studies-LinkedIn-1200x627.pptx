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572500" y="-1905000"/>
            <a:ext cx="6667500" cy="6667500"/>
          </a:xfrm>
          <a:prstGeom prst="ellipse">
            <a:avLst/>
          </a:prstGeom>
          <a:solidFill>
            <a:srgbClr val="E8264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000" y="381000"/>
            <a:ext cx="833437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000" y="381000"/>
            <a:ext cx="83343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CASE STUDY</a:t>
            </a:r>
          </a:p>
        </p:txBody>
      </p:sp>
      <p:pic>
        <p:nvPicPr>
          <p:cNvPr id="35" name="Picture 34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419100"/>
            <a:ext cx="819150" cy="1905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381000" y="914400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1000" y="9144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D2C ·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1676876"/>
            <a:ext cx="8458200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15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3200876"/>
            <a:ext cx="6477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3372326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URC Beverages · 12-month Klaviyo engagement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1238250"/>
            <a:ext cx="1905000" cy="2924175"/>
          </a:xfrm>
          <a:prstGeom prst="roundRect">
            <a:avLst>
              <a:gd name="adj" fmla="val 3908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0" y="2414587"/>
            <a:ext cx="381000" cy="381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44000" y="2833687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creative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10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81000" y="36861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0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450" y="38195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28.2%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2450" y="42576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878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987800" y="36861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878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59250" y="38195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44%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59250" y="42576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SHARE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946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594600" y="3686175"/>
            <a:ext cx="3454400" cy="857250"/>
          </a:xfrm>
          <a:prstGeom prst="roundRect">
            <a:avLst>
              <a:gd name="adj" fmla="val 275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94600" y="3686175"/>
            <a:ext cx="3454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66050" y="3819525"/>
            <a:ext cx="3111500" cy="47148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3100" b="0" i="0">
                <a:solidFill>
                  <a:srgbClr val="E8264B"/>
                </a:solidFill>
                <a:latin typeface="Bebas Neue"/>
              </a:rPr>
              <a:t>12 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66050" y="4257675"/>
            <a:ext cx="3111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ENGAGEMENT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1000" y="5191125"/>
            <a:ext cx="2019300" cy="323850"/>
          </a:xfrm>
          <a:prstGeom prst="roundRect">
            <a:avLst>
              <a:gd name="adj" fmla="val 283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3400" y="5191125"/>
            <a:ext cx="17145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000" b="1" i="0" spc="140">
                <a:solidFill>
                  <a:srgbClr val="F8F7F4"/>
                </a:solidFill>
                <a:latin typeface="DM Sans"/>
              </a:rPr>
              <a:t>BOOK YOUR FREE AUDIT  →</a:t>
            </a:r>
          </a:p>
        </p:txBody>
      </p:sp>
      <p:pic>
        <p:nvPicPr>
          <p:cNvPr id="61" name="Picture 6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2482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381250" y="-347662"/>
            <a:ext cx="6667500" cy="666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457200"/>
            <a:ext cx="8191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457200"/>
            <a:ext cx="3810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CASE STUDY · 2025</a:t>
            </a:r>
          </a:p>
        </p:txBody>
      </p:sp>
      <p:sp>
        <p:nvSpPr>
          <p:cNvPr id="35" name="Oval 34"/>
          <p:cNvSpPr/>
          <p:nvPr/>
        </p:nvSpPr>
        <p:spPr>
          <a:xfrm>
            <a:off x="8839200" y="457200"/>
            <a:ext cx="419100" cy="4191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9200" y="457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1833562"/>
            <a:ext cx="11430000" cy="2305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22000" b="0" i="0" spc="-4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3929062"/>
            <a:ext cx="11430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4214812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12 months · 1 client · Klaviyo</a:t>
            </a:r>
          </a:p>
        </p:txBody>
      </p:sp>
      <p:pic>
        <p:nvPicPr>
          <p:cNvPr id="40" name="Picture 39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248275"/>
            <a:ext cx="342900" cy="3429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81000" y="5438775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334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1493043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20000" b="0" i="0" spc="-3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302793"/>
            <a:ext cx="4572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0" y="1672209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Across 100+ D2C brands we've scaled since 2022.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05500" y="4084967"/>
            <a:ext cx="555625" cy="394163"/>
          </a:xfrm>
          <a:prstGeom prst="roundRect">
            <a:avLst>
              <a:gd name="adj" fmla="val 514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05500" y="45743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99250" y="3726637"/>
            <a:ext cx="555625" cy="752494"/>
          </a:xfrm>
          <a:prstGeom prst="roundRect">
            <a:avLst>
              <a:gd name="adj" fmla="val 379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9250" y="45743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3000" y="3296640"/>
            <a:ext cx="555625" cy="1182490"/>
          </a:xfrm>
          <a:prstGeom prst="roundRect">
            <a:avLst>
              <a:gd name="adj" fmla="val 241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3000" y="45743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6750" y="3009976"/>
            <a:ext cx="555625" cy="1469155"/>
          </a:xfrm>
          <a:prstGeom prst="roundRect">
            <a:avLst>
              <a:gd name="adj" fmla="val 1944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6750" y="45743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80500" y="2687478"/>
            <a:ext cx="555625" cy="1791652"/>
          </a:xfrm>
          <a:prstGeom prst="roundRect">
            <a:avLst>
              <a:gd name="adj" fmla="val 1594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80500" y="4574381"/>
            <a:ext cx="55562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NOW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" y="5191125"/>
            <a:ext cx="1819275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5191125"/>
            <a:ext cx="181927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E8264B"/>
                </a:solidFill>
                <a:latin typeface="DM Sans"/>
              </a:rPr>
              <a:t>$30M+ AD SPEND MANAGED</a:t>
            </a:r>
          </a:p>
        </p:txBody>
      </p:sp>
      <p:pic>
        <p:nvPicPr>
          <p:cNvPr id="48" name="Picture 4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950" y="5191125"/>
            <a:ext cx="3238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15000" y="762000"/>
            <a:ext cx="0" cy="4448175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1500" y="1143000"/>
            <a:ext cx="4191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8A94A6"/>
                </a:solidFill>
                <a:latin typeface="DM Sans"/>
              </a:rPr>
              <a:t>BEFORE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1333500"/>
            <a:ext cx="4572000" cy="691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600" b="0" i="0">
                <a:solidFill>
                  <a:srgbClr val="8A94A6"/>
                </a:solidFill>
                <a:latin typeface="Bebas Neue"/>
              </a:rPr>
              <a:t>Before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" y="2667000"/>
            <a:ext cx="4572000" cy="1333500"/>
          </a:xfrm>
          <a:prstGeom prst="roundRect">
            <a:avLst>
              <a:gd name="adj" fmla="val 25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048000"/>
            <a:ext cx="381000" cy="381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71500" y="34671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before</a:t>
            </a:r>
          </a:p>
        </p:txBody>
      </p:sp>
      <p:sp>
        <p:nvSpPr>
          <p:cNvPr id="38" name="Oval 37"/>
          <p:cNvSpPr/>
          <p:nvPr/>
        </p:nvSpPr>
        <p:spPr>
          <a:xfrm>
            <a:off x="571500" y="438150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4381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350" y="4381500"/>
            <a:ext cx="4248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2.1× ROAS · flatlining revenue</a:t>
            </a:r>
          </a:p>
        </p:txBody>
      </p:sp>
      <p:sp>
        <p:nvSpPr>
          <p:cNvPr id="41" name="Oval 40"/>
          <p:cNvSpPr/>
          <p:nvPr/>
        </p:nvSpPr>
        <p:spPr>
          <a:xfrm>
            <a:off x="571500" y="485775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" y="4857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857750"/>
            <a:ext cx="4248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Klaviyo at 8% of total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1143000"/>
            <a:ext cx="4191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AFTER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0" y="1333500"/>
            <a:ext cx="4572000" cy="6915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600" b="0" i="0">
                <a:solidFill>
                  <a:srgbClr val="E8264B"/>
                </a:solidFill>
                <a:latin typeface="Bebas Neue"/>
              </a:rPr>
              <a:t>After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96000" y="2667000"/>
            <a:ext cx="4572000" cy="1333500"/>
          </a:xfrm>
          <a:prstGeom prst="roundRect">
            <a:avLst>
              <a:gd name="adj" fmla="val 25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3048000"/>
            <a:ext cx="381000" cy="381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096000" y="34671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after</a:t>
            </a:r>
          </a:p>
        </p:txBody>
      </p:sp>
      <p:sp>
        <p:nvSpPr>
          <p:cNvPr id="49" name="Oval 48"/>
          <p:cNvSpPr/>
          <p:nvPr/>
        </p:nvSpPr>
        <p:spPr>
          <a:xfrm>
            <a:off x="6096000" y="43815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0" y="4381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850" y="4381500"/>
            <a:ext cx="4248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4.8× ROAS · sustained 9 months</a:t>
            </a:r>
          </a:p>
        </p:txBody>
      </p:sp>
      <p:sp>
        <p:nvSpPr>
          <p:cNvPr id="52" name="Oval 51"/>
          <p:cNvSpPr/>
          <p:nvPr/>
        </p:nvSpPr>
        <p:spPr>
          <a:xfrm>
            <a:off x="6096000" y="485775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6000" y="4857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850" y="4857750"/>
            <a:ext cx="42481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Klaviyo at 44% of total revenue</a:t>
            </a:r>
          </a:p>
        </p:txBody>
      </p:sp>
      <p:pic>
        <p:nvPicPr>
          <p:cNvPr id="55" name="Picture 54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56" name="Picture 55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00" y="52482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1905000" y="2162175"/>
            <a:ext cx="7620000" cy="76200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457200"/>
            <a:ext cx="819150" cy="190500"/>
          </a:xfrm>
          <a:prstGeom prst="rect">
            <a:avLst/>
          </a:prstGeom>
        </p:spPr>
      </p:pic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495300"/>
            <a:ext cx="304800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0" y="1366837"/>
            <a:ext cx="11430000" cy="3562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34000" b="0" i="0" spc="-600">
                <a:solidFill>
                  <a:srgbClr val="E8264B"/>
                </a:solidFill>
                <a:latin typeface="Bebas Neue"/>
              </a:rPr>
              <a:t>718%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4443412"/>
            <a:ext cx="1143000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 i="0" spc="220">
                <a:solidFill>
                  <a:srgbClr val="F8F7F4"/>
                </a:solidFill>
                <a:latin typeface="DM Sans"/>
              </a:rPr>
              <a:t>REVENUE GROWTH · 6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748212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Homestead Collective · Meta + Google + Klaviyo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0" y="5438775"/>
            <a:ext cx="2286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SWIPE TO SEE HOW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525000" y="381000"/>
            <a:ext cx="897731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5000" y="381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SHOPIFY WIN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1047750"/>
            <a:ext cx="10668000" cy="1905000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714500"/>
            <a:ext cx="381000" cy="381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1000" y="213360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Shopify dashboard screenshot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000" y="3238500"/>
            <a:ext cx="5715000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2000" b="0" i="0" spc="-200">
                <a:solidFill>
                  <a:srgbClr val="E8264B"/>
                </a:solidFill>
                <a:latin typeface="Bebas Neue"/>
              </a:rPr>
              <a:t>$1.45M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4324350"/>
            <a:ext cx="5715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F8F7F4"/>
                </a:solidFill>
                <a:latin typeface="DM Sans"/>
              </a:rPr>
              <a:t>SHOPIFY SALES · 90 DAYS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100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1000" y="49244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100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450" y="50577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27K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450" y="53054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ORDERS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8145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981450" y="49244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8145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52900" y="50577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22.96%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2900" y="53054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RETURN 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190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81900" y="4924425"/>
            <a:ext cx="3467100" cy="666750"/>
          </a:xfrm>
          <a:prstGeom prst="roundRect">
            <a:avLst>
              <a:gd name="adj" fmla="val 274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81900" y="4924425"/>
            <a:ext cx="3467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53350" y="5057775"/>
            <a:ext cx="3124200" cy="3667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+25%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3350" y="5305425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YOY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0"/>
            <a:ext cx="11430000" cy="381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000" y="381000"/>
            <a:ext cx="3619500" cy="5210175"/>
          </a:xfrm>
          <a:prstGeom prst="roundRect">
            <a:avLst>
              <a:gd name="adj" fmla="val 2193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700337"/>
            <a:ext cx="381000" cy="381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81000" y="3119437"/>
            <a:ext cx="3619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headshot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0" y="571500"/>
            <a:ext cx="6286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CASE STUDY: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2500" y="952500"/>
            <a:ext cx="6286500" cy="9639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4600" b="0" i="0">
                <a:solidFill>
                  <a:srgbClr val="F8F7F4"/>
                </a:solidFill>
                <a:latin typeface="Bebas Neue"/>
              </a:rPr>
              <a:t>3× revenue</a:t>
            </a:r>
          </a:p>
          <a:p>
            <a:pPr algn="l">
              <a:lnSpc>
                <a:spcPct val="90000"/>
              </a:lnSpc>
            </a:pPr>
            <a:r>
              <a:rPr sz="4600" b="0" i="0">
                <a:solidFill>
                  <a:srgbClr val="F8F7F4"/>
                </a:solidFill>
                <a:latin typeface="Bebas Neue"/>
              </a:rPr>
              <a:t>in 90 days.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0" y="2106930"/>
            <a:ext cx="6286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B8C4D8"/>
                </a:solidFill>
                <a:latin typeface="DM Sans"/>
              </a:rPr>
              <a:t>"Sorted rebuilt our growth engine from the ground up. Every week felt like a year of progress."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0" y="2964180"/>
            <a:ext cx="628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— Avni Mehra · Founder, Leafmark Beauty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625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762500" y="4581525"/>
            <a:ext cx="1993900" cy="723900"/>
          </a:xfrm>
          <a:prstGeom prst="roundRect">
            <a:avLst>
              <a:gd name="adj" fmla="val 47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625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3950" y="4714875"/>
            <a:ext cx="1651000" cy="3981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3.1×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3950" y="5019675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088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08800" y="4581525"/>
            <a:ext cx="1993900" cy="723900"/>
          </a:xfrm>
          <a:prstGeom prst="roundRect">
            <a:avLst>
              <a:gd name="adj" fmla="val 47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088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0250" y="4714875"/>
            <a:ext cx="1651000" cy="3981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41%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0250" y="5019675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EMAIL SHARE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51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55100" y="4581525"/>
            <a:ext cx="1993900" cy="723900"/>
          </a:xfrm>
          <a:prstGeom prst="roundRect">
            <a:avLst>
              <a:gd name="adj" fmla="val 4777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5100" y="4581525"/>
            <a:ext cx="199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550" y="4714875"/>
            <a:ext cx="1651000" cy="3981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5.2×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6550" y="5019675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ROAS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559117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READ FULL CASE →</a:t>
            </a:r>
          </a:p>
        </p:txBody>
      </p:sp>
      <p:pic>
        <p:nvPicPr>
          <p:cNvPr id="56" name="Picture 55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5591175"/>
            <a:ext cx="6477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1000" y="381000"/>
            <a:ext cx="10668000" cy="3276600"/>
          </a:xfrm>
          <a:prstGeom prst="roundRect">
            <a:avLst>
              <a:gd name="adj" fmla="val 1071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733550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81000" y="215265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screenshot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3943350"/>
            <a:ext cx="6858000" cy="7334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 spc="-100">
                <a:solidFill>
                  <a:srgbClr val="E8264B"/>
                </a:solidFill>
                <a:latin typeface="Bebas Neue"/>
              </a:rPr>
              <a:t>+$892K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4576762"/>
            <a:ext cx="6858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Email revenue, 30 days. Real client dashboard.</a:t>
            </a:r>
          </a:p>
        </p:txBody>
      </p: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5210175"/>
            <a:ext cx="733425" cy="171450"/>
          </a:xfrm>
          <a:prstGeom prst="rect">
            <a:avLst/>
          </a:prstGeom>
        </p:spPr>
      </p:pic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5210175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