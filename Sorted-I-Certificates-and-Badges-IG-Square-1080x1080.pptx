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5750" y="285750"/>
            <a:ext cx="9715500" cy="9715500"/>
          </a:xfrm>
          <a:prstGeom prst="roundRect">
            <a:avLst>
              <a:gd name="adj" fmla="val 784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0050" y="400050"/>
            <a:ext cx="9486900" cy="9486900"/>
          </a:xfrm>
          <a:prstGeom prst="roundRect">
            <a:avLst>
              <a:gd name="adj" fmla="val 401"/>
            </a:avLst>
          </a:prstGeom>
          <a:noFill/>
          <a:ln w="1270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0" y="1851660"/>
            <a:ext cx="8763000" cy="180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320">
                <a:solidFill>
                  <a:srgbClr val="E8264B"/>
                </a:solidFill>
                <a:latin typeface="DM Sans"/>
              </a:rPr>
              <a:t>CERTIFICATE OF ACHIEVEMENT</a:t>
            </a:r>
          </a:p>
        </p:txBody>
      </p:sp>
      <p:sp>
        <p:nvSpPr>
          <p:cNvPr id="40" name="Oval 39"/>
          <p:cNvSpPr/>
          <p:nvPr/>
        </p:nvSpPr>
        <p:spPr>
          <a:xfrm>
            <a:off x="4762500" y="2232660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2500" y="223266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223260"/>
            <a:ext cx="8763000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This certifies that</a:t>
            </a:r>
          </a:p>
          <a:p>
            <a:pPr algn="ctr">
              <a:lnSpc>
                <a:spcPct val="10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[BRAND] achieved</a:t>
            </a:r>
          </a:p>
          <a:p>
            <a:pPr algn="ctr">
              <a:lnSpc>
                <a:spcPct val="10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3.1× revenue growth</a:t>
            </a:r>
          </a:p>
          <a:p>
            <a:pPr algn="ctr">
              <a:lnSpc>
                <a:spcPct val="10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with Sorted.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971800" y="5749290"/>
            <a:ext cx="1524000" cy="0"/>
          </a:xfrm>
          <a:prstGeom prst="line">
            <a:avLst/>
          </a:prstGeom>
          <a:ln w="952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71800" y="582549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Issued · Jan 2026</a:t>
            </a:r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482590"/>
            <a:ext cx="533400" cy="533400"/>
          </a:xfrm>
          <a:prstGeom prst="rect">
            <a:avLst/>
          </a:prstGeom>
        </p:spPr>
      </p:pic>
      <p:cxnSp>
        <p:nvCxnSpPr>
          <p:cNvPr id="46" name="Connector 45"/>
          <p:cNvCxnSpPr/>
          <p:nvPr/>
        </p:nvCxnSpPr>
        <p:spPr>
          <a:xfrm>
            <a:off x="5791200" y="5749290"/>
            <a:ext cx="1524000" cy="0"/>
          </a:xfrm>
          <a:prstGeom prst="line">
            <a:avLst/>
          </a:prstGeom>
          <a:ln w="952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91200" y="582549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Sorted Agency LLC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247900" y="2247900"/>
            <a:ext cx="5791200" cy="5791200"/>
          </a:xfrm>
          <a:prstGeom prst="ellipse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00300" y="2400300"/>
            <a:ext cx="5486400" cy="5486400"/>
          </a:xfrm>
          <a:prstGeom prst="ellipse">
            <a:avLst/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81300" y="2781300"/>
            <a:ext cx="4724400" cy="4724400"/>
          </a:xfrm>
          <a:prstGeom prst="ellipse">
            <a:avLst/>
          </a:prstGeom>
          <a:noFill/>
          <a:ln w="63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62300" y="3162300"/>
            <a:ext cx="3962400" cy="3962400"/>
          </a:xfrm>
          <a:prstGeom prst="ellipse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0" y="4472940"/>
            <a:ext cx="102870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2800" b="0" i="0" spc="2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557022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600" b="1" i="0" spc="600">
                <a:solidFill>
                  <a:srgbClr val="F8F7F4"/>
                </a:solidFill>
                <a:latin typeface="DM Sans"/>
              </a:rPr>
              <a:t>ROAS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19812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1" i="0" spc="400">
                <a:solidFill>
                  <a:srgbClr val="E8264B"/>
                </a:solidFill>
                <a:latin typeface="DM Sans"/>
              </a:rPr>
              <a:t>ACHIEVED WITH SORTED · 2025</a:t>
            </a:r>
          </a:p>
        </p:txBody>
      </p:sp>
      <p:pic>
        <p:nvPicPr>
          <p:cNvPr id="44" name="Picture 4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0" y="97155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280">
                <a:solidFill>
                  <a:srgbClr val="E8264B"/>
                </a:solidFill>
                <a:latin typeface="DM Sans"/>
              </a:rPr>
              <a:t>SHARE YOUR BADGE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247900" y="2247900"/>
            <a:ext cx="5791200" cy="5791200"/>
          </a:xfrm>
          <a:prstGeom prst="ellipse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00300" y="2400300"/>
            <a:ext cx="5486400" cy="5486400"/>
          </a:xfrm>
          <a:prstGeom prst="ellipse">
            <a:avLst/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857500" y="2857500"/>
            <a:ext cx="4572000" cy="4572000"/>
          </a:xfrm>
          <a:prstGeom prst="ellipse">
            <a:avLst/>
          </a:prstGeom>
          <a:noFill/>
          <a:ln w="63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38500" y="3238500"/>
            <a:ext cx="3810000" cy="3810000"/>
          </a:xfrm>
          <a:prstGeom prst="ellipse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86300" y="4564380"/>
            <a:ext cx="914400" cy="609600"/>
          </a:xfrm>
          <a:prstGeom prst="roundRect">
            <a:avLst>
              <a:gd name="adj" fmla="val 3125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686300" y="4583430"/>
            <a:ext cx="457200" cy="316230"/>
          </a:xfrm>
          <a:prstGeom prst="line">
            <a:avLst/>
          </a:prstGeom>
          <a:ln w="254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143500" y="4583430"/>
            <a:ext cx="457200" cy="316230"/>
          </a:xfrm>
          <a:prstGeom prst="line">
            <a:avLst/>
          </a:prstGeom>
          <a:ln w="254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0" y="56007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2800" b="0" i="0" spc="100">
                <a:solidFill>
                  <a:srgbClr val="F8F7F4"/>
                </a:solidFill>
                <a:latin typeface="Bebas Neue"/>
              </a:rPr>
              <a:t>2025 MEMBER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19812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1" i="0" spc="400">
                <a:solidFill>
                  <a:srgbClr val="E8264B"/>
                </a:solidFill>
                <a:latin typeface="DM Sans"/>
              </a:rPr>
              <a:t>40%+ EMAIL REVENUE CLUB · SORTED</a:t>
            </a:r>
          </a:p>
        </p:txBody>
      </p:sp>
      <p:pic>
        <p:nvPicPr>
          <p:cNvPr id="46" name="Picture 45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5750" y="285750"/>
            <a:ext cx="9715500" cy="9715500"/>
          </a:xfrm>
          <a:prstGeom prst="roundRect">
            <a:avLst>
              <a:gd name="adj" fmla="val 588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" y="2263140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320">
                <a:solidFill>
                  <a:srgbClr val="E8264B"/>
                </a:solidFill>
                <a:latin typeface="DM Sans"/>
              </a:rPr>
              <a:t>CERTIFIED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2548890"/>
            <a:ext cx="9144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Sorted Partner Agency.</a:t>
            </a:r>
          </a:p>
        </p:txBody>
      </p:sp>
      <p:sp>
        <p:nvSpPr>
          <p:cNvPr id="40" name="Oval 39"/>
          <p:cNvSpPr/>
          <p:nvPr/>
        </p:nvSpPr>
        <p:spPr>
          <a:xfrm>
            <a:off x="3667125" y="3463290"/>
            <a:ext cx="952500" cy="9525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67125" y="346329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833" b="0" i="1">
                <a:solidFill>
                  <a:srgbClr val="8A94A6"/>
                </a:solidFill>
                <a:latin typeface="DM Sans"/>
              </a:rPr>
              <a:t>Partner logo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5375" y="3710940"/>
            <a:ext cx="5715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6000" b="0" i="0">
                <a:solidFill>
                  <a:srgbClr val="8A94A6"/>
                </a:solidFill>
                <a:latin typeface="Bebas Neue"/>
              </a:rPr>
              <a:t>×</a:t>
            </a:r>
          </a:p>
        </p:txBody>
      </p:sp>
      <p:pic>
        <p:nvPicPr>
          <p:cNvPr id="43" name="Picture 42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5" y="3510915"/>
            <a:ext cx="857250" cy="8572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1500" y="4796790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Powered by Sorted · Issued 2026 ·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76437" y="1976437"/>
            <a:ext cx="6334125" cy="6334125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76500" y="2476500"/>
            <a:ext cx="5334000" cy="53340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76562" y="2976562"/>
            <a:ext cx="4333875" cy="4333875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76625" y="3476625"/>
            <a:ext cx="3333750" cy="333375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76687" y="3976687"/>
            <a:ext cx="2333625" cy="2333625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43375" y="4143375"/>
            <a:ext cx="2000250" cy="2000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4857750"/>
            <a:ext cx="10287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0" b="0" i="0" spc="100">
                <a:solidFill>
                  <a:srgbClr val="F8F7F4"/>
                </a:solidFill>
                <a:latin typeface="Bebas Neue"/>
              </a:rPr>
              <a:t>100+</a:t>
            </a:r>
          </a:p>
        </p:txBody>
      </p:sp>
      <p:pic>
        <p:nvPicPr>
          <p:cNvPr id="45" name="Picture 44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0" y="857250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0" b="0" i="0">
                <a:solidFill>
                  <a:srgbClr val="F8F7F4"/>
                </a:solidFill>
                <a:latin typeface="Bebas Neue"/>
              </a:rPr>
              <a:t>100+ brands scaled.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93535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And counting.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5750" y="285750"/>
            <a:ext cx="9715500" cy="9715500"/>
          </a:xfrm>
          <a:prstGeom prst="roundRect">
            <a:avLst>
              <a:gd name="adj" fmla="val 588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57750" y="1440180"/>
            <a:ext cx="571500" cy="571500"/>
          </a:xfrm>
          <a:prstGeom prst="ellipse">
            <a:avLst/>
          </a:prstGeom>
          <a:noFill/>
          <a:ln w="317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50" y="2202180"/>
            <a:ext cx="8953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320">
                <a:solidFill>
                  <a:srgbClr val="E8264B"/>
                </a:solidFill>
                <a:latin typeface="DM Sans"/>
              </a:rPr>
              <a:t>SORTED AWARDS ·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2449830"/>
            <a:ext cx="8953500" cy="146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7000" b="0" i="0">
                <a:solidFill>
                  <a:srgbClr val="E8264B"/>
                </a:solidFill>
                <a:latin typeface="Bebas Neue"/>
              </a:rPr>
              <a:t>D2C Brand</a:t>
            </a:r>
          </a:p>
          <a:p>
            <a:pPr algn="ctr">
              <a:lnSpc>
                <a:spcPct val="95000"/>
              </a:lnSpc>
            </a:pPr>
            <a:r>
              <a:rPr sz="7000" b="0" i="0">
                <a:solidFill>
                  <a:srgbClr val="E8264B"/>
                </a:solidFill>
                <a:latin typeface="Bebas Neue"/>
              </a:rPr>
              <a:t>of the Year.</a:t>
            </a:r>
          </a:p>
        </p:txBody>
      </p:sp>
      <p:sp>
        <p:nvSpPr>
          <p:cNvPr id="41" name="Oval 40"/>
          <p:cNvSpPr/>
          <p:nvPr/>
        </p:nvSpPr>
        <p:spPr>
          <a:xfrm>
            <a:off x="4762500" y="4107180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2500" y="410718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Winning brand logo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750" y="5116830"/>
            <a:ext cx="8953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Presented for outstanding revenue growth and operational excellence.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91000" y="5688330"/>
            <a:ext cx="1905000" cy="0"/>
          </a:xfrm>
          <a:prstGeom prst="line">
            <a:avLst/>
          </a:prstGeom>
          <a:ln w="952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91000" y="576453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Dhiraj Palekar · 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