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314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371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428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485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543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600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657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714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771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3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14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86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57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29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00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43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15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86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58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9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001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72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15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-95250" y="3905250"/>
            <a:ext cx="10477500" cy="104775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3000"/>
            <a:ext cx="571500" cy="5715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858000" y="12382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8F7F4"/>
                </a:solidFill>
                <a:latin typeface="DM Sans"/>
              </a:rPr>
              <a:t>SORTED ·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0" y="6315075"/>
            <a:ext cx="10287000" cy="5657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54000" b="0" i="0" spc="-6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0" y="1148715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600" b="1" i="0" spc="220">
                <a:solidFill>
                  <a:srgbClr val="F8F7F4"/>
                </a:solidFill>
                <a:latin typeface="DM Sans"/>
              </a:rPr>
              <a:t>AVERAGE ROAS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1190625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B8C4D8"/>
                </a:solidFill>
                <a:latin typeface="DM Sans"/>
              </a:rPr>
              <a:t>across 100+ D2C brands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905250" y="12763500"/>
            <a:ext cx="1181100" cy="3238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05250" y="12763500"/>
            <a:ext cx="1181100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 spc="180">
                <a:solidFill>
                  <a:srgbClr val="E8264B"/>
                </a:solidFill>
                <a:latin typeface="DM Sans"/>
              </a:rPr>
              <a:t>SWIPE UP 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175641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  <p:pic>
        <p:nvPicPr>
          <p:cNvPr id="60" name="Picture 59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7316450"/>
            <a:ext cx="11430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314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371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428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485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543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600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657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714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771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3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14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86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57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29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00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43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15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86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58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9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001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72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15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2500"/>
            <a:ext cx="476250" cy="476250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8001000" y="1047750"/>
            <a:ext cx="1247775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01000" y="1047750"/>
            <a:ext cx="1247775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SORTED TIP #07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2000" y="2667000"/>
            <a:ext cx="8763000" cy="381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5200" b="0" i="0">
                <a:solidFill>
                  <a:srgbClr val="F8F7F4"/>
                </a:solidFill>
                <a:latin typeface="Bebas Neue"/>
              </a:rPr>
              <a:t>Your welcome email should send in under 60 seconds.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2000" y="514350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B8C4D8"/>
                </a:solidFill>
                <a:latin typeface="DM Sans"/>
              </a:rPr>
              <a:t>Not 1 hour. Not "end of day". Sub-60-second opens 3× higher. Split tests every time.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1500" y="8572500"/>
            <a:ext cx="9144000" cy="7810500"/>
          </a:xfrm>
          <a:prstGeom prst="roundRect">
            <a:avLst>
              <a:gd name="adj" fmla="val 125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2192000"/>
            <a:ext cx="381000" cy="381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71500" y="12611100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relevant visual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17430750"/>
            <a:ext cx="10287000" cy="8572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1500" y="17430750"/>
            <a:ext cx="5715000" cy="857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 spc="280">
                <a:solidFill>
                  <a:srgbClr val="F8F7F4"/>
                </a:solidFill>
                <a:latin typeface="DM Sans"/>
              </a:rPr>
              <a:t>SORTED.AGENCY</a:t>
            </a:r>
          </a:p>
        </p:txBody>
      </p:sp>
      <p:pic>
        <p:nvPicPr>
          <p:cNvPr id="61" name="Picture 60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425" y="17745075"/>
            <a:ext cx="9810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314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371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428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485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543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600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657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714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771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3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14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86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57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29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00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43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15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86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58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9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001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72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15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2500"/>
            <a:ext cx="476250" cy="4762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239000" y="1047750"/>
            <a:ext cx="24765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8F7F4"/>
                </a:solidFill>
                <a:latin typeface="DM Sans"/>
              </a:rPr>
              <a:t>TAP TO VOTE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0" y="2381250"/>
            <a:ext cx="8763000" cy="171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This or that?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2000" y="4381500"/>
            <a:ext cx="8763000" cy="2476500"/>
          </a:xfrm>
          <a:prstGeom prst="roundRect">
            <a:avLst>
              <a:gd name="adj" fmla="val 2173"/>
            </a:avLst>
          </a:prstGeom>
          <a:solidFill>
            <a:srgbClr val="0F2240"/>
          </a:solidFill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000" y="4857750"/>
            <a:ext cx="8763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8264B"/>
                </a:solidFill>
                <a:latin typeface="DM Sans"/>
              </a:rPr>
              <a:t>OPTION 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000" y="5238750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9000" b="0" i="0">
                <a:solidFill>
                  <a:srgbClr val="F8F7F4"/>
                </a:solidFill>
                <a:latin typeface="Bebas Neue"/>
              </a:rPr>
              <a:t>More Ads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0" y="6953250"/>
            <a:ext cx="10287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5400" b="0" i="0">
                <a:solidFill>
                  <a:srgbClr val="E8264B"/>
                </a:solidFill>
                <a:latin typeface="Bebas Neue"/>
              </a:rPr>
              <a:t>vs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2000" y="7810500"/>
            <a:ext cx="8763000" cy="2476500"/>
          </a:xfrm>
          <a:prstGeom prst="roundRect">
            <a:avLst>
              <a:gd name="adj" fmla="val 2173"/>
            </a:avLst>
          </a:prstGeom>
          <a:solidFill>
            <a:srgbClr val="0F2240"/>
          </a:solidFill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000" y="8286750"/>
            <a:ext cx="8763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8264B"/>
                </a:solidFill>
                <a:latin typeface="DM Sans"/>
              </a:rPr>
              <a:t>OPTION 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000" y="8667750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9000" b="0" i="0">
                <a:solidFill>
                  <a:srgbClr val="F8F7F4"/>
                </a:solidFill>
                <a:latin typeface="Bebas Neue"/>
              </a:rPr>
              <a:t>Better Email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" y="175641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  <p:pic>
        <p:nvPicPr>
          <p:cNvPr id="62" name="Picture 61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7316450"/>
            <a:ext cx="11430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314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371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428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485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543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600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657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714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771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3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14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86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57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29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00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43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15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86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58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9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001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72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15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857250" y="4857750"/>
            <a:ext cx="8572500" cy="85725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2500"/>
            <a:ext cx="476250" cy="4762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62000" y="24765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Ask us anything about D2C growth.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2000" y="51435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We answer everything. Even the dumb ones.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2000" y="6858000"/>
            <a:ext cx="8763000" cy="2857500"/>
          </a:xfrm>
          <a:prstGeom prst="roundRect">
            <a:avLst>
              <a:gd name="adj" fmla="val 2173"/>
            </a:avLst>
          </a:prstGeom>
          <a:solidFill>
            <a:srgbClr val="0F2240"/>
          </a:solidFill>
          <a:ln w="2540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2000" y="6858000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8A94A6"/>
                </a:solidFill>
                <a:latin typeface="DM Sans"/>
              </a:rPr>
              <a:t>Drop IG Question Sticker here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" y="175641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  <p:pic>
        <p:nvPicPr>
          <p:cNvPr id="58" name="Picture 57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7316450"/>
            <a:ext cx="11430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314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371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428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485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543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600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657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714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771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3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14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86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57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29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00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43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15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86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58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9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001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72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15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76250" y="476250"/>
            <a:ext cx="9334500" cy="342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E8264B"/>
                </a:solidFill>
                <a:latin typeface="Bebas Neue"/>
              </a:rPr>
              <a:t>Why your Klaviyo is broken.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250" y="4000500"/>
            <a:ext cx="9334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80">
                <a:solidFill>
                  <a:srgbClr val="F8F7F4"/>
                </a:solidFill>
                <a:latin typeface="DM Sans"/>
              </a:rPr>
              <a:t>3 FIXES · 60 SECONDS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6250" y="4286250"/>
            <a:ext cx="9334500" cy="12858750"/>
          </a:xfrm>
          <a:prstGeom prst="roundRect">
            <a:avLst>
              <a:gd name="adj" fmla="val 888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429875"/>
            <a:ext cx="381000" cy="381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76250" y="10848975"/>
            <a:ext cx="933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face / action shot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17430750"/>
            <a:ext cx="10287000" cy="8572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17430750"/>
            <a:ext cx="10287000" cy="190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754600"/>
            <a:ext cx="895350" cy="20955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572250" y="17430750"/>
            <a:ext cx="3238500" cy="857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20000"/>
              </a:lnSpc>
            </a:pPr>
            <a:r>
              <a:rPr sz="1200" b="1" i="0" spc="280">
                <a:solidFill>
                  <a:srgbClr val="8A94A6"/>
                </a:solidFill>
                <a:latin typeface="DM Sans"/>
              </a:rPr>
              <a:t>WATCH FULL REEL 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314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371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428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485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543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600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657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714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771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3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14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86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57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29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00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43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15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86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58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9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001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72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15500" y="0"/>
            <a:ext cx="0" cy="18288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-571500" y="3429000"/>
            <a:ext cx="11430000" cy="11430000"/>
          </a:xfrm>
          <a:prstGeom prst="ellipse">
            <a:avLst/>
          </a:prstGeom>
          <a:solidFill>
            <a:srgbClr val="E8264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3000"/>
            <a:ext cx="571500" cy="5715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0" y="57150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 spc="220">
                <a:solidFill>
                  <a:srgbClr val="E8264B"/>
                </a:solidFill>
                <a:latin typeface="DM Sans"/>
              </a:rPr>
              <a:t>FREE FOR FOUNDERS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" y="6096000"/>
            <a:ext cx="9144000" cy="419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22000" b="0" i="0" spc="-400">
                <a:solidFill>
                  <a:srgbClr val="F8F7F4"/>
                </a:solidFill>
                <a:latin typeface="Bebas Neue"/>
              </a:rPr>
              <a:t>Free D2C Audit.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3500" y="10515600"/>
            <a:ext cx="7620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B8C4D8"/>
                </a:solidFill>
                <a:latin typeface="DM Sans"/>
              </a:rPr>
              <a:t>We'll audit your Meta, Klaviyo + Shopify in 45 minutes. No pitch. Just gaps.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10000" y="12230100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10000" y="12230100"/>
            <a:ext cx="1181100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 spc="180">
                <a:solidFill>
                  <a:srgbClr val="F8F7F4"/>
                </a:solidFill>
                <a:latin typeface="DM Sans"/>
              </a:rPr>
              <a:t>SWIPE UP 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" y="175641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  <p:pic>
        <p:nvPicPr>
          <p:cNvPr id="59" name="Picture 58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7316450"/>
            <a:ext cx="1143000" cy="266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